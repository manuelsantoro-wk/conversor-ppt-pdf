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73" r:id="rId4"/>
    <p:sldId id="269" r:id="rId5"/>
    <p:sldId id="271" r:id="rId6"/>
    <p:sldId id="270" r:id="rId7"/>
    <p:sldId id="257" r:id="rId8"/>
    <p:sldId id="260" r:id="rId9"/>
    <p:sldId id="264" r:id="rId10"/>
    <p:sldId id="262" r:id="rId11"/>
    <p:sldId id="266" r:id="rId12"/>
    <p:sldId id="274" r:id="rId13"/>
    <p:sldId id="267" r:id="rId14"/>
    <p:sldId id="265" r:id="rId15"/>
    <p:sldId id="272" r:id="rId16"/>
    <p:sldId id="261" r:id="rId1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24B"/>
    <a:srgbClr val="521C15"/>
    <a:srgbClr val="CF1E25"/>
    <a:srgbClr val="EEE3F3"/>
    <a:srgbClr val="EF91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86199-E520-4486-8464-2F8F535EA501}" v="12" dt="2022-11-24T04:59:00.396"/>
    <p1510:client id="{3B06770F-AE49-FBCA-0163-5AECD24A391F}" v="459" dt="2022-11-24T10:08:58.442"/>
    <p1510:client id="{94546D96-0C78-1249-99DC-21674708E667}" v="296" dt="2022-11-24T04:04:21.852"/>
    <p1510:client id="{947059BB-60FF-6C69-757B-EBA1F2334C15}" v="31" dt="2022-11-23T19:11:04.195"/>
    <p1510:client id="{B85F4DCF-58CD-6CD8-6EEE-3CD1FFE48759}" v="1950" dt="2022-11-24T07:23:34.933"/>
    <p1510:client id="{BEF9569A-82ED-4819-9A7B-9047F607F8CD}" v="1524" dt="2022-11-24T10:21:11.283"/>
    <p1510:client id="{E2739327-D968-E1A1-6E7E-D9A921BAA6AA}" v="30" dt="2022-11-23T23:45:12.486"/>
    <p1510:client id="{FF103E9A-05BF-4D0A-23D5-8DD8BFEEAA12}" v="19" dt="2022-11-24T09:33:08.898"/>
  </p1510:revLst>
</p1510:revInfo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8B419-7E48-493B-872E-067A98AD8F16}" type="datetimeFigureOut">
              <a:rPr lang="en-GB" smtClean="0"/>
              <a:t>24/11/2022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4E045-10B6-478A-A57D-FA86ADBA87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47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>
                <a:solidFill>
                  <a:srgbClr val="1C1D1E"/>
                </a:solidFill>
                <a:effectLst/>
                <a:latin typeface="Open Sans" panose="020B0606030504020204" pitchFamily="34" charset="0"/>
              </a:rPr>
              <a:t> inflammasome is critical in maintaining tissue homeostasis, while improper inflammasome activation may contribute to the development of multiple diseases. 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4E045-10B6-478A-A57D-FA86ADBA876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671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E8787-C02E-4EAD-9D2F-A087BDDBD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EF090E-D17D-44CE-B684-853B40E62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8E91AD1-00B3-473D-847C-56BC4AD8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4B5802A-44EE-4A45-A7AA-6119EFF4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01BC360-5F49-417E-B9AD-EE669F9E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774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357C8-7BB2-4D3A-A82D-585B9975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7B0472-BACE-4BE3-AE86-F36B58D91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B5AD934-F8A5-420B-B73F-7BB5F03DB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BC99E00-71E1-46FA-B462-B2F92AD3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F09F3E-6F3A-4189-8BB8-277ABF00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146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3BEE3-89D5-4260-9182-421D837F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AB24738-3B9C-4A77-A9C4-51B76E623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284C19D-78BC-4AA8-B65A-46472099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54DCCF1-5068-42D4-9321-99C6AA18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96E837-3011-40CB-996E-55277C6F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710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E29D2-3C89-4EDE-9F8A-7745FC75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85156C1-9327-40A7-A1B6-6A1BD40FA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03E3BD5-F239-43B4-9567-CB71391BB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9588990-37F1-4BA7-93A7-7D06FCCF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AB276BF-5AF6-4439-BA25-AEA676FE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999ED29-3583-43E8-8D28-7F111C0C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0684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BDE6E-C98C-472C-8920-DFDDED01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E44BF3A-3FFB-4043-9D49-45DD6F5FF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019E38E-B2E5-4094-BA79-71253F969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E1E26ADD-1182-4815-8C09-BEE9E3A4D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165CA73-D990-42E3-9B61-60A65E5480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01032C6-1443-49FE-B323-05EF233E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F1312C7B-0C02-4AFA-9BCE-4F6E97CD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4DEC43F-0DBB-4435-A400-DF5A6414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006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6BCD3-C719-4B01-AD59-B9428C8B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4A8D6950-6DB6-4E61-A30A-8DD7FFEB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AF72E80C-7082-4CFC-853A-9C144F7F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E5DD138-CC03-43E9-83AB-63049CE6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850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7AA44A2-6CCC-4BBE-9126-1071EEF8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02AB2CF-B3B8-4084-8D6D-2CD27FA2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10C3A55-CFD8-48BE-9851-35D05A8B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512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D387C-B92A-4166-8597-82448775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859EA67-5856-45C0-AC86-69E7A872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86B6DB2-D154-43A6-8293-7B47BBA97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0ED2080-FF17-43E6-BA37-F1A685CF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C2BD2C7-D30C-4039-949D-2A80643E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1763DE2-128F-4A68-A856-6D176F2E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37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351C2-F1B4-4830-8A47-1C7A805B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B36E029-5037-4241-A428-AB9AC0044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87545F-E30C-4A9E-AE56-057A0CE48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BB0E6DF-185A-4335-98AF-3B5EBDB7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3FB0EE4-C4D8-4BE8-9976-68FF8E82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9407F94-A060-4BB2-A448-A0EEF211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888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05CA3-8996-4EFD-9BA2-746A09B7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49E2595-67D0-4861-AB3D-32FF41E94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14F7D6D-7772-4901-A2F4-2F851DF0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DA58270-54F0-4A18-AB73-98EFB2FC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106C11C-85D9-42B1-8A90-F2D3CC09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034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AB6400-C3F1-4403-BF99-41DC70733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0D040DF-6925-4F15-A244-FA9EB535F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4E3F753-BDA0-4670-874A-124CBE44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345F701-2AB6-4A13-9AFD-157BD839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6D75481-9604-4FEC-A935-1EE35DC2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382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C63EEB8-73AB-45BF-A8D2-AE930FFBB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C903A7B-42BD-4784-A1A2-C880DA32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4C975C0-A91B-4442-A23C-BA4CDCE13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463C2-D00E-4D71-A8A0-6F5694BC8BF0}" type="datetimeFigureOut">
              <a:rPr lang="pt-PT" smtClean="0"/>
              <a:t>24/11/2022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B52EC16-53CD-4BCD-A45C-4FCD8EA62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FFB6DE-14DA-48F7-8E61-B4176C24B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375D7-0060-470D-BF94-14672286E91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369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imm.13293" TargetMode="External"/><Relationship Id="rId2" Type="http://schemas.openxmlformats.org/officeDocument/2006/relationships/hyperlink" Target="https://doi.org/10.1038/s41581-019-0244-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CE6588-FA41-6BA9-7763-618D72E51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8187" y="2747014"/>
            <a:ext cx="9144000" cy="1655762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GB" sz="1800" b="1" i="0" u="none" strike="noStrike">
                <a:solidFill>
                  <a:srgbClr val="521C15"/>
                </a:solidFill>
                <a:effectLst/>
                <a:latin typeface="Arial" panose="020B0604020202020204" pitchFamily="34" charset="0"/>
              </a:rPr>
              <a:t>Identification of urinary proteins relevant for the pathogenesis of hypertension and salt sensitivity</a:t>
            </a:r>
            <a:endParaRPr lang="en-GB" b="0">
              <a:solidFill>
                <a:srgbClr val="521C15"/>
              </a:solidFill>
              <a:effectLst/>
            </a:endParaRPr>
          </a:p>
          <a:p>
            <a:br>
              <a:rPr lang="en-GB"/>
            </a:br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5974D6-A486-F695-0A4E-1852F0D60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9" y="279917"/>
            <a:ext cx="2636812" cy="63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D7B050-973D-6DA6-BFD7-7102678FC7E9}"/>
              </a:ext>
            </a:extLst>
          </p:cNvPr>
          <p:cNvSpPr txBox="1"/>
          <p:nvPr/>
        </p:nvSpPr>
        <p:spPr>
          <a:xfrm>
            <a:off x="2861068" y="661282"/>
            <a:ext cx="6174658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300"/>
              </a:spcBef>
              <a:spcAft>
                <a:spcPts val="0"/>
              </a:spcAft>
            </a:pPr>
            <a:r>
              <a:rPr lang="pt-PT" sz="3200" b="1" i="0" u="none" strike="noStrike">
                <a:solidFill>
                  <a:srgbClr val="434343"/>
                </a:solidFill>
                <a:effectLst/>
                <a:latin typeface="+mj-lt"/>
              </a:rPr>
              <a:t>UC Medicina de Sistemas</a:t>
            </a:r>
            <a:endParaRPr lang="pt-PT" b="0">
              <a:effectLst/>
              <a:latin typeface="+mj-lt"/>
            </a:endParaRPr>
          </a:p>
          <a:p>
            <a:pPr algn="ctr" rtl="0">
              <a:spcBef>
                <a:spcPts val="600"/>
              </a:spcBef>
              <a:spcAft>
                <a:spcPts val="300"/>
              </a:spcAft>
            </a:pPr>
            <a:r>
              <a:rPr lang="pt-PT" sz="1800" b="0" i="0" u="none" strike="noStrike">
                <a:solidFill>
                  <a:srgbClr val="434343"/>
                </a:solidFill>
                <a:effectLst/>
                <a:latin typeface="+mj-lt"/>
              </a:rPr>
              <a:t>Novembro 2022</a:t>
            </a:r>
            <a:endParaRPr lang="pt-PT" b="0">
              <a:effectLst/>
              <a:latin typeface="+mj-lt"/>
            </a:endParaRPr>
          </a:p>
          <a:p>
            <a:pPr algn="ctr"/>
            <a:br>
              <a:rPr lang="pt-PT"/>
            </a:b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625BA-DD1C-3ECA-B5F1-93ECFE53D34B}"/>
              </a:ext>
            </a:extLst>
          </p:cNvPr>
          <p:cNvSpPr txBox="1"/>
          <p:nvPr/>
        </p:nvSpPr>
        <p:spPr>
          <a:xfrm>
            <a:off x="9619860" y="6001180"/>
            <a:ext cx="2297663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>
                <a:solidFill>
                  <a:srgbClr val="1A1A1A"/>
                </a:solidFill>
                <a:effectLst/>
                <a:latin typeface="+mj-lt"/>
              </a:rPr>
              <a:t>Gilberto Rosa nº 99752</a:t>
            </a:r>
            <a:endParaRPr lang="pt-PT" sz="1400" b="0">
              <a:effectLst/>
              <a:latin typeface="+mj-lt"/>
            </a:endParaRPr>
          </a:p>
          <a:p>
            <a:pPr algn="r" rtl="0">
              <a:spcBef>
                <a:spcPts val="200"/>
              </a:spcBef>
              <a:spcAft>
                <a:spcPts val="0"/>
              </a:spcAft>
            </a:pPr>
            <a:r>
              <a:rPr lang="pt-PT" sz="1400" b="1" i="0" u="none" strike="noStrike">
                <a:solidFill>
                  <a:srgbClr val="1A1A1A"/>
                </a:solidFill>
                <a:effectLst/>
                <a:latin typeface="+mj-lt"/>
              </a:rPr>
              <a:t>Inês Araújo nº 116011</a:t>
            </a:r>
            <a:endParaRPr lang="pt-PT" sz="1400" b="0">
              <a:effectLst/>
              <a:latin typeface="+mj-lt"/>
            </a:endParaRPr>
          </a:p>
          <a:p>
            <a:br>
              <a:rPr lang="pt-PT" sz="1400"/>
            </a:br>
            <a:endParaRPr lang="en-GB" sz="1400"/>
          </a:p>
        </p:txBody>
      </p:sp>
      <p:grpSp>
        <p:nvGrpSpPr>
          <p:cNvPr id="1062" name="Google Shape;906;p42">
            <a:extLst>
              <a:ext uri="{FF2B5EF4-FFF2-40B4-BE49-F238E27FC236}">
                <a16:creationId xmlns:a16="http://schemas.microsoft.com/office/drawing/2014/main" id="{ABFD9541-179C-EC8A-D8C6-513AA633A4B6}"/>
              </a:ext>
            </a:extLst>
          </p:cNvPr>
          <p:cNvGrpSpPr/>
          <p:nvPr/>
        </p:nvGrpSpPr>
        <p:grpSpPr>
          <a:xfrm>
            <a:off x="4458993" y="3595824"/>
            <a:ext cx="3412706" cy="2985254"/>
            <a:chOff x="3008812" y="-1495457"/>
            <a:chExt cx="3126334" cy="2734750"/>
          </a:xfrm>
        </p:grpSpPr>
        <p:sp>
          <p:nvSpPr>
            <p:cNvPr id="1063" name="Google Shape;907;p42">
              <a:extLst>
                <a:ext uri="{FF2B5EF4-FFF2-40B4-BE49-F238E27FC236}">
                  <a16:creationId xmlns:a16="http://schemas.microsoft.com/office/drawing/2014/main" id="{08B8EE7E-6A03-655E-F5C6-1CD8DC817B34}"/>
                </a:ext>
              </a:extLst>
            </p:cNvPr>
            <p:cNvSpPr/>
            <p:nvPr/>
          </p:nvSpPr>
          <p:spPr>
            <a:xfrm>
              <a:off x="3153869" y="-1291579"/>
              <a:ext cx="2867586" cy="2530873"/>
            </a:xfrm>
            <a:custGeom>
              <a:avLst/>
              <a:gdLst/>
              <a:ahLst/>
              <a:cxnLst/>
              <a:rect l="l" t="t" r="r" b="b"/>
              <a:pathLst>
                <a:path w="146644" h="129425" extrusionOk="0">
                  <a:moveTo>
                    <a:pt x="45289" y="0"/>
                  </a:moveTo>
                  <a:cubicBezTo>
                    <a:pt x="30302" y="0"/>
                    <a:pt x="16317" y="7394"/>
                    <a:pt x="7871" y="19775"/>
                  </a:cubicBezTo>
                  <a:cubicBezTo>
                    <a:pt x="2733" y="27294"/>
                    <a:pt x="1" y="36116"/>
                    <a:pt x="1" y="45289"/>
                  </a:cubicBezTo>
                  <a:cubicBezTo>
                    <a:pt x="1" y="49750"/>
                    <a:pt x="703" y="54437"/>
                    <a:pt x="2056" y="58798"/>
                  </a:cubicBezTo>
                  <a:lnTo>
                    <a:pt x="2106" y="58948"/>
                  </a:lnTo>
                  <a:lnTo>
                    <a:pt x="2156" y="59098"/>
                  </a:lnTo>
                  <a:cubicBezTo>
                    <a:pt x="2257" y="59374"/>
                    <a:pt x="2733" y="60803"/>
                    <a:pt x="3134" y="61805"/>
                  </a:cubicBezTo>
                  <a:lnTo>
                    <a:pt x="3159" y="61906"/>
                  </a:lnTo>
                  <a:cubicBezTo>
                    <a:pt x="5164" y="67244"/>
                    <a:pt x="7846" y="72582"/>
                    <a:pt x="11104" y="77770"/>
                  </a:cubicBezTo>
                  <a:cubicBezTo>
                    <a:pt x="13234" y="81129"/>
                    <a:pt x="15615" y="84487"/>
                    <a:pt x="18247" y="87795"/>
                  </a:cubicBezTo>
                  <a:cubicBezTo>
                    <a:pt x="18171" y="87244"/>
                    <a:pt x="18071" y="86668"/>
                    <a:pt x="17971" y="86091"/>
                  </a:cubicBezTo>
                  <a:cubicBezTo>
                    <a:pt x="17470" y="83084"/>
                    <a:pt x="17144" y="79600"/>
                    <a:pt x="18472" y="76467"/>
                  </a:cubicBezTo>
                  <a:cubicBezTo>
                    <a:pt x="19199" y="74763"/>
                    <a:pt x="20302" y="73359"/>
                    <a:pt x="21555" y="72156"/>
                  </a:cubicBezTo>
                  <a:cubicBezTo>
                    <a:pt x="18948" y="67996"/>
                    <a:pt x="16718" y="63585"/>
                    <a:pt x="14963" y="58948"/>
                  </a:cubicBezTo>
                  <a:lnTo>
                    <a:pt x="14938" y="58848"/>
                  </a:lnTo>
                  <a:cubicBezTo>
                    <a:pt x="14613" y="58046"/>
                    <a:pt x="14337" y="57244"/>
                    <a:pt x="14061" y="56392"/>
                  </a:cubicBezTo>
                  <a:lnTo>
                    <a:pt x="14061" y="56367"/>
                  </a:lnTo>
                  <a:cubicBezTo>
                    <a:pt x="13084" y="53184"/>
                    <a:pt x="12557" y="49825"/>
                    <a:pt x="12557" y="46316"/>
                  </a:cubicBezTo>
                  <a:cubicBezTo>
                    <a:pt x="12557" y="39174"/>
                    <a:pt x="14738" y="32532"/>
                    <a:pt x="18497" y="27043"/>
                  </a:cubicBezTo>
                  <a:cubicBezTo>
                    <a:pt x="24663" y="18021"/>
                    <a:pt x="35039" y="12081"/>
                    <a:pt x="46793" y="12081"/>
                  </a:cubicBezTo>
                  <a:cubicBezTo>
                    <a:pt x="47720" y="12081"/>
                    <a:pt x="48648" y="12131"/>
                    <a:pt x="49575" y="12206"/>
                  </a:cubicBezTo>
                  <a:cubicBezTo>
                    <a:pt x="51254" y="12331"/>
                    <a:pt x="52908" y="12607"/>
                    <a:pt x="54538" y="12983"/>
                  </a:cubicBezTo>
                  <a:cubicBezTo>
                    <a:pt x="62056" y="14712"/>
                    <a:pt x="68598" y="18923"/>
                    <a:pt x="73310" y="24712"/>
                  </a:cubicBezTo>
                  <a:cubicBezTo>
                    <a:pt x="77169" y="20001"/>
                    <a:pt x="82232" y="16316"/>
                    <a:pt x="88021" y="14186"/>
                  </a:cubicBezTo>
                  <a:cubicBezTo>
                    <a:pt x="91706" y="12833"/>
                    <a:pt x="95691" y="12081"/>
                    <a:pt x="99851" y="12081"/>
                  </a:cubicBezTo>
                  <a:cubicBezTo>
                    <a:pt x="102658" y="12081"/>
                    <a:pt x="105365" y="12432"/>
                    <a:pt x="107971" y="13058"/>
                  </a:cubicBezTo>
                  <a:cubicBezTo>
                    <a:pt x="113310" y="14361"/>
                    <a:pt x="118172" y="16918"/>
                    <a:pt x="122207" y="20376"/>
                  </a:cubicBezTo>
                  <a:cubicBezTo>
                    <a:pt x="122207" y="20402"/>
                    <a:pt x="122207" y="20402"/>
                    <a:pt x="122207" y="20402"/>
                  </a:cubicBezTo>
                  <a:lnTo>
                    <a:pt x="122232" y="20402"/>
                  </a:lnTo>
                  <a:cubicBezTo>
                    <a:pt x="122232" y="20427"/>
                    <a:pt x="122232" y="20427"/>
                    <a:pt x="122232" y="20427"/>
                  </a:cubicBezTo>
                  <a:cubicBezTo>
                    <a:pt x="122307" y="20477"/>
                    <a:pt x="122383" y="20552"/>
                    <a:pt x="122458" y="20627"/>
                  </a:cubicBezTo>
                  <a:cubicBezTo>
                    <a:pt x="122508" y="20652"/>
                    <a:pt x="122533" y="20677"/>
                    <a:pt x="122558" y="20702"/>
                  </a:cubicBezTo>
                  <a:cubicBezTo>
                    <a:pt x="125816" y="23584"/>
                    <a:pt x="128523" y="27093"/>
                    <a:pt x="130478" y="31028"/>
                  </a:cubicBezTo>
                  <a:cubicBezTo>
                    <a:pt x="130503" y="31028"/>
                    <a:pt x="130503" y="31053"/>
                    <a:pt x="130503" y="31053"/>
                  </a:cubicBezTo>
                  <a:lnTo>
                    <a:pt x="130503" y="31078"/>
                  </a:lnTo>
                  <a:cubicBezTo>
                    <a:pt x="131280" y="32582"/>
                    <a:pt x="131906" y="34186"/>
                    <a:pt x="132433" y="35815"/>
                  </a:cubicBezTo>
                  <a:cubicBezTo>
                    <a:pt x="133485" y="39048"/>
                    <a:pt x="134062" y="42507"/>
                    <a:pt x="134087" y="46116"/>
                  </a:cubicBezTo>
                  <a:cubicBezTo>
                    <a:pt x="134087" y="46141"/>
                    <a:pt x="134087" y="46141"/>
                    <a:pt x="134087" y="46166"/>
                  </a:cubicBezTo>
                  <a:lnTo>
                    <a:pt x="134087" y="46191"/>
                  </a:lnTo>
                  <a:lnTo>
                    <a:pt x="134087" y="46216"/>
                  </a:lnTo>
                  <a:lnTo>
                    <a:pt x="134087" y="46241"/>
                  </a:lnTo>
                  <a:cubicBezTo>
                    <a:pt x="134087" y="46266"/>
                    <a:pt x="134087" y="46266"/>
                    <a:pt x="134087" y="46266"/>
                  </a:cubicBezTo>
                  <a:lnTo>
                    <a:pt x="134087" y="46291"/>
                  </a:lnTo>
                  <a:lnTo>
                    <a:pt x="134087" y="46316"/>
                  </a:lnTo>
                  <a:cubicBezTo>
                    <a:pt x="134087" y="49825"/>
                    <a:pt x="133561" y="53184"/>
                    <a:pt x="132583" y="56367"/>
                  </a:cubicBezTo>
                  <a:lnTo>
                    <a:pt x="132583" y="56417"/>
                  </a:lnTo>
                  <a:cubicBezTo>
                    <a:pt x="132332" y="57219"/>
                    <a:pt x="132032" y="57996"/>
                    <a:pt x="131731" y="58798"/>
                  </a:cubicBezTo>
                  <a:cubicBezTo>
                    <a:pt x="127921" y="69023"/>
                    <a:pt x="121631" y="78196"/>
                    <a:pt x="114563" y="86066"/>
                  </a:cubicBezTo>
                  <a:cubicBezTo>
                    <a:pt x="111806" y="89149"/>
                    <a:pt x="108899" y="92056"/>
                    <a:pt x="105991" y="94738"/>
                  </a:cubicBezTo>
                  <a:cubicBezTo>
                    <a:pt x="105841" y="94888"/>
                    <a:pt x="105691" y="95013"/>
                    <a:pt x="105515" y="95164"/>
                  </a:cubicBezTo>
                  <a:cubicBezTo>
                    <a:pt x="93260" y="106392"/>
                    <a:pt x="80753" y="113886"/>
                    <a:pt x="75665" y="116718"/>
                  </a:cubicBezTo>
                  <a:cubicBezTo>
                    <a:pt x="74939" y="117119"/>
                    <a:pt x="74137" y="117319"/>
                    <a:pt x="73310" y="117319"/>
                  </a:cubicBezTo>
                  <a:cubicBezTo>
                    <a:pt x="72508" y="117319"/>
                    <a:pt x="71706" y="117119"/>
                    <a:pt x="70954" y="116718"/>
                  </a:cubicBezTo>
                  <a:cubicBezTo>
                    <a:pt x="68673" y="115440"/>
                    <a:pt x="64863" y="113209"/>
                    <a:pt x="60252" y="110101"/>
                  </a:cubicBezTo>
                  <a:cubicBezTo>
                    <a:pt x="58096" y="108673"/>
                    <a:pt x="55791" y="107044"/>
                    <a:pt x="53385" y="105264"/>
                  </a:cubicBezTo>
                  <a:cubicBezTo>
                    <a:pt x="47144" y="100628"/>
                    <a:pt x="40177" y="94788"/>
                    <a:pt x="33761" y="87896"/>
                  </a:cubicBezTo>
                  <a:cubicBezTo>
                    <a:pt x="33334" y="87444"/>
                    <a:pt x="32908" y="86968"/>
                    <a:pt x="32482" y="86517"/>
                  </a:cubicBezTo>
                  <a:cubicBezTo>
                    <a:pt x="28873" y="82532"/>
                    <a:pt x="25490" y="78246"/>
                    <a:pt x="22482" y="73660"/>
                  </a:cubicBezTo>
                  <a:cubicBezTo>
                    <a:pt x="21505" y="74662"/>
                    <a:pt x="20628" y="75815"/>
                    <a:pt x="20051" y="77144"/>
                  </a:cubicBezTo>
                  <a:cubicBezTo>
                    <a:pt x="18898" y="79876"/>
                    <a:pt x="19224" y="83059"/>
                    <a:pt x="19675" y="85815"/>
                  </a:cubicBezTo>
                  <a:cubicBezTo>
                    <a:pt x="19951" y="87369"/>
                    <a:pt x="20151" y="88848"/>
                    <a:pt x="20352" y="90377"/>
                  </a:cubicBezTo>
                  <a:cubicBezTo>
                    <a:pt x="21154" y="91329"/>
                    <a:pt x="21981" y="92257"/>
                    <a:pt x="22833" y="93209"/>
                  </a:cubicBezTo>
                  <a:cubicBezTo>
                    <a:pt x="25089" y="94036"/>
                    <a:pt x="27044" y="96091"/>
                    <a:pt x="28146" y="98823"/>
                  </a:cubicBezTo>
                  <a:cubicBezTo>
                    <a:pt x="33685" y="104387"/>
                    <a:pt x="39951" y="109775"/>
                    <a:pt x="46818" y="114888"/>
                  </a:cubicBezTo>
                  <a:cubicBezTo>
                    <a:pt x="49375" y="116768"/>
                    <a:pt x="51931" y="118572"/>
                    <a:pt x="54437" y="120252"/>
                  </a:cubicBezTo>
                  <a:cubicBezTo>
                    <a:pt x="59525" y="123660"/>
                    <a:pt x="63736" y="126141"/>
                    <a:pt x="66392" y="127620"/>
                  </a:cubicBezTo>
                  <a:cubicBezTo>
                    <a:pt x="68498" y="128798"/>
                    <a:pt x="70904" y="129425"/>
                    <a:pt x="73335" y="129425"/>
                  </a:cubicBezTo>
                  <a:cubicBezTo>
                    <a:pt x="75741" y="129425"/>
                    <a:pt x="78122" y="128798"/>
                    <a:pt x="80277" y="127620"/>
                  </a:cubicBezTo>
                  <a:cubicBezTo>
                    <a:pt x="85791" y="124512"/>
                    <a:pt x="100152" y="115941"/>
                    <a:pt x="114037" y="103134"/>
                  </a:cubicBezTo>
                  <a:cubicBezTo>
                    <a:pt x="117495" y="99951"/>
                    <a:pt x="120728" y="96668"/>
                    <a:pt x="123711" y="93359"/>
                  </a:cubicBezTo>
                  <a:cubicBezTo>
                    <a:pt x="132834" y="83184"/>
                    <a:pt x="139525" y="72532"/>
                    <a:pt x="143561" y="61705"/>
                  </a:cubicBezTo>
                  <a:cubicBezTo>
                    <a:pt x="143962" y="60702"/>
                    <a:pt x="144312" y="59675"/>
                    <a:pt x="144638" y="58697"/>
                  </a:cubicBezTo>
                  <a:lnTo>
                    <a:pt x="144713" y="58397"/>
                  </a:lnTo>
                  <a:lnTo>
                    <a:pt x="144739" y="58347"/>
                  </a:lnTo>
                  <a:cubicBezTo>
                    <a:pt x="146017" y="54111"/>
                    <a:pt x="146643" y="49725"/>
                    <a:pt x="146643" y="45289"/>
                  </a:cubicBezTo>
                  <a:cubicBezTo>
                    <a:pt x="146643" y="41830"/>
                    <a:pt x="146267" y="38397"/>
                    <a:pt x="145490" y="35063"/>
                  </a:cubicBezTo>
                  <a:lnTo>
                    <a:pt x="145490" y="34988"/>
                  </a:lnTo>
                  <a:lnTo>
                    <a:pt x="145190" y="33860"/>
                  </a:lnTo>
                  <a:cubicBezTo>
                    <a:pt x="144989" y="33083"/>
                    <a:pt x="144764" y="32306"/>
                    <a:pt x="144513" y="31529"/>
                  </a:cubicBezTo>
                  <a:lnTo>
                    <a:pt x="144438" y="31279"/>
                  </a:lnTo>
                  <a:cubicBezTo>
                    <a:pt x="142207" y="24387"/>
                    <a:pt x="138272" y="18071"/>
                    <a:pt x="133109" y="13008"/>
                  </a:cubicBezTo>
                  <a:cubicBezTo>
                    <a:pt x="132533" y="12406"/>
                    <a:pt x="131906" y="11830"/>
                    <a:pt x="131280" y="11279"/>
                  </a:cubicBezTo>
                  <a:cubicBezTo>
                    <a:pt x="125791" y="6467"/>
                    <a:pt x="119149" y="2983"/>
                    <a:pt x="112082" y="1279"/>
                  </a:cubicBezTo>
                  <a:cubicBezTo>
                    <a:pt x="108598" y="426"/>
                    <a:pt x="104989" y="0"/>
                    <a:pt x="101355" y="0"/>
                  </a:cubicBezTo>
                  <a:cubicBezTo>
                    <a:pt x="95991" y="0"/>
                    <a:pt x="90728" y="928"/>
                    <a:pt x="85716" y="2782"/>
                  </a:cubicBezTo>
                  <a:cubicBezTo>
                    <a:pt x="81229" y="4411"/>
                    <a:pt x="77044" y="6767"/>
                    <a:pt x="73310" y="9725"/>
                  </a:cubicBezTo>
                  <a:cubicBezTo>
                    <a:pt x="68097" y="5614"/>
                    <a:pt x="62006" y="2657"/>
                    <a:pt x="55540" y="1178"/>
                  </a:cubicBezTo>
                  <a:lnTo>
                    <a:pt x="54513" y="928"/>
                  </a:lnTo>
                  <a:lnTo>
                    <a:pt x="54462" y="928"/>
                  </a:lnTo>
                  <a:cubicBezTo>
                    <a:pt x="52683" y="552"/>
                    <a:pt x="50828" y="301"/>
                    <a:pt x="48974" y="151"/>
                  </a:cubicBezTo>
                  <a:cubicBezTo>
                    <a:pt x="47771" y="51"/>
                    <a:pt x="46517" y="0"/>
                    <a:pt x="45289" y="0"/>
                  </a:cubicBezTo>
                  <a:close/>
                </a:path>
              </a:pathLst>
            </a:custGeom>
            <a:solidFill>
              <a:srgbClr val="EEE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4" name="Google Shape;908;p42">
              <a:extLst>
                <a:ext uri="{FF2B5EF4-FFF2-40B4-BE49-F238E27FC236}">
                  <a16:creationId xmlns:a16="http://schemas.microsoft.com/office/drawing/2014/main" id="{A18EB744-BE36-6F64-B5E1-2894C915BBC0}"/>
                </a:ext>
              </a:extLst>
            </p:cNvPr>
            <p:cNvSpPr/>
            <p:nvPr/>
          </p:nvSpPr>
          <p:spPr>
            <a:xfrm>
              <a:off x="3399418" y="-1055358"/>
              <a:ext cx="2376488" cy="2057941"/>
            </a:xfrm>
            <a:custGeom>
              <a:avLst/>
              <a:gdLst/>
              <a:ahLst/>
              <a:cxnLst/>
              <a:rect l="l" t="t" r="r" b="b"/>
              <a:pathLst>
                <a:path w="121530" h="105240" extrusionOk="0">
                  <a:moveTo>
                    <a:pt x="34236" y="1"/>
                  </a:moveTo>
                  <a:cubicBezTo>
                    <a:pt x="22482" y="1"/>
                    <a:pt x="12106" y="5941"/>
                    <a:pt x="5940" y="14963"/>
                  </a:cubicBezTo>
                  <a:cubicBezTo>
                    <a:pt x="2181" y="20452"/>
                    <a:pt x="0" y="27094"/>
                    <a:pt x="0" y="34236"/>
                  </a:cubicBezTo>
                  <a:cubicBezTo>
                    <a:pt x="0" y="37745"/>
                    <a:pt x="527" y="41104"/>
                    <a:pt x="1504" y="44287"/>
                  </a:cubicBezTo>
                  <a:lnTo>
                    <a:pt x="1504" y="44312"/>
                  </a:lnTo>
                  <a:cubicBezTo>
                    <a:pt x="1780" y="45164"/>
                    <a:pt x="2056" y="45966"/>
                    <a:pt x="2381" y="46768"/>
                  </a:cubicBezTo>
                  <a:lnTo>
                    <a:pt x="2406" y="46868"/>
                  </a:lnTo>
                  <a:cubicBezTo>
                    <a:pt x="4211" y="51630"/>
                    <a:pt x="6517" y="56141"/>
                    <a:pt x="9198" y="60402"/>
                  </a:cubicBezTo>
                  <a:cubicBezTo>
                    <a:pt x="12356" y="65440"/>
                    <a:pt x="16016" y="70126"/>
                    <a:pt x="19925" y="74437"/>
                  </a:cubicBezTo>
                  <a:cubicBezTo>
                    <a:pt x="20351" y="74888"/>
                    <a:pt x="20777" y="75364"/>
                    <a:pt x="21204" y="75816"/>
                  </a:cubicBezTo>
                  <a:cubicBezTo>
                    <a:pt x="27620" y="82708"/>
                    <a:pt x="34587" y="88548"/>
                    <a:pt x="40828" y="93184"/>
                  </a:cubicBezTo>
                  <a:cubicBezTo>
                    <a:pt x="43234" y="94964"/>
                    <a:pt x="45539" y="96593"/>
                    <a:pt x="47695" y="98021"/>
                  </a:cubicBezTo>
                  <a:cubicBezTo>
                    <a:pt x="52306" y="101129"/>
                    <a:pt x="56116" y="103360"/>
                    <a:pt x="58397" y="104638"/>
                  </a:cubicBezTo>
                  <a:cubicBezTo>
                    <a:pt x="59136" y="105039"/>
                    <a:pt x="59951" y="105239"/>
                    <a:pt x="60762" y="105239"/>
                  </a:cubicBezTo>
                  <a:cubicBezTo>
                    <a:pt x="61573" y="105239"/>
                    <a:pt x="62382" y="105039"/>
                    <a:pt x="63108" y="104638"/>
                  </a:cubicBezTo>
                  <a:cubicBezTo>
                    <a:pt x="68246" y="101756"/>
                    <a:pt x="81003" y="94111"/>
                    <a:pt x="93434" y="82658"/>
                  </a:cubicBezTo>
                  <a:cubicBezTo>
                    <a:pt x="96342" y="79976"/>
                    <a:pt x="99249" y="77069"/>
                    <a:pt x="102006" y="73986"/>
                  </a:cubicBezTo>
                  <a:cubicBezTo>
                    <a:pt x="109074" y="66116"/>
                    <a:pt x="115364" y="56943"/>
                    <a:pt x="119174" y="46718"/>
                  </a:cubicBezTo>
                  <a:cubicBezTo>
                    <a:pt x="119475" y="45916"/>
                    <a:pt x="119775" y="45139"/>
                    <a:pt x="120026" y="44337"/>
                  </a:cubicBezTo>
                  <a:lnTo>
                    <a:pt x="120026" y="44287"/>
                  </a:lnTo>
                  <a:cubicBezTo>
                    <a:pt x="121004" y="41104"/>
                    <a:pt x="121530" y="37745"/>
                    <a:pt x="121530" y="34236"/>
                  </a:cubicBezTo>
                  <a:cubicBezTo>
                    <a:pt x="121530" y="31254"/>
                    <a:pt x="121154" y="28372"/>
                    <a:pt x="120427" y="25615"/>
                  </a:cubicBezTo>
                  <a:cubicBezTo>
                    <a:pt x="120277" y="25013"/>
                    <a:pt x="120101" y="24412"/>
                    <a:pt x="119926" y="23835"/>
                  </a:cubicBezTo>
                  <a:lnTo>
                    <a:pt x="119876" y="23735"/>
                  </a:lnTo>
                  <a:cubicBezTo>
                    <a:pt x="118171" y="18397"/>
                    <a:pt x="115189" y="13660"/>
                    <a:pt x="111279" y="9825"/>
                  </a:cubicBezTo>
                  <a:cubicBezTo>
                    <a:pt x="110828" y="9374"/>
                    <a:pt x="110377" y="8948"/>
                    <a:pt x="109901" y="8547"/>
                  </a:cubicBezTo>
                  <a:cubicBezTo>
                    <a:pt x="105815" y="4938"/>
                    <a:pt x="100878" y="2306"/>
                    <a:pt x="95414" y="978"/>
                  </a:cubicBezTo>
                  <a:cubicBezTo>
                    <a:pt x="92808" y="352"/>
                    <a:pt x="90101" y="1"/>
                    <a:pt x="87294" y="1"/>
                  </a:cubicBezTo>
                  <a:cubicBezTo>
                    <a:pt x="83134" y="1"/>
                    <a:pt x="79149" y="753"/>
                    <a:pt x="75464" y="2106"/>
                  </a:cubicBezTo>
                  <a:cubicBezTo>
                    <a:pt x="69675" y="4236"/>
                    <a:pt x="64612" y="7921"/>
                    <a:pt x="60753" y="12632"/>
                  </a:cubicBezTo>
                  <a:cubicBezTo>
                    <a:pt x="56041" y="6843"/>
                    <a:pt x="49499" y="2632"/>
                    <a:pt x="41981" y="903"/>
                  </a:cubicBezTo>
                  <a:cubicBezTo>
                    <a:pt x="40351" y="527"/>
                    <a:pt x="38697" y="251"/>
                    <a:pt x="37018" y="126"/>
                  </a:cubicBezTo>
                  <a:cubicBezTo>
                    <a:pt x="36091" y="51"/>
                    <a:pt x="35163" y="1"/>
                    <a:pt x="34236" y="1"/>
                  </a:cubicBez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5" name="Google Shape;909;p42">
              <a:extLst>
                <a:ext uri="{FF2B5EF4-FFF2-40B4-BE49-F238E27FC236}">
                  <a16:creationId xmlns:a16="http://schemas.microsoft.com/office/drawing/2014/main" id="{E2272385-70EC-2C22-E61B-EF269D0A479D}"/>
                </a:ext>
              </a:extLst>
            </p:cNvPr>
            <p:cNvSpPr/>
            <p:nvPr/>
          </p:nvSpPr>
          <p:spPr>
            <a:xfrm>
              <a:off x="4869211" y="-1036233"/>
              <a:ext cx="906695" cy="1427672"/>
            </a:xfrm>
            <a:custGeom>
              <a:avLst/>
              <a:gdLst/>
              <a:ahLst/>
              <a:cxnLst/>
              <a:rect l="l" t="t" r="r" b="b"/>
              <a:pathLst>
                <a:path w="46367" h="73009" extrusionOk="0">
                  <a:moveTo>
                    <a:pt x="20251" y="0"/>
                  </a:moveTo>
                  <a:cubicBezTo>
                    <a:pt x="18698" y="1028"/>
                    <a:pt x="17670" y="2732"/>
                    <a:pt x="18121" y="4486"/>
                  </a:cubicBezTo>
                  <a:cubicBezTo>
                    <a:pt x="18547" y="6241"/>
                    <a:pt x="20277" y="7895"/>
                    <a:pt x="19500" y="9499"/>
                  </a:cubicBezTo>
                  <a:cubicBezTo>
                    <a:pt x="19124" y="10301"/>
                    <a:pt x="18246" y="10702"/>
                    <a:pt x="17394" y="10902"/>
                  </a:cubicBezTo>
                  <a:cubicBezTo>
                    <a:pt x="15490" y="11379"/>
                    <a:pt x="13484" y="11103"/>
                    <a:pt x="11555" y="11354"/>
                  </a:cubicBezTo>
                  <a:cubicBezTo>
                    <a:pt x="9625" y="11604"/>
                    <a:pt x="7545" y="12557"/>
                    <a:pt x="6943" y="14436"/>
                  </a:cubicBezTo>
                  <a:cubicBezTo>
                    <a:pt x="6241" y="16667"/>
                    <a:pt x="8271" y="19098"/>
                    <a:pt x="10602" y="19499"/>
                  </a:cubicBezTo>
                  <a:cubicBezTo>
                    <a:pt x="10909" y="19548"/>
                    <a:pt x="11215" y="19572"/>
                    <a:pt x="11521" y="19572"/>
                  </a:cubicBezTo>
                  <a:cubicBezTo>
                    <a:pt x="13537" y="19572"/>
                    <a:pt x="15505" y="18549"/>
                    <a:pt x="17094" y="17243"/>
                  </a:cubicBezTo>
                  <a:cubicBezTo>
                    <a:pt x="18622" y="15965"/>
                    <a:pt x="19951" y="14436"/>
                    <a:pt x="21705" y="13509"/>
                  </a:cubicBezTo>
                  <a:cubicBezTo>
                    <a:pt x="22499" y="13101"/>
                    <a:pt x="23431" y="12862"/>
                    <a:pt x="24335" y="12862"/>
                  </a:cubicBezTo>
                  <a:cubicBezTo>
                    <a:pt x="25428" y="12862"/>
                    <a:pt x="26480" y="13212"/>
                    <a:pt x="27194" y="14035"/>
                  </a:cubicBezTo>
                  <a:cubicBezTo>
                    <a:pt x="28597" y="15689"/>
                    <a:pt x="27996" y="18346"/>
                    <a:pt x="29249" y="20126"/>
                  </a:cubicBezTo>
                  <a:cubicBezTo>
                    <a:pt x="30210" y="21488"/>
                    <a:pt x="31901" y="21877"/>
                    <a:pt x="33644" y="21877"/>
                  </a:cubicBezTo>
                  <a:cubicBezTo>
                    <a:pt x="34402" y="21877"/>
                    <a:pt x="35169" y="21803"/>
                    <a:pt x="35891" y="21705"/>
                  </a:cubicBezTo>
                  <a:cubicBezTo>
                    <a:pt x="36704" y="21588"/>
                    <a:pt x="37528" y="21450"/>
                    <a:pt x="38349" y="21450"/>
                  </a:cubicBezTo>
                  <a:cubicBezTo>
                    <a:pt x="38768" y="21450"/>
                    <a:pt x="39185" y="21486"/>
                    <a:pt x="39600" y="21579"/>
                  </a:cubicBezTo>
                  <a:cubicBezTo>
                    <a:pt x="40803" y="21855"/>
                    <a:pt x="41981" y="22707"/>
                    <a:pt x="42206" y="23910"/>
                  </a:cubicBezTo>
                  <a:cubicBezTo>
                    <a:pt x="42507" y="25614"/>
                    <a:pt x="40953" y="27093"/>
                    <a:pt x="39374" y="27795"/>
                  </a:cubicBezTo>
                  <a:cubicBezTo>
                    <a:pt x="38112" y="28340"/>
                    <a:pt x="36741" y="28603"/>
                    <a:pt x="35366" y="28603"/>
                  </a:cubicBezTo>
                  <a:cubicBezTo>
                    <a:pt x="32509" y="28603"/>
                    <a:pt x="29633" y="27470"/>
                    <a:pt x="27670" y="25389"/>
                  </a:cubicBezTo>
                  <a:cubicBezTo>
                    <a:pt x="26567" y="24211"/>
                    <a:pt x="25765" y="22807"/>
                    <a:pt x="24662" y="21629"/>
                  </a:cubicBezTo>
                  <a:cubicBezTo>
                    <a:pt x="23635" y="20532"/>
                    <a:pt x="22260" y="19609"/>
                    <a:pt x="20781" y="19609"/>
                  </a:cubicBezTo>
                  <a:cubicBezTo>
                    <a:pt x="20672" y="19609"/>
                    <a:pt x="20562" y="19614"/>
                    <a:pt x="20452" y="19624"/>
                  </a:cubicBezTo>
                  <a:cubicBezTo>
                    <a:pt x="17804" y="19865"/>
                    <a:pt x="15920" y="22949"/>
                    <a:pt x="13355" y="22949"/>
                  </a:cubicBezTo>
                  <a:cubicBezTo>
                    <a:pt x="13249" y="22949"/>
                    <a:pt x="13142" y="22944"/>
                    <a:pt x="13033" y="22933"/>
                  </a:cubicBezTo>
                  <a:cubicBezTo>
                    <a:pt x="11616" y="22779"/>
                    <a:pt x="10155" y="21719"/>
                    <a:pt x="8885" y="21719"/>
                  </a:cubicBezTo>
                  <a:cubicBezTo>
                    <a:pt x="8493" y="21719"/>
                    <a:pt x="8119" y="21820"/>
                    <a:pt x="7770" y="22080"/>
                  </a:cubicBezTo>
                  <a:cubicBezTo>
                    <a:pt x="6517" y="23033"/>
                    <a:pt x="7144" y="25013"/>
                    <a:pt x="6718" y="26542"/>
                  </a:cubicBezTo>
                  <a:cubicBezTo>
                    <a:pt x="6266" y="28121"/>
                    <a:pt x="4687" y="29048"/>
                    <a:pt x="3459" y="30176"/>
                  </a:cubicBezTo>
                  <a:cubicBezTo>
                    <a:pt x="1103" y="32356"/>
                    <a:pt x="1" y="36040"/>
                    <a:pt x="1379" y="38973"/>
                  </a:cubicBezTo>
                  <a:cubicBezTo>
                    <a:pt x="2327" y="41026"/>
                    <a:pt x="4613" y="42366"/>
                    <a:pt x="6820" y="42366"/>
                  </a:cubicBezTo>
                  <a:cubicBezTo>
                    <a:pt x="7765" y="42366"/>
                    <a:pt x="8695" y="42120"/>
                    <a:pt x="9500" y="41579"/>
                  </a:cubicBezTo>
                  <a:cubicBezTo>
                    <a:pt x="10621" y="40832"/>
                    <a:pt x="11704" y="39544"/>
                    <a:pt x="12951" y="39544"/>
                  </a:cubicBezTo>
                  <a:cubicBezTo>
                    <a:pt x="13126" y="39544"/>
                    <a:pt x="13303" y="39569"/>
                    <a:pt x="13484" y="39624"/>
                  </a:cubicBezTo>
                  <a:cubicBezTo>
                    <a:pt x="14788" y="40025"/>
                    <a:pt x="15214" y="41780"/>
                    <a:pt x="16442" y="42381"/>
                  </a:cubicBezTo>
                  <a:cubicBezTo>
                    <a:pt x="16782" y="42542"/>
                    <a:pt x="17141" y="42603"/>
                    <a:pt x="17510" y="42603"/>
                  </a:cubicBezTo>
                  <a:cubicBezTo>
                    <a:pt x="18120" y="42603"/>
                    <a:pt x="18759" y="42437"/>
                    <a:pt x="19399" y="42281"/>
                  </a:cubicBezTo>
                  <a:cubicBezTo>
                    <a:pt x="20035" y="42122"/>
                    <a:pt x="20656" y="41963"/>
                    <a:pt x="21223" y="41963"/>
                  </a:cubicBezTo>
                  <a:cubicBezTo>
                    <a:pt x="21729" y="41963"/>
                    <a:pt x="22192" y="42090"/>
                    <a:pt x="22582" y="42456"/>
                  </a:cubicBezTo>
                  <a:cubicBezTo>
                    <a:pt x="23560" y="43334"/>
                    <a:pt x="23159" y="44963"/>
                    <a:pt x="22507" y="46116"/>
                  </a:cubicBezTo>
                  <a:cubicBezTo>
                    <a:pt x="21855" y="47269"/>
                    <a:pt x="20953" y="48472"/>
                    <a:pt x="21154" y="49775"/>
                  </a:cubicBezTo>
                  <a:cubicBezTo>
                    <a:pt x="21605" y="52482"/>
                    <a:pt x="26292" y="53334"/>
                    <a:pt x="25941" y="56066"/>
                  </a:cubicBezTo>
                  <a:cubicBezTo>
                    <a:pt x="25665" y="58071"/>
                    <a:pt x="22883" y="58522"/>
                    <a:pt x="21630" y="60101"/>
                  </a:cubicBezTo>
                  <a:cubicBezTo>
                    <a:pt x="20327" y="61705"/>
                    <a:pt x="20928" y="64161"/>
                    <a:pt x="22106" y="65865"/>
                  </a:cubicBezTo>
                  <a:cubicBezTo>
                    <a:pt x="23284" y="67594"/>
                    <a:pt x="24963" y="68923"/>
                    <a:pt x="25966" y="70727"/>
                  </a:cubicBezTo>
                  <a:cubicBezTo>
                    <a:pt x="26392" y="71454"/>
                    <a:pt x="26668" y="72231"/>
                    <a:pt x="26843" y="73008"/>
                  </a:cubicBezTo>
                  <a:cubicBezTo>
                    <a:pt x="33911" y="65138"/>
                    <a:pt x="40201" y="55965"/>
                    <a:pt x="44011" y="45740"/>
                  </a:cubicBezTo>
                  <a:cubicBezTo>
                    <a:pt x="44312" y="44938"/>
                    <a:pt x="44612" y="44161"/>
                    <a:pt x="44863" y="43359"/>
                  </a:cubicBezTo>
                  <a:lnTo>
                    <a:pt x="44863" y="43309"/>
                  </a:lnTo>
                  <a:cubicBezTo>
                    <a:pt x="45841" y="40126"/>
                    <a:pt x="46367" y="36767"/>
                    <a:pt x="46367" y="33258"/>
                  </a:cubicBezTo>
                  <a:cubicBezTo>
                    <a:pt x="46367" y="29599"/>
                    <a:pt x="45790" y="26065"/>
                    <a:pt x="44713" y="22757"/>
                  </a:cubicBezTo>
                  <a:cubicBezTo>
                    <a:pt x="41104" y="11504"/>
                    <a:pt x="31830" y="2807"/>
                    <a:pt x="20251" y="0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6" name="Google Shape;910;p42">
              <a:extLst>
                <a:ext uri="{FF2B5EF4-FFF2-40B4-BE49-F238E27FC236}">
                  <a16:creationId xmlns:a16="http://schemas.microsoft.com/office/drawing/2014/main" id="{D19B0F15-2B4D-3AD5-A431-54C03557F4F3}"/>
                </a:ext>
              </a:extLst>
            </p:cNvPr>
            <p:cNvSpPr/>
            <p:nvPr/>
          </p:nvSpPr>
          <p:spPr>
            <a:xfrm>
              <a:off x="4086043" y="-247356"/>
              <a:ext cx="676340" cy="969720"/>
            </a:xfrm>
            <a:custGeom>
              <a:avLst/>
              <a:gdLst/>
              <a:ahLst/>
              <a:cxnLst/>
              <a:rect l="l" t="t" r="r" b="b"/>
              <a:pathLst>
                <a:path w="34587" h="49590" extrusionOk="0">
                  <a:moveTo>
                    <a:pt x="9104" y="1"/>
                  </a:moveTo>
                  <a:cubicBezTo>
                    <a:pt x="6445" y="1"/>
                    <a:pt x="3707" y="1409"/>
                    <a:pt x="2256" y="3693"/>
                  </a:cubicBezTo>
                  <a:cubicBezTo>
                    <a:pt x="0" y="7227"/>
                    <a:pt x="401" y="12791"/>
                    <a:pt x="3584" y="15598"/>
                  </a:cubicBezTo>
                  <a:cubicBezTo>
                    <a:pt x="7068" y="18706"/>
                    <a:pt x="8822" y="21839"/>
                    <a:pt x="8772" y="26676"/>
                  </a:cubicBezTo>
                  <a:cubicBezTo>
                    <a:pt x="8747" y="31012"/>
                    <a:pt x="7544" y="35273"/>
                    <a:pt x="7720" y="39608"/>
                  </a:cubicBezTo>
                  <a:cubicBezTo>
                    <a:pt x="7845" y="42415"/>
                    <a:pt x="8622" y="45298"/>
                    <a:pt x="10477" y="47403"/>
                  </a:cubicBezTo>
                  <a:cubicBezTo>
                    <a:pt x="11404" y="48456"/>
                    <a:pt x="12632" y="49308"/>
                    <a:pt x="14036" y="49533"/>
                  </a:cubicBezTo>
                  <a:cubicBezTo>
                    <a:pt x="14265" y="49571"/>
                    <a:pt x="14500" y="49590"/>
                    <a:pt x="14735" y="49590"/>
                  </a:cubicBezTo>
                  <a:cubicBezTo>
                    <a:pt x="15912" y="49590"/>
                    <a:pt x="17106" y="49120"/>
                    <a:pt x="17795" y="48180"/>
                  </a:cubicBezTo>
                  <a:cubicBezTo>
                    <a:pt x="19750" y="45573"/>
                    <a:pt x="17319" y="41087"/>
                    <a:pt x="19725" y="38907"/>
                  </a:cubicBezTo>
                  <a:cubicBezTo>
                    <a:pt x="20878" y="37854"/>
                    <a:pt x="22732" y="37854"/>
                    <a:pt x="23810" y="36726"/>
                  </a:cubicBezTo>
                  <a:cubicBezTo>
                    <a:pt x="25289" y="35222"/>
                    <a:pt x="24512" y="32691"/>
                    <a:pt x="23584" y="30786"/>
                  </a:cubicBezTo>
                  <a:cubicBezTo>
                    <a:pt x="22657" y="28882"/>
                    <a:pt x="21680" y="26501"/>
                    <a:pt x="22883" y="24771"/>
                  </a:cubicBezTo>
                  <a:cubicBezTo>
                    <a:pt x="23735" y="23593"/>
                    <a:pt x="25314" y="23192"/>
                    <a:pt x="26767" y="23117"/>
                  </a:cubicBezTo>
                  <a:cubicBezTo>
                    <a:pt x="28196" y="23017"/>
                    <a:pt x="29725" y="23142"/>
                    <a:pt x="31053" y="22591"/>
                  </a:cubicBezTo>
                  <a:cubicBezTo>
                    <a:pt x="32607" y="21964"/>
                    <a:pt x="33735" y="20486"/>
                    <a:pt x="34161" y="18856"/>
                  </a:cubicBezTo>
                  <a:cubicBezTo>
                    <a:pt x="34587" y="17252"/>
                    <a:pt x="34412" y="15498"/>
                    <a:pt x="33860" y="13919"/>
                  </a:cubicBezTo>
                  <a:cubicBezTo>
                    <a:pt x="32407" y="9633"/>
                    <a:pt x="28321" y="6400"/>
                    <a:pt x="23810" y="5949"/>
                  </a:cubicBezTo>
                  <a:cubicBezTo>
                    <a:pt x="21705" y="5724"/>
                    <a:pt x="19449" y="6074"/>
                    <a:pt x="17544" y="5122"/>
                  </a:cubicBezTo>
                  <a:cubicBezTo>
                    <a:pt x="15690" y="4220"/>
                    <a:pt x="14562" y="2315"/>
                    <a:pt x="12883" y="1137"/>
                  </a:cubicBezTo>
                  <a:cubicBezTo>
                    <a:pt x="11759" y="357"/>
                    <a:pt x="10441" y="1"/>
                    <a:pt x="9104" y="1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7" name="Google Shape;911;p42">
              <a:extLst>
                <a:ext uri="{FF2B5EF4-FFF2-40B4-BE49-F238E27FC236}">
                  <a16:creationId xmlns:a16="http://schemas.microsoft.com/office/drawing/2014/main" id="{AB4FD314-2E6F-5D5E-AB76-61136A51F710}"/>
                </a:ext>
              </a:extLst>
            </p:cNvPr>
            <p:cNvSpPr/>
            <p:nvPr/>
          </p:nvSpPr>
          <p:spPr>
            <a:xfrm>
              <a:off x="3399418" y="-1055358"/>
              <a:ext cx="906695" cy="1072050"/>
            </a:xfrm>
            <a:custGeom>
              <a:avLst/>
              <a:gdLst/>
              <a:ahLst/>
              <a:cxnLst/>
              <a:rect l="l" t="t" r="r" b="b"/>
              <a:pathLst>
                <a:path w="46367" h="54823" extrusionOk="0">
                  <a:moveTo>
                    <a:pt x="34236" y="1"/>
                  </a:moveTo>
                  <a:cubicBezTo>
                    <a:pt x="22482" y="1"/>
                    <a:pt x="12106" y="5941"/>
                    <a:pt x="5940" y="14963"/>
                  </a:cubicBezTo>
                  <a:cubicBezTo>
                    <a:pt x="2181" y="20452"/>
                    <a:pt x="0" y="27094"/>
                    <a:pt x="0" y="34236"/>
                  </a:cubicBezTo>
                  <a:cubicBezTo>
                    <a:pt x="0" y="37745"/>
                    <a:pt x="527" y="41104"/>
                    <a:pt x="1504" y="44287"/>
                  </a:cubicBezTo>
                  <a:lnTo>
                    <a:pt x="1504" y="44312"/>
                  </a:lnTo>
                  <a:cubicBezTo>
                    <a:pt x="1780" y="45164"/>
                    <a:pt x="2056" y="45966"/>
                    <a:pt x="2381" y="46768"/>
                  </a:cubicBezTo>
                  <a:lnTo>
                    <a:pt x="2406" y="46868"/>
                  </a:lnTo>
                  <a:cubicBezTo>
                    <a:pt x="2807" y="46793"/>
                    <a:pt x="3183" y="46617"/>
                    <a:pt x="3509" y="46342"/>
                  </a:cubicBezTo>
                  <a:cubicBezTo>
                    <a:pt x="4537" y="45414"/>
                    <a:pt x="4562" y="43835"/>
                    <a:pt x="4863" y="42482"/>
                  </a:cubicBezTo>
                  <a:cubicBezTo>
                    <a:pt x="5134" y="41240"/>
                    <a:pt x="6036" y="39875"/>
                    <a:pt x="7184" y="39875"/>
                  </a:cubicBezTo>
                  <a:cubicBezTo>
                    <a:pt x="7310" y="39875"/>
                    <a:pt x="7438" y="39891"/>
                    <a:pt x="7569" y="39926"/>
                  </a:cubicBezTo>
                  <a:cubicBezTo>
                    <a:pt x="8547" y="40176"/>
                    <a:pt x="9023" y="41254"/>
                    <a:pt x="9173" y="42231"/>
                  </a:cubicBezTo>
                  <a:cubicBezTo>
                    <a:pt x="9599" y="44813"/>
                    <a:pt x="8797" y="47645"/>
                    <a:pt x="10126" y="49876"/>
                  </a:cubicBezTo>
                  <a:cubicBezTo>
                    <a:pt x="11254" y="51755"/>
                    <a:pt x="13534" y="52532"/>
                    <a:pt x="15640" y="53109"/>
                  </a:cubicBezTo>
                  <a:cubicBezTo>
                    <a:pt x="17920" y="53710"/>
                    <a:pt x="20201" y="54211"/>
                    <a:pt x="22507" y="54638"/>
                  </a:cubicBezTo>
                  <a:cubicBezTo>
                    <a:pt x="23118" y="54742"/>
                    <a:pt x="23777" y="54823"/>
                    <a:pt x="24422" y="54823"/>
                  </a:cubicBezTo>
                  <a:cubicBezTo>
                    <a:pt x="25629" y="54823"/>
                    <a:pt x="26783" y="54541"/>
                    <a:pt x="27469" y="53610"/>
                  </a:cubicBezTo>
                  <a:cubicBezTo>
                    <a:pt x="28547" y="52181"/>
                    <a:pt x="27695" y="50001"/>
                    <a:pt x="26266" y="48923"/>
                  </a:cubicBezTo>
                  <a:cubicBezTo>
                    <a:pt x="24838" y="47820"/>
                    <a:pt x="23008" y="47470"/>
                    <a:pt x="21304" y="46868"/>
                  </a:cubicBezTo>
                  <a:cubicBezTo>
                    <a:pt x="19625" y="46267"/>
                    <a:pt x="17870" y="45239"/>
                    <a:pt x="17344" y="43510"/>
                  </a:cubicBezTo>
                  <a:cubicBezTo>
                    <a:pt x="16667" y="41329"/>
                    <a:pt x="18371" y="38998"/>
                    <a:pt x="20452" y="38021"/>
                  </a:cubicBezTo>
                  <a:cubicBezTo>
                    <a:pt x="22532" y="37043"/>
                    <a:pt x="24938" y="37018"/>
                    <a:pt x="27219" y="36743"/>
                  </a:cubicBezTo>
                  <a:cubicBezTo>
                    <a:pt x="31504" y="36191"/>
                    <a:pt x="35690" y="34637"/>
                    <a:pt x="39299" y="32231"/>
                  </a:cubicBezTo>
                  <a:cubicBezTo>
                    <a:pt x="41930" y="30452"/>
                    <a:pt x="44387" y="28046"/>
                    <a:pt x="45138" y="24938"/>
                  </a:cubicBezTo>
                  <a:cubicBezTo>
                    <a:pt x="45915" y="21855"/>
                    <a:pt x="44387" y="18046"/>
                    <a:pt x="41329" y="17194"/>
                  </a:cubicBezTo>
                  <a:cubicBezTo>
                    <a:pt x="40772" y="17042"/>
                    <a:pt x="40198" y="16984"/>
                    <a:pt x="39620" y="16984"/>
                  </a:cubicBezTo>
                  <a:cubicBezTo>
                    <a:pt x="38767" y="16984"/>
                    <a:pt x="37904" y="17109"/>
                    <a:pt x="37068" y="17244"/>
                  </a:cubicBezTo>
                  <a:cubicBezTo>
                    <a:pt x="36202" y="17399"/>
                    <a:pt x="35316" y="17544"/>
                    <a:pt x="34441" y="17544"/>
                  </a:cubicBezTo>
                  <a:cubicBezTo>
                    <a:pt x="33899" y="17544"/>
                    <a:pt x="33360" y="17488"/>
                    <a:pt x="32833" y="17344"/>
                  </a:cubicBezTo>
                  <a:cubicBezTo>
                    <a:pt x="31454" y="16993"/>
                    <a:pt x="30176" y="15840"/>
                    <a:pt x="30126" y="14437"/>
                  </a:cubicBezTo>
                  <a:cubicBezTo>
                    <a:pt x="30076" y="13284"/>
                    <a:pt x="30853" y="12231"/>
                    <a:pt x="31830" y="11605"/>
                  </a:cubicBezTo>
                  <a:cubicBezTo>
                    <a:pt x="32783" y="10978"/>
                    <a:pt x="33935" y="10702"/>
                    <a:pt x="35063" y="10452"/>
                  </a:cubicBezTo>
                  <a:cubicBezTo>
                    <a:pt x="37194" y="9951"/>
                    <a:pt x="39349" y="9449"/>
                    <a:pt x="41479" y="8948"/>
                  </a:cubicBezTo>
                  <a:cubicBezTo>
                    <a:pt x="42607" y="8697"/>
                    <a:pt x="43760" y="8422"/>
                    <a:pt x="44687" y="7770"/>
                  </a:cubicBezTo>
                  <a:cubicBezTo>
                    <a:pt x="45640" y="7144"/>
                    <a:pt x="46367" y="6016"/>
                    <a:pt x="46216" y="4888"/>
                  </a:cubicBezTo>
                  <a:cubicBezTo>
                    <a:pt x="46066" y="3685"/>
                    <a:pt x="45038" y="2833"/>
                    <a:pt x="44036" y="2156"/>
                  </a:cubicBezTo>
                  <a:cubicBezTo>
                    <a:pt x="43384" y="1705"/>
                    <a:pt x="42682" y="1279"/>
                    <a:pt x="41981" y="903"/>
                  </a:cubicBezTo>
                  <a:cubicBezTo>
                    <a:pt x="40351" y="527"/>
                    <a:pt x="38697" y="251"/>
                    <a:pt x="37018" y="126"/>
                  </a:cubicBezTo>
                  <a:cubicBezTo>
                    <a:pt x="36091" y="51"/>
                    <a:pt x="35163" y="1"/>
                    <a:pt x="34236" y="1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8" name="Google Shape;912;p42">
              <a:extLst>
                <a:ext uri="{FF2B5EF4-FFF2-40B4-BE49-F238E27FC236}">
                  <a16:creationId xmlns:a16="http://schemas.microsoft.com/office/drawing/2014/main" id="{12272DAD-CB1E-4F5C-9AA4-196AE8AE2839}"/>
                </a:ext>
              </a:extLst>
            </p:cNvPr>
            <p:cNvSpPr/>
            <p:nvPr/>
          </p:nvSpPr>
          <p:spPr>
            <a:xfrm>
              <a:off x="3507243" y="-860788"/>
              <a:ext cx="576384" cy="556281"/>
            </a:xfrm>
            <a:custGeom>
              <a:avLst/>
              <a:gdLst/>
              <a:ahLst/>
              <a:cxnLst/>
              <a:rect l="l" t="t" r="r" b="b"/>
              <a:pathLst>
                <a:path w="29475" h="28447" extrusionOk="0">
                  <a:moveTo>
                    <a:pt x="21078" y="1"/>
                  </a:moveTo>
                  <a:cubicBezTo>
                    <a:pt x="16817" y="1"/>
                    <a:pt x="11654" y="2507"/>
                    <a:pt x="7569" y="6993"/>
                  </a:cubicBezTo>
                  <a:cubicBezTo>
                    <a:pt x="1429" y="13785"/>
                    <a:pt x="0" y="22507"/>
                    <a:pt x="4411" y="26492"/>
                  </a:cubicBezTo>
                  <a:cubicBezTo>
                    <a:pt x="5865" y="27820"/>
                    <a:pt x="7820" y="28447"/>
                    <a:pt x="9975" y="28447"/>
                  </a:cubicBezTo>
                  <a:cubicBezTo>
                    <a:pt x="14261" y="28447"/>
                    <a:pt x="19399" y="25941"/>
                    <a:pt x="23484" y="21454"/>
                  </a:cubicBezTo>
                  <a:cubicBezTo>
                    <a:pt x="27494" y="17043"/>
                    <a:pt x="29474" y="11805"/>
                    <a:pt x="29173" y="7595"/>
                  </a:cubicBezTo>
                  <a:lnTo>
                    <a:pt x="28898" y="7595"/>
                  </a:lnTo>
                  <a:cubicBezTo>
                    <a:pt x="28371" y="7595"/>
                    <a:pt x="27845" y="7545"/>
                    <a:pt x="27319" y="7394"/>
                  </a:cubicBezTo>
                  <a:cubicBezTo>
                    <a:pt x="25940" y="7043"/>
                    <a:pt x="24662" y="5890"/>
                    <a:pt x="24612" y="4487"/>
                  </a:cubicBezTo>
                  <a:cubicBezTo>
                    <a:pt x="24562" y="3334"/>
                    <a:pt x="25339" y="2281"/>
                    <a:pt x="26291" y="1655"/>
                  </a:cubicBezTo>
                  <a:cubicBezTo>
                    <a:pt x="24862" y="527"/>
                    <a:pt x="23083" y="1"/>
                    <a:pt x="21078" y="1"/>
                  </a:cubicBezTo>
                  <a:close/>
                </a:path>
              </a:pathLst>
            </a:custGeom>
            <a:solidFill>
              <a:srgbClr val="D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9" name="Google Shape;913;p42">
              <a:extLst>
                <a:ext uri="{FF2B5EF4-FFF2-40B4-BE49-F238E27FC236}">
                  <a16:creationId xmlns:a16="http://schemas.microsoft.com/office/drawing/2014/main" id="{08CACC3D-D44B-FBDF-1BBF-A6A7AB821E7E}"/>
                </a:ext>
              </a:extLst>
            </p:cNvPr>
            <p:cNvSpPr/>
            <p:nvPr/>
          </p:nvSpPr>
          <p:spPr>
            <a:xfrm>
              <a:off x="5217188" y="-385882"/>
              <a:ext cx="558718" cy="955210"/>
            </a:xfrm>
            <a:custGeom>
              <a:avLst/>
              <a:gdLst/>
              <a:ahLst/>
              <a:cxnLst/>
              <a:rect l="l" t="t" r="r" b="b"/>
              <a:pathLst>
                <a:path w="28572" h="48848" extrusionOk="0">
                  <a:moveTo>
                    <a:pt x="0" y="48848"/>
                  </a:moveTo>
                  <a:cubicBezTo>
                    <a:pt x="176" y="48697"/>
                    <a:pt x="326" y="48572"/>
                    <a:pt x="476" y="48422"/>
                  </a:cubicBezTo>
                  <a:cubicBezTo>
                    <a:pt x="3384" y="45740"/>
                    <a:pt x="6291" y="42833"/>
                    <a:pt x="9048" y="39750"/>
                  </a:cubicBezTo>
                  <a:lnTo>
                    <a:pt x="9048" y="39750"/>
                  </a:lnTo>
                  <a:cubicBezTo>
                    <a:pt x="16116" y="31880"/>
                    <a:pt x="22406" y="22707"/>
                    <a:pt x="26216" y="12482"/>
                  </a:cubicBezTo>
                  <a:cubicBezTo>
                    <a:pt x="26517" y="11680"/>
                    <a:pt x="26817" y="10903"/>
                    <a:pt x="27068" y="10101"/>
                  </a:cubicBezTo>
                  <a:lnTo>
                    <a:pt x="27068" y="10051"/>
                  </a:lnTo>
                  <a:cubicBezTo>
                    <a:pt x="28046" y="6868"/>
                    <a:pt x="28572" y="3509"/>
                    <a:pt x="28572" y="0"/>
                  </a:cubicBezTo>
                  <a:lnTo>
                    <a:pt x="28572" y="0"/>
                  </a:lnTo>
                  <a:cubicBezTo>
                    <a:pt x="28572" y="3509"/>
                    <a:pt x="28046" y="6868"/>
                    <a:pt x="27068" y="10051"/>
                  </a:cubicBezTo>
                  <a:lnTo>
                    <a:pt x="27068" y="10101"/>
                  </a:lnTo>
                  <a:cubicBezTo>
                    <a:pt x="26817" y="10903"/>
                    <a:pt x="26517" y="11680"/>
                    <a:pt x="26216" y="12482"/>
                  </a:cubicBezTo>
                  <a:cubicBezTo>
                    <a:pt x="22406" y="22707"/>
                    <a:pt x="16116" y="31880"/>
                    <a:pt x="9048" y="39750"/>
                  </a:cubicBezTo>
                  <a:cubicBezTo>
                    <a:pt x="6291" y="42833"/>
                    <a:pt x="3384" y="45740"/>
                    <a:pt x="476" y="48422"/>
                  </a:cubicBezTo>
                  <a:cubicBezTo>
                    <a:pt x="326" y="48572"/>
                    <a:pt x="176" y="48697"/>
                    <a:pt x="0" y="48848"/>
                  </a:cubicBezTo>
                  <a:close/>
                </a:path>
              </a:pathLst>
            </a:custGeom>
            <a:solidFill>
              <a:srgbClr val="F57F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0" name="Google Shape;914;p42">
              <a:extLst>
                <a:ext uri="{FF2B5EF4-FFF2-40B4-BE49-F238E27FC236}">
                  <a16:creationId xmlns:a16="http://schemas.microsoft.com/office/drawing/2014/main" id="{DD34E6C7-D972-34AD-6FDC-458229950286}"/>
                </a:ext>
              </a:extLst>
            </p:cNvPr>
            <p:cNvSpPr/>
            <p:nvPr/>
          </p:nvSpPr>
          <p:spPr>
            <a:xfrm>
              <a:off x="4332062" y="-1055358"/>
              <a:ext cx="1363474" cy="2057941"/>
            </a:xfrm>
            <a:custGeom>
              <a:avLst/>
              <a:gdLst/>
              <a:ahLst/>
              <a:cxnLst/>
              <a:rect l="l" t="t" r="r" b="b"/>
              <a:pathLst>
                <a:path w="69726" h="105240" extrusionOk="0">
                  <a:moveTo>
                    <a:pt x="39600" y="1"/>
                  </a:moveTo>
                  <a:cubicBezTo>
                    <a:pt x="35440" y="1"/>
                    <a:pt x="31455" y="753"/>
                    <a:pt x="27770" y="2106"/>
                  </a:cubicBezTo>
                  <a:cubicBezTo>
                    <a:pt x="28923" y="1931"/>
                    <a:pt x="30076" y="1830"/>
                    <a:pt x="31229" y="1830"/>
                  </a:cubicBezTo>
                  <a:cubicBezTo>
                    <a:pt x="33134" y="1830"/>
                    <a:pt x="35014" y="2106"/>
                    <a:pt x="36843" y="2682"/>
                  </a:cubicBezTo>
                  <a:cubicBezTo>
                    <a:pt x="40979" y="4061"/>
                    <a:pt x="44437" y="6993"/>
                    <a:pt x="46893" y="10627"/>
                  </a:cubicBezTo>
                  <a:cubicBezTo>
                    <a:pt x="46918" y="10577"/>
                    <a:pt x="46943" y="10527"/>
                    <a:pt x="46969" y="10477"/>
                  </a:cubicBezTo>
                  <a:cubicBezTo>
                    <a:pt x="47746" y="8873"/>
                    <a:pt x="46016" y="7219"/>
                    <a:pt x="45590" y="5464"/>
                  </a:cubicBezTo>
                  <a:cubicBezTo>
                    <a:pt x="45139" y="3710"/>
                    <a:pt x="46167" y="2006"/>
                    <a:pt x="47720" y="978"/>
                  </a:cubicBezTo>
                  <a:cubicBezTo>
                    <a:pt x="45114" y="352"/>
                    <a:pt x="42407" y="1"/>
                    <a:pt x="39600" y="1"/>
                  </a:cubicBezTo>
                  <a:close/>
                  <a:moveTo>
                    <a:pt x="51806" y="13835"/>
                  </a:moveTo>
                  <a:cubicBezTo>
                    <a:pt x="50903" y="13835"/>
                    <a:pt x="49976" y="14086"/>
                    <a:pt x="49174" y="14487"/>
                  </a:cubicBezTo>
                  <a:cubicBezTo>
                    <a:pt x="49124" y="14512"/>
                    <a:pt x="49099" y="14537"/>
                    <a:pt x="49049" y="14562"/>
                  </a:cubicBezTo>
                  <a:cubicBezTo>
                    <a:pt x="50026" y="16843"/>
                    <a:pt x="50703" y="19249"/>
                    <a:pt x="51129" y="21705"/>
                  </a:cubicBezTo>
                  <a:cubicBezTo>
                    <a:pt x="51505" y="21981"/>
                    <a:pt x="51831" y="22281"/>
                    <a:pt x="52131" y="22607"/>
                  </a:cubicBezTo>
                  <a:cubicBezTo>
                    <a:pt x="53234" y="23785"/>
                    <a:pt x="54036" y="25189"/>
                    <a:pt x="55139" y="26367"/>
                  </a:cubicBezTo>
                  <a:cubicBezTo>
                    <a:pt x="57119" y="28447"/>
                    <a:pt x="59976" y="29575"/>
                    <a:pt x="62808" y="29575"/>
                  </a:cubicBezTo>
                  <a:cubicBezTo>
                    <a:pt x="63560" y="29575"/>
                    <a:pt x="64312" y="29500"/>
                    <a:pt x="65064" y="29349"/>
                  </a:cubicBezTo>
                  <a:cubicBezTo>
                    <a:pt x="66693" y="28171"/>
                    <a:pt x="68222" y="27018"/>
                    <a:pt x="69650" y="25891"/>
                  </a:cubicBezTo>
                  <a:cubicBezTo>
                    <a:pt x="69726" y="25590"/>
                    <a:pt x="69726" y="25239"/>
                    <a:pt x="69675" y="24888"/>
                  </a:cubicBezTo>
                  <a:cubicBezTo>
                    <a:pt x="69450" y="23685"/>
                    <a:pt x="68272" y="22833"/>
                    <a:pt x="67069" y="22557"/>
                  </a:cubicBezTo>
                  <a:cubicBezTo>
                    <a:pt x="66643" y="22457"/>
                    <a:pt x="66217" y="22432"/>
                    <a:pt x="65791" y="22432"/>
                  </a:cubicBezTo>
                  <a:cubicBezTo>
                    <a:pt x="64989" y="22432"/>
                    <a:pt x="64162" y="22557"/>
                    <a:pt x="63360" y="22683"/>
                  </a:cubicBezTo>
                  <a:cubicBezTo>
                    <a:pt x="62633" y="22783"/>
                    <a:pt x="61881" y="22858"/>
                    <a:pt x="61104" y="22858"/>
                  </a:cubicBezTo>
                  <a:cubicBezTo>
                    <a:pt x="59375" y="22858"/>
                    <a:pt x="57695" y="22457"/>
                    <a:pt x="56718" y="21104"/>
                  </a:cubicBezTo>
                  <a:cubicBezTo>
                    <a:pt x="55465" y="19324"/>
                    <a:pt x="56066" y="16667"/>
                    <a:pt x="54663" y="15013"/>
                  </a:cubicBezTo>
                  <a:cubicBezTo>
                    <a:pt x="53961" y="14186"/>
                    <a:pt x="52908" y="13835"/>
                    <a:pt x="51806" y="13835"/>
                  </a:cubicBezTo>
                  <a:close/>
                  <a:moveTo>
                    <a:pt x="50202" y="43585"/>
                  </a:moveTo>
                  <a:lnTo>
                    <a:pt x="50202" y="43585"/>
                  </a:lnTo>
                  <a:cubicBezTo>
                    <a:pt x="47871" y="54362"/>
                    <a:pt x="43159" y="64738"/>
                    <a:pt x="37545" y="74312"/>
                  </a:cubicBezTo>
                  <a:cubicBezTo>
                    <a:pt x="34262" y="79901"/>
                    <a:pt x="30603" y="85390"/>
                    <a:pt x="25891" y="89851"/>
                  </a:cubicBezTo>
                  <a:cubicBezTo>
                    <a:pt x="21154" y="94312"/>
                    <a:pt x="15239" y="97721"/>
                    <a:pt x="8798" y="98598"/>
                  </a:cubicBezTo>
                  <a:cubicBezTo>
                    <a:pt x="7820" y="98723"/>
                    <a:pt x="6818" y="98798"/>
                    <a:pt x="5790" y="98798"/>
                  </a:cubicBezTo>
                  <a:cubicBezTo>
                    <a:pt x="3835" y="98798"/>
                    <a:pt x="1881" y="98523"/>
                    <a:pt x="1" y="98021"/>
                  </a:cubicBezTo>
                  <a:lnTo>
                    <a:pt x="1" y="98021"/>
                  </a:lnTo>
                  <a:cubicBezTo>
                    <a:pt x="4612" y="101129"/>
                    <a:pt x="8422" y="103360"/>
                    <a:pt x="10703" y="104638"/>
                  </a:cubicBezTo>
                  <a:cubicBezTo>
                    <a:pt x="11455" y="105039"/>
                    <a:pt x="12257" y="105239"/>
                    <a:pt x="13059" y="105239"/>
                  </a:cubicBezTo>
                  <a:cubicBezTo>
                    <a:pt x="13886" y="105239"/>
                    <a:pt x="14688" y="105039"/>
                    <a:pt x="15414" y="104638"/>
                  </a:cubicBezTo>
                  <a:cubicBezTo>
                    <a:pt x="20502" y="101806"/>
                    <a:pt x="33009" y="94312"/>
                    <a:pt x="45264" y="83084"/>
                  </a:cubicBezTo>
                  <a:cubicBezTo>
                    <a:pt x="45440" y="82933"/>
                    <a:pt x="45590" y="82808"/>
                    <a:pt x="45740" y="82658"/>
                  </a:cubicBezTo>
                  <a:cubicBezTo>
                    <a:pt x="48648" y="79976"/>
                    <a:pt x="51555" y="77069"/>
                    <a:pt x="54312" y="73986"/>
                  </a:cubicBezTo>
                  <a:cubicBezTo>
                    <a:pt x="54137" y="73209"/>
                    <a:pt x="53861" y="72432"/>
                    <a:pt x="53435" y="71705"/>
                  </a:cubicBezTo>
                  <a:cubicBezTo>
                    <a:pt x="52432" y="69901"/>
                    <a:pt x="50753" y="68572"/>
                    <a:pt x="49575" y="66843"/>
                  </a:cubicBezTo>
                  <a:cubicBezTo>
                    <a:pt x="48397" y="65139"/>
                    <a:pt x="47796" y="62683"/>
                    <a:pt x="49099" y="61079"/>
                  </a:cubicBezTo>
                  <a:cubicBezTo>
                    <a:pt x="50352" y="59500"/>
                    <a:pt x="53134" y="59049"/>
                    <a:pt x="53410" y="57044"/>
                  </a:cubicBezTo>
                  <a:cubicBezTo>
                    <a:pt x="53761" y="54312"/>
                    <a:pt x="49074" y="53460"/>
                    <a:pt x="48623" y="50753"/>
                  </a:cubicBezTo>
                  <a:cubicBezTo>
                    <a:pt x="48422" y="49450"/>
                    <a:pt x="49324" y="48247"/>
                    <a:pt x="49976" y="47094"/>
                  </a:cubicBezTo>
                  <a:cubicBezTo>
                    <a:pt x="50603" y="46016"/>
                    <a:pt x="50979" y="44487"/>
                    <a:pt x="50202" y="43585"/>
                  </a:cubicBezTo>
                  <a:close/>
                </a:path>
              </a:pathLst>
            </a:custGeom>
            <a:solidFill>
              <a:srgbClr val="D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1" name="Google Shape;915;p42">
              <a:extLst>
                <a:ext uri="{FF2B5EF4-FFF2-40B4-BE49-F238E27FC236}">
                  <a16:creationId xmlns:a16="http://schemas.microsoft.com/office/drawing/2014/main" id="{83CDD1CC-35D8-1F5C-9E79-483038C391EE}"/>
                </a:ext>
              </a:extLst>
            </p:cNvPr>
            <p:cNvSpPr/>
            <p:nvPr/>
          </p:nvSpPr>
          <p:spPr>
            <a:xfrm>
              <a:off x="5214724" y="-1036233"/>
              <a:ext cx="561182" cy="1427672"/>
            </a:xfrm>
            <a:custGeom>
              <a:avLst/>
              <a:gdLst/>
              <a:ahLst/>
              <a:cxnLst/>
              <a:rect l="l" t="t" r="r" b="b"/>
              <a:pathLst>
                <a:path w="28698" h="73009" extrusionOk="0">
                  <a:moveTo>
                    <a:pt x="27094" y="22857"/>
                  </a:moveTo>
                  <a:cubicBezTo>
                    <a:pt x="27089" y="22861"/>
                    <a:pt x="27085" y="22865"/>
                    <a:pt x="27080" y="22869"/>
                  </a:cubicBezTo>
                  <a:lnTo>
                    <a:pt x="27080" y="22869"/>
                  </a:lnTo>
                  <a:cubicBezTo>
                    <a:pt x="27264" y="23442"/>
                    <a:pt x="27434" y="24022"/>
                    <a:pt x="27588" y="24609"/>
                  </a:cubicBezTo>
                  <a:lnTo>
                    <a:pt x="27588" y="24609"/>
                  </a:lnTo>
                  <a:cubicBezTo>
                    <a:pt x="27439" y="24017"/>
                    <a:pt x="27267" y="23425"/>
                    <a:pt x="27094" y="22857"/>
                  </a:cubicBezTo>
                  <a:close/>
                  <a:moveTo>
                    <a:pt x="2582" y="0"/>
                  </a:moveTo>
                  <a:cubicBezTo>
                    <a:pt x="1029" y="1028"/>
                    <a:pt x="1" y="2732"/>
                    <a:pt x="452" y="4486"/>
                  </a:cubicBezTo>
                  <a:cubicBezTo>
                    <a:pt x="878" y="6241"/>
                    <a:pt x="2608" y="7895"/>
                    <a:pt x="1831" y="9499"/>
                  </a:cubicBezTo>
                  <a:cubicBezTo>
                    <a:pt x="1805" y="9549"/>
                    <a:pt x="1780" y="9599"/>
                    <a:pt x="1755" y="9649"/>
                  </a:cubicBezTo>
                  <a:cubicBezTo>
                    <a:pt x="2457" y="10702"/>
                    <a:pt x="3084" y="11805"/>
                    <a:pt x="3610" y="12958"/>
                  </a:cubicBezTo>
                  <a:cubicBezTo>
                    <a:pt x="3710" y="13158"/>
                    <a:pt x="3811" y="13384"/>
                    <a:pt x="3911" y="13584"/>
                  </a:cubicBezTo>
                  <a:cubicBezTo>
                    <a:pt x="3961" y="13559"/>
                    <a:pt x="3986" y="13534"/>
                    <a:pt x="4036" y="13509"/>
                  </a:cubicBezTo>
                  <a:cubicBezTo>
                    <a:pt x="4838" y="13108"/>
                    <a:pt x="5765" y="12857"/>
                    <a:pt x="6668" y="12857"/>
                  </a:cubicBezTo>
                  <a:cubicBezTo>
                    <a:pt x="7770" y="12857"/>
                    <a:pt x="8823" y="13208"/>
                    <a:pt x="9525" y="14035"/>
                  </a:cubicBezTo>
                  <a:cubicBezTo>
                    <a:pt x="10928" y="15689"/>
                    <a:pt x="10327" y="18346"/>
                    <a:pt x="11580" y="20126"/>
                  </a:cubicBezTo>
                  <a:cubicBezTo>
                    <a:pt x="12557" y="21479"/>
                    <a:pt x="14237" y="21880"/>
                    <a:pt x="15966" y="21880"/>
                  </a:cubicBezTo>
                  <a:cubicBezTo>
                    <a:pt x="16743" y="21880"/>
                    <a:pt x="17495" y="21805"/>
                    <a:pt x="18222" y="21705"/>
                  </a:cubicBezTo>
                  <a:cubicBezTo>
                    <a:pt x="19024" y="21579"/>
                    <a:pt x="19851" y="21454"/>
                    <a:pt x="20653" y="21454"/>
                  </a:cubicBezTo>
                  <a:cubicBezTo>
                    <a:pt x="21079" y="21454"/>
                    <a:pt x="21505" y="21479"/>
                    <a:pt x="21931" y="21579"/>
                  </a:cubicBezTo>
                  <a:cubicBezTo>
                    <a:pt x="23134" y="21855"/>
                    <a:pt x="24312" y="22707"/>
                    <a:pt x="24537" y="23910"/>
                  </a:cubicBezTo>
                  <a:cubicBezTo>
                    <a:pt x="24588" y="24261"/>
                    <a:pt x="24588" y="24612"/>
                    <a:pt x="24512" y="24913"/>
                  </a:cubicBezTo>
                  <a:cubicBezTo>
                    <a:pt x="25410" y="24215"/>
                    <a:pt x="26257" y="23542"/>
                    <a:pt x="27080" y="22869"/>
                  </a:cubicBezTo>
                  <a:lnTo>
                    <a:pt x="27080" y="22869"/>
                  </a:lnTo>
                  <a:cubicBezTo>
                    <a:pt x="27068" y="22832"/>
                    <a:pt x="27056" y="22794"/>
                    <a:pt x="27044" y="22757"/>
                  </a:cubicBezTo>
                  <a:cubicBezTo>
                    <a:pt x="23435" y="11504"/>
                    <a:pt x="14161" y="2807"/>
                    <a:pt x="2582" y="0"/>
                  </a:cubicBezTo>
                  <a:close/>
                  <a:moveTo>
                    <a:pt x="5991" y="20727"/>
                  </a:moveTo>
                  <a:lnTo>
                    <a:pt x="5991" y="20727"/>
                  </a:lnTo>
                  <a:cubicBezTo>
                    <a:pt x="6492" y="23559"/>
                    <a:pt x="6668" y="26491"/>
                    <a:pt x="6618" y="29374"/>
                  </a:cubicBezTo>
                  <a:cubicBezTo>
                    <a:pt x="6567" y="32156"/>
                    <a:pt x="6342" y="34913"/>
                    <a:pt x="5966" y="37619"/>
                  </a:cubicBezTo>
                  <a:cubicBezTo>
                    <a:pt x="11229" y="34386"/>
                    <a:pt x="15866" y="31278"/>
                    <a:pt x="19926" y="28371"/>
                  </a:cubicBezTo>
                  <a:lnTo>
                    <a:pt x="19926" y="28371"/>
                  </a:lnTo>
                  <a:cubicBezTo>
                    <a:pt x="19174" y="28522"/>
                    <a:pt x="18422" y="28597"/>
                    <a:pt x="17670" y="28597"/>
                  </a:cubicBezTo>
                  <a:cubicBezTo>
                    <a:pt x="14838" y="28597"/>
                    <a:pt x="11981" y="27469"/>
                    <a:pt x="10001" y="25389"/>
                  </a:cubicBezTo>
                  <a:cubicBezTo>
                    <a:pt x="8898" y="24211"/>
                    <a:pt x="8096" y="22807"/>
                    <a:pt x="6993" y="21629"/>
                  </a:cubicBezTo>
                  <a:cubicBezTo>
                    <a:pt x="6693" y="21303"/>
                    <a:pt x="6367" y="21003"/>
                    <a:pt x="5991" y="20727"/>
                  </a:cubicBezTo>
                  <a:close/>
                  <a:moveTo>
                    <a:pt x="27588" y="24609"/>
                  </a:moveTo>
                  <a:cubicBezTo>
                    <a:pt x="27590" y="24618"/>
                    <a:pt x="27593" y="24627"/>
                    <a:pt x="27595" y="24637"/>
                  </a:cubicBezTo>
                  <a:cubicBezTo>
                    <a:pt x="21680" y="29424"/>
                    <a:pt x="14161" y="34637"/>
                    <a:pt x="5590" y="39875"/>
                  </a:cubicBezTo>
                  <a:cubicBezTo>
                    <a:pt x="5440" y="40777"/>
                    <a:pt x="5264" y="41680"/>
                    <a:pt x="5064" y="42607"/>
                  </a:cubicBezTo>
                  <a:cubicBezTo>
                    <a:pt x="5841" y="43509"/>
                    <a:pt x="5465" y="45038"/>
                    <a:pt x="4838" y="46116"/>
                  </a:cubicBezTo>
                  <a:cubicBezTo>
                    <a:pt x="4186" y="47269"/>
                    <a:pt x="3284" y="48472"/>
                    <a:pt x="3485" y="49775"/>
                  </a:cubicBezTo>
                  <a:cubicBezTo>
                    <a:pt x="3936" y="52482"/>
                    <a:pt x="8623" y="53334"/>
                    <a:pt x="8272" y="56066"/>
                  </a:cubicBezTo>
                  <a:cubicBezTo>
                    <a:pt x="7996" y="58071"/>
                    <a:pt x="5214" y="58522"/>
                    <a:pt x="3961" y="60101"/>
                  </a:cubicBezTo>
                  <a:cubicBezTo>
                    <a:pt x="2658" y="61705"/>
                    <a:pt x="3259" y="64161"/>
                    <a:pt x="4437" y="65865"/>
                  </a:cubicBezTo>
                  <a:cubicBezTo>
                    <a:pt x="5615" y="67594"/>
                    <a:pt x="7294" y="68923"/>
                    <a:pt x="8297" y="70727"/>
                  </a:cubicBezTo>
                  <a:cubicBezTo>
                    <a:pt x="8723" y="71454"/>
                    <a:pt x="8999" y="72231"/>
                    <a:pt x="9174" y="73008"/>
                  </a:cubicBezTo>
                  <a:cubicBezTo>
                    <a:pt x="16242" y="65138"/>
                    <a:pt x="22532" y="55965"/>
                    <a:pt x="26342" y="45740"/>
                  </a:cubicBezTo>
                  <a:cubicBezTo>
                    <a:pt x="26643" y="44938"/>
                    <a:pt x="26943" y="44161"/>
                    <a:pt x="27194" y="43359"/>
                  </a:cubicBezTo>
                  <a:lnTo>
                    <a:pt x="27194" y="43309"/>
                  </a:lnTo>
                  <a:cubicBezTo>
                    <a:pt x="28172" y="40126"/>
                    <a:pt x="28698" y="36767"/>
                    <a:pt x="28698" y="33258"/>
                  </a:cubicBezTo>
                  <a:cubicBezTo>
                    <a:pt x="28698" y="30274"/>
                    <a:pt x="28314" y="27372"/>
                    <a:pt x="27588" y="24609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2" name="Google Shape;916;p42">
              <a:extLst>
                <a:ext uri="{FF2B5EF4-FFF2-40B4-BE49-F238E27FC236}">
                  <a16:creationId xmlns:a16="http://schemas.microsoft.com/office/drawing/2014/main" id="{0AB08DF5-5459-4E15-5D6F-7BC885C0CA38}"/>
                </a:ext>
              </a:extLst>
            </p:cNvPr>
            <p:cNvSpPr/>
            <p:nvPr/>
          </p:nvSpPr>
          <p:spPr>
            <a:xfrm>
              <a:off x="3789046" y="-339811"/>
              <a:ext cx="1454130" cy="767015"/>
            </a:xfrm>
            <a:custGeom>
              <a:avLst/>
              <a:gdLst/>
              <a:ahLst/>
              <a:cxnLst/>
              <a:rect l="l" t="t" r="r" b="b"/>
              <a:pathLst>
                <a:path w="74362" h="39224" extrusionOk="0">
                  <a:moveTo>
                    <a:pt x="54136" y="0"/>
                  </a:moveTo>
                  <a:cubicBezTo>
                    <a:pt x="53735" y="50"/>
                    <a:pt x="53409" y="351"/>
                    <a:pt x="53384" y="752"/>
                  </a:cubicBezTo>
                  <a:lnTo>
                    <a:pt x="50151" y="29098"/>
                  </a:lnTo>
                  <a:lnTo>
                    <a:pt x="49148" y="24211"/>
                  </a:lnTo>
                  <a:cubicBezTo>
                    <a:pt x="48848" y="24963"/>
                    <a:pt x="48397" y="25690"/>
                    <a:pt x="47820" y="26266"/>
                  </a:cubicBezTo>
                  <a:lnTo>
                    <a:pt x="49549" y="34762"/>
                  </a:lnTo>
                  <a:cubicBezTo>
                    <a:pt x="49625" y="35163"/>
                    <a:pt x="50001" y="35464"/>
                    <a:pt x="50402" y="35464"/>
                  </a:cubicBezTo>
                  <a:lnTo>
                    <a:pt x="50427" y="35464"/>
                  </a:lnTo>
                  <a:cubicBezTo>
                    <a:pt x="50853" y="35439"/>
                    <a:pt x="51204" y="35113"/>
                    <a:pt x="51254" y="34687"/>
                  </a:cubicBezTo>
                  <a:lnTo>
                    <a:pt x="54637" y="4863"/>
                  </a:lnTo>
                  <a:lnTo>
                    <a:pt x="60878" y="23810"/>
                  </a:lnTo>
                  <a:cubicBezTo>
                    <a:pt x="61003" y="24161"/>
                    <a:pt x="61329" y="24386"/>
                    <a:pt x="61705" y="24386"/>
                  </a:cubicBezTo>
                  <a:lnTo>
                    <a:pt x="61755" y="24386"/>
                  </a:lnTo>
                  <a:cubicBezTo>
                    <a:pt x="62156" y="24361"/>
                    <a:pt x="62482" y="24061"/>
                    <a:pt x="62557" y="23685"/>
                  </a:cubicBezTo>
                  <a:lnTo>
                    <a:pt x="65790" y="5314"/>
                  </a:lnTo>
                  <a:lnTo>
                    <a:pt x="67344" y="9624"/>
                  </a:lnTo>
                  <a:cubicBezTo>
                    <a:pt x="67469" y="9975"/>
                    <a:pt x="67795" y="10176"/>
                    <a:pt x="68146" y="10176"/>
                  </a:cubicBezTo>
                  <a:cubicBezTo>
                    <a:pt x="68246" y="10176"/>
                    <a:pt x="68347" y="10176"/>
                    <a:pt x="68447" y="10126"/>
                  </a:cubicBezTo>
                  <a:cubicBezTo>
                    <a:pt x="68497" y="10126"/>
                    <a:pt x="68522" y="10101"/>
                    <a:pt x="68572" y="10076"/>
                  </a:cubicBezTo>
                  <a:cubicBezTo>
                    <a:pt x="70527" y="8973"/>
                    <a:pt x="72457" y="7845"/>
                    <a:pt x="74362" y="6742"/>
                  </a:cubicBezTo>
                  <a:lnTo>
                    <a:pt x="74362" y="6742"/>
                  </a:lnTo>
                  <a:cubicBezTo>
                    <a:pt x="73810" y="6868"/>
                    <a:pt x="73284" y="6993"/>
                    <a:pt x="72783" y="6993"/>
                  </a:cubicBezTo>
                  <a:cubicBezTo>
                    <a:pt x="72407" y="6993"/>
                    <a:pt x="72031" y="6918"/>
                    <a:pt x="71680" y="6767"/>
                  </a:cubicBezTo>
                  <a:cubicBezTo>
                    <a:pt x="71555" y="6692"/>
                    <a:pt x="71429" y="6617"/>
                    <a:pt x="71304" y="6517"/>
                  </a:cubicBezTo>
                  <a:cubicBezTo>
                    <a:pt x="70427" y="7043"/>
                    <a:pt x="69524" y="7544"/>
                    <a:pt x="68622" y="8071"/>
                  </a:cubicBezTo>
                  <a:lnTo>
                    <a:pt x="67219" y="4186"/>
                  </a:lnTo>
                  <a:cubicBezTo>
                    <a:pt x="66342" y="4587"/>
                    <a:pt x="65540" y="5414"/>
                    <a:pt x="64738" y="5965"/>
                  </a:cubicBezTo>
                  <a:cubicBezTo>
                    <a:pt x="64437" y="6166"/>
                    <a:pt x="64136" y="6316"/>
                    <a:pt x="63835" y="6441"/>
                  </a:cubicBezTo>
                  <a:lnTo>
                    <a:pt x="61454" y="20000"/>
                  </a:lnTo>
                  <a:lnTo>
                    <a:pt x="55063" y="577"/>
                  </a:lnTo>
                  <a:cubicBezTo>
                    <a:pt x="54938" y="226"/>
                    <a:pt x="54612" y="0"/>
                    <a:pt x="54236" y="0"/>
                  </a:cubicBezTo>
                  <a:close/>
                  <a:moveTo>
                    <a:pt x="23885" y="29574"/>
                  </a:moveTo>
                  <a:cubicBezTo>
                    <a:pt x="15238" y="33008"/>
                    <a:pt x="7193" y="35790"/>
                    <a:pt x="0" y="37845"/>
                  </a:cubicBezTo>
                  <a:cubicBezTo>
                    <a:pt x="426" y="38296"/>
                    <a:pt x="852" y="38772"/>
                    <a:pt x="1279" y="39224"/>
                  </a:cubicBezTo>
                  <a:cubicBezTo>
                    <a:pt x="8672" y="37093"/>
                    <a:pt x="16542" y="34336"/>
                    <a:pt x="23960" y="31379"/>
                  </a:cubicBezTo>
                  <a:cubicBezTo>
                    <a:pt x="23985" y="30752"/>
                    <a:pt x="23960" y="30151"/>
                    <a:pt x="23885" y="29574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3" name="Google Shape;917;p42">
              <a:extLst>
                <a:ext uri="{FF2B5EF4-FFF2-40B4-BE49-F238E27FC236}">
                  <a16:creationId xmlns:a16="http://schemas.microsoft.com/office/drawing/2014/main" id="{6B0DA9FB-2E8B-9CEC-53B6-F5E20F7E16C7}"/>
                </a:ext>
              </a:extLst>
            </p:cNvPr>
            <p:cNvSpPr/>
            <p:nvPr/>
          </p:nvSpPr>
          <p:spPr>
            <a:xfrm>
              <a:off x="5037323" y="-318242"/>
              <a:ext cx="294064" cy="115177"/>
            </a:xfrm>
            <a:custGeom>
              <a:avLst/>
              <a:gdLst/>
              <a:ahLst/>
              <a:cxnLst/>
              <a:rect l="l" t="t" r="r" b="b"/>
              <a:pathLst>
                <a:path w="15038" h="5890" extrusionOk="0">
                  <a:moveTo>
                    <a:pt x="1579" y="0"/>
                  </a:moveTo>
                  <a:cubicBezTo>
                    <a:pt x="1178" y="25"/>
                    <a:pt x="877" y="326"/>
                    <a:pt x="802" y="702"/>
                  </a:cubicBezTo>
                  <a:lnTo>
                    <a:pt x="0" y="5338"/>
                  </a:lnTo>
                  <a:cubicBezTo>
                    <a:pt x="301" y="5213"/>
                    <a:pt x="602" y="5063"/>
                    <a:pt x="903" y="4862"/>
                  </a:cubicBezTo>
                  <a:cubicBezTo>
                    <a:pt x="1705" y="4311"/>
                    <a:pt x="2507" y="3484"/>
                    <a:pt x="3384" y="3083"/>
                  </a:cubicBezTo>
                  <a:lnTo>
                    <a:pt x="2456" y="577"/>
                  </a:lnTo>
                  <a:cubicBezTo>
                    <a:pt x="2331" y="226"/>
                    <a:pt x="2005" y="0"/>
                    <a:pt x="1654" y="0"/>
                  </a:cubicBezTo>
                  <a:close/>
                  <a:moveTo>
                    <a:pt x="15038" y="902"/>
                  </a:moveTo>
                  <a:cubicBezTo>
                    <a:pt x="12632" y="2381"/>
                    <a:pt x="10126" y="3885"/>
                    <a:pt x="7469" y="5414"/>
                  </a:cubicBezTo>
                  <a:cubicBezTo>
                    <a:pt x="7594" y="5514"/>
                    <a:pt x="7720" y="5589"/>
                    <a:pt x="7845" y="5664"/>
                  </a:cubicBezTo>
                  <a:cubicBezTo>
                    <a:pt x="8196" y="5815"/>
                    <a:pt x="8572" y="5890"/>
                    <a:pt x="8948" y="5890"/>
                  </a:cubicBezTo>
                  <a:cubicBezTo>
                    <a:pt x="9449" y="5890"/>
                    <a:pt x="9975" y="5765"/>
                    <a:pt x="10527" y="5639"/>
                  </a:cubicBezTo>
                  <a:cubicBezTo>
                    <a:pt x="11930" y="4812"/>
                    <a:pt x="13309" y="3985"/>
                    <a:pt x="14662" y="3158"/>
                  </a:cubicBezTo>
                  <a:cubicBezTo>
                    <a:pt x="14812" y="2406"/>
                    <a:pt x="14913" y="1654"/>
                    <a:pt x="15038" y="902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4" name="Google Shape;918;p42">
              <a:extLst>
                <a:ext uri="{FF2B5EF4-FFF2-40B4-BE49-F238E27FC236}">
                  <a16:creationId xmlns:a16="http://schemas.microsoft.com/office/drawing/2014/main" id="{38741BEE-F22E-AB67-21C0-2A739AC75CCD}"/>
                </a:ext>
              </a:extLst>
            </p:cNvPr>
            <p:cNvSpPr/>
            <p:nvPr/>
          </p:nvSpPr>
          <p:spPr>
            <a:xfrm>
              <a:off x="4518790" y="-517720"/>
              <a:ext cx="196545" cy="828280"/>
            </a:xfrm>
            <a:custGeom>
              <a:avLst/>
              <a:gdLst/>
              <a:ahLst/>
              <a:cxnLst/>
              <a:rect l="l" t="t" r="r" b="b"/>
              <a:pathLst>
                <a:path w="10051" h="42357" extrusionOk="0">
                  <a:moveTo>
                    <a:pt x="4287" y="1"/>
                  </a:moveTo>
                  <a:cubicBezTo>
                    <a:pt x="3860" y="1"/>
                    <a:pt x="3510" y="351"/>
                    <a:pt x="3459" y="752"/>
                  </a:cubicBezTo>
                  <a:lnTo>
                    <a:pt x="1329" y="19750"/>
                  </a:lnTo>
                  <a:cubicBezTo>
                    <a:pt x="1454" y="19750"/>
                    <a:pt x="1580" y="19750"/>
                    <a:pt x="1680" y="19775"/>
                  </a:cubicBezTo>
                  <a:cubicBezTo>
                    <a:pt x="2156" y="19825"/>
                    <a:pt x="2582" y="19900"/>
                    <a:pt x="3033" y="20001"/>
                  </a:cubicBezTo>
                  <a:lnTo>
                    <a:pt x="4562" y="6392"/>
                  </a:lnTo>
                  <a:lnTo>
                    <a:pt x="7820" y="22306"/>
                  </a:lnTo>
                  <a:cubicBezTo>
                    <a:pt x="8673" y="22958"/>
                    <a:pt x="9424" y="23735"/>
                    <a:pt x="10051" y="24587"/>
                  </a:cubicBezTo>
                  <a:lnTo>
                    <a:pt x="5164" y="677"/>
                  </a:lnTo>
                  <a:cubicBezTo>
                    <a:pt x="5089" y="276"/>
                    <a:pt x="4738" y="1"/>
                    <a:pt x="4337" y="1"/>
                  </a:cubicBezTo>
                  <a:close/>
                  <a:moveTo>
                    <a:pt x="978" y="38322"/>
                  </a:moveTo>
                  <a:cubicBezTo>
                    <a:pt x="903" y="38422"/>
                    <a:pt x="828" y="38497"/>
                    <a:pt x="753" y="38597"/>
                  </a:cubicBezTo>
                  <a:cubicBezTo>
                    <a:pt x="1" y="39700"/>
                    <a:pt x="101" y="41028"/>
                    <a:pt x="527" y="42357"/>
                  </a:cubicBezTo>
                  <a:lnTo>
                    <a:pt x="978" y="38322"/>
                  </a:lnTo>
                  <a:close/>
                </a:path>
              </a:pathLst>
            </a:custGeom>
            <a:solidFill>
              <a:srgbClr val="EE28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5" name="Google Shape;919;p42">
              <a:extLst>
                <a:ext uri="{FF2B5EF4-FFF2-40B4-BE49-F238E27FC236}">
                  <a16:creationId xmlns:a16="http://schemas.microsoft.com/office/drawing/2014/main" id="{BBF40712-CF78-8FB0-0FD6-322012172ACC}"/>
                </a:ext>
              </a:extLst>
            </p:cNvPr>
            <p:cNvSpPr/>
            <p:nvPr/>
          </p:nvSpPr>
          <p:spPr>
            <a:xfrm>
              <a:off x="4256111" y="-139864"/>
              <a:ext cx="494031" cy="493562"/>
            </a:xfrm>
            <a:custGeom>
              <a:avLst/>
              <a:gdLst/>
              <a:ahLst/>
              <a:cxnLst/>
              <a:rect l="l" t="t" r="r" b="b"/>
              <a:pathLst>
                <a:path w="25264" h="25240" extrusionOk="0">
                  <a:moveTo>
                    <a:pt x="21253" y="2983"/>
                  </a:moveTo>
                  <a:lnTo>
                    <a:pt x="23935" y="16041"/>
                  </a:lnTo>
                  <a:cubicBezTo>
                    <a:pt x="24512" y="15465"/>
                    <a:pt x="24963" y="14738"/>
                    <a:pt x="25263" y="13986"/>
                  </a:cubicBezTo>
                  <a:lnTo>
                    <a:pt x="23484" y="5264"/>
                  </a:lnTo>
                  <a:cubicBezTo>
                    <a:pt x="22857" y="4412"/>
                    <a:pt x="22106" y="3635"/>
                    <a:pt x="21253" y="2983"/>
                  </a:cubicBezTo>
                  <a:close/>
                  <a:moveTo>
                    <a:pt x="4612" y="1"/>
                  </a:moveTo>
                  <a:cubicBezTo>
                    <a:pt x="4211" y="51"/>
                    <a:pt x="3885" y="327"/>
                    <a:pt x="3835" y="728"/>
                  </a:cubicBezTo>
                  <a:lnTo>
                    <a:pt x="802" y="19024"/>
                  </a:lnTo>
                  <a:cubicBezTo>
                    <a:pt x="552" y="19124"/>
                    <a:pt x="276" y="19224"/>
                    <a:pt x="0" y="19349"/>
                  </a:cubicBezTo>
                  <a:cubicBezTo>
                    <a:pt x="75" y="19926"/>
                    <a:pt x="100" y="20527"/>
                    <a:pt x="75" y="21154"/>
                  </a:cubicBezTo>
                  <a:cubicBezTo>
                    <a:pt x="702" y="20928"/>
                    <a:pt x="1303" y="20678"/>
                    <a:pt x="1905" y="20427"/>
                  </a:cubicBezTo>
                  <a:cubicBezTo>
                    <a:pt x="2181" y="20327"/>
                    <a:pt x="2381" y="20076"/>
                    <a:pt x="2431" y="19776"/>
                  </a:cubicBezTo>
                  <a:lnTo>
                    <a:pt x="4988" y="4337"/>
                  </a:lnTo>
                  <a:lnTo>
                    <a:pt x="12105" y="24663"/>
                  </a:lnTo>
                  <a:cubicBezTo>
                    <a:pt x="12231" y="25014"/>
                    <a:pt x="12582" y="25239"/>
                    <a:pt x="12933" y="25239"/>
                  </a:cubicBezTo>
                  <a:lnTo>
                    <a:pt x="13033" y="25214"/>
                  </a:lnTo>
                  <a:cubicBezTo>
                    <a:pt x="13434" y="25189"/>
                    <a:pt x="13735" y="24863"/>
                    <a:pt x="13785" y="24462"/>
                  </a:cubicBezTo>
                  <a:lnTo>
                    <a:pt x="13960" y="23034"/>
                  </a:lnTo>
                  <a:cubicBezTo>
                    <a:pt x="13534" y="21705"/>
                    <a:pt x="13434" y="20377"/>
                    <a:pt x="14186" y="19274"/>
                  </a:cubicBezTo>
                  <a:cubicBezTo>
                    <a:pt x="14261" y="19174"/>
                    <a:pt x="14336" y="19099"/>
                    <a:pt x="14411" y="18999"/>
                  </a:cubicBezTo>
                  <a:lnTo>
                    <a:pt x="16466" y="678"/>
                  </a:lnTo>
                  <a:cubicBezTo>
                    <a:pt x="16015" y="577"/>
                    <a:pt x="15589" y="502"/>
                    <a:pt x="15113" y="452"/>
                  </a:cubicBezTo>
                  <a:cubicBezTo>
                    <a:pt x="15013" y="427"/>
                    <a:pt x="14887" y="427"/>
                    <a:pt x="14762" y="427"/>
                  </a:cubicBezTo>
                  <a:lnTo>
                    <a:pt x="12506" y="20527"/>
                  </a:lnTo>
                  <a:lnTo>
                    <a:pt x="5489" y="577"/>
                  </a:lnTo>
                  <a:cubicBezTo>
                    <a:pt x="5364" y="227"/>
                    <a:pt x="5038" y="1"/>
                    <a:pt x="4687" y="1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6" name="Google Shape;920;p42">
              <a:extLst>
                <a:ext uri="{FF2B5EF4-FFF2-40B4-BE49-F238E27FC236}">
                  <a16:creationId xmlns:a16="http://schemas.microsoft.com/office/drawing/2014/main" id="{F00364E3-1052-4A59-C665-F4F81197B50A}"/>
                </a:ext>
              </a:extLst>
            </p:cNvPr>
            <p:cNvSpPr/>
            <p:nvPr/>
          </p:nvSpPr>
          <p:spPr>
            <a:xfrm>
              <a:off x="5604352" y="-549086"/>
              <a:ext cx="89717" cy="67659"/>
            </a:xfrm>
            <a:custGeom>
              <a:avLst/>
              <a:gdLst/>
              <a:ahLst/>
              <a:cxnLst/>
              <a:rect l="l" t="t" r="r" b="b"/>
              <a:pathLst>
                <a:path w="4588" h="3460" extrusionOk="0">
                  <a:moveTo>
                    <a:pt x="4587" y="1"/>
                  </a:moveTo>
                  <a:lnTo>
                    <a:pt x="4587" y="1"/>
                  </a:lnTo>
                  <a:cubicBezTo>
                    <a:pt x="3159" y="1128"/>
                    <a:pt x="1630" y="2281"/>
                    <a:pt x="1" y="3459"/>
                  </a:cubicBezTo>
                  <a:cubicBezTo>
                    <a:pt x="602" y="3309"/>
                    <a:pt x="1204" y="3133"/>
                    <a:pt x="1780" y="2883"/>
                  </a:cubicBezTo>
                  <a:cubicBezTo>
                    <a:pt x="3033" y="2331"/>
                    <a:pt x="4287" y="1279"/>
                    <a:pt x="4587" y="1"/>
                  </a:cubicBezTo>
                  <a:close/>
                </a:path>
              </a:pathLst>
            </a:custGeom>
            <a:solidFill>
              <a:srgbClr val="EE2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7" name="Google Shape;921;p42">
              <a:extLst>
                <a:ext uri="{FF2B5EF4-FFF2-40B4-BE49-F238E27FC236}">
                  <a16:creationId xmlns:a16="http://schemas.microsoft.com/office/drawing/2014/main" id="{D3830E88-D087-A829-7C09-BE00F1B73108}"/>
                </a:ext>
              </a:extLst>
            </p:cNvPr>
            <p:cNvSpPr/>
            <p:nvPr/>
          </p:nvSpPr>
          <p:spPr>
            <a:xfrm>
              <a:off x="5324015" y="-589271"/>
              <a:ext cx="430341" cy="332802"/>
            </a:xfrm>
            <a:custGeom>
              <a:avLst/>
              <a:gdLst/>
              <a:ahLst/>
              <a:cxnLst/>
              <a:rect l="l" t="t" r="r" b="b"/>
              <a:pathLst>
                <a:path w="22007" h="17019" extrusionOk="0">
                  <a:moveTo>
                    <a:pt x="21505" y="0"/>
                  </a:moveTo>
                  <a:cubicBezTo>
                    <a:pt x="20678" y="677"/>
                    <a:pt x="19826" y="1354"/>
                    <a:pt x="18923" y="2056"/>
                  </a:cubicBezTo>
                  <a:cubicBezTo>
                    <a:pt x="18623" y="3334"/>
                    <a:pt x="17369" y="4386"/>
                    <a:pt x="16116" y="4938"/>
                  </a:cubicBezTo>
                  <a:cubicBezTo>
                    <a:pt x="15540" y="5188"/>
                    <a:pt x="14938" y="5364"/>
                    <a:pt x="14337" y="5514"/>
                  </a:cubicBezTo>
                  <a:cubicBezTo>
                    <a:pt x="10277" y="8421"/>
                    <a:pt x="5640" y="11529"/>
                    <a:pt x="377" y="14762"/>
                  </a:cubicBezTo>
                  <a:cubicBezTo>
                    <a:pt x="252" y="15514"/>
                    <a:pt x="151" y="16266"/>
                    <a:pt x="1" y="17018"/>
                  </a:cubicBezTo>
                  <a:cubicBezTo>
                    <a:pt x="8572" y="11780"/>
                    <a:pt x="16091" y="6567"/>
                    <a:pt x="22006" y="1780"/>
                  </a:cubicBezTo>
                  <a:cubicBezTo>
                    <a:pt x="21856" y="1178"/>
                    <a:pt x="21680" y="577"/>
                    <a:pt x="21505" y="0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8" name="Google Shape;922;p42">
              <a:extLst>
                <a:ext uri="{FF2B5EF4-FFF2-40B4-BE49-F238E27FC236}">
                  <a16:creationId xmlns:a16="http://schemas.microsoft.com/office/drawing/2014/main" id="{8D763082-AE8D-3DBD-F331-FE723E924464}"/>
                </a:ext>
              </a:extLst>
            </p:cNvPr>
            <p:cNvSpPr/>
            <p:nvPr/>
          </p:nvSpPr>
          <p:spPr>
            <a:xfrm>
              <a:off x="3110262" y="-1072195"/>
              <a:ext cx="2936673" cy="1514104"/>
            </a:xfrm>
            <a:custGeom>
              <a:avLst/>
              <a:gdLst/>
              <a:ahLst/>
              <a:cxnLst/>
              <a:rect l="l" t="t" r="r" b="b"/>
              <a:pathLst>
                <a:path w="150177" h="77429" extrusionOk="0">
                  <a:moveTo>
                    <a:pt x="142834" y="1"/>
                  </a:moveTo>
                  <a:cubicBezTo>
                    <a:pt x="139016" y="1"/>
                    <a:pt x="134327" y="1803"/>
                    <a:pt x="131505" y="2892"/>
                  </a:cubicBezTo>
                  <a:cubicBezTo>
                    <a:pt x="131129" y="3042"/>
                    <a:pt x="130778" y="3193"/>
                    <a:pt x="130477" y="3293"/>
                  </a:cubicBezTo>
                  <a:cubicBezTo>
                    <a:pt x="127821" y="4270"/>
                    <a:pt x="124587" y="5599"/>
                    <a:pt x="121555" y="6927"/>
                  </a:cubicBezTo>
                  <a:lnTo>
                    <a:pt x="123159" y="8130"/>
                  </a:lnTo>
                  <a:cubicBezTo>
                    <a:pt x="126166" y="6802"/>
                    <a:pt x="128447" y="5874"/>
                    <a:pt x="131079" y="4922"/>
                  </a:cubicBezTo>
                  <a:cubicBezTo>
                    <a:pt x="131379" y="4797"/>
                    <a:pt x="131730" y="4671"/>
                    <a:pt x="132131" y="4521"/>
                  </a:cubicBezTo>
                  <a:cubicBezTo>
                    <a:pt x="134640" y="3547"/>
                    <a:pt x="139354" y="1726"/>
                    <a:pt x="142840" y="1726"/>
                  </a:cubicBezTo>
                  <a:cubicBezTo>
                    <a:pt x="144648" y="1726"/>
                    <a:pt x="146125" y="2216"/>
                    <a:pt x="146793" y="3568"/>
                  </a:cubicBezTo>
                  <a:cubicBezTo>
                    <a:pt x="149350" y="8807"/>
                    <a:pt x="134963" y="23669"/>
                    <a:pt x="102532" y="42040"/>
                  </a:cubicBezTo>
                  <a:lnTo>
                    <a:pt x="100201" y="35649"/>
                  </a:lnTo>
                  <a:cubicBezTo>
                    <a:pt x="100082" y="35292"/>
                    <a:pt x="99737" y="35070"/>
                    <a:pt x="99381" y="35070"/>
                  </a:cubicBezTo>
                  <a:cubicBezTo>
                    <a:pt x="99362" y="35070"/>
                    <a:pt x="99343" y="35071"/>
                    <a:pt x="99324" y="35072"/>
                  </a:cubicBezTo>
                  <a:cubicBezTo>
                    <a:pt x="98923" y="35123"/>
                    <a:pt x="98622" y="35398"/>
                    <a:pt x="98547" y="35799"/>
                  </a:cubicBezTo>
                  <a:lnTo>
                    <a:pt x="95364" y="53970"/>
                  </a:lnTo>
                  <a:lnTo>
                    <a:pt x="88973" y="34571"/>
                  </a:lnTo>
                  <a:cubicBezTo>
                    <a:pt x="88854" y="34190"/>
                    <a:pt x="88509" y="33968"/>
                    <a:pt x="88110" y="33968"/>
                  </a:cubicBezTo>
                  <a:cubicBezTo>
                    <a:pt x="88089" y="33968"/>
                    <a:pt x="88067" y="33968"/>
                    <a:pt x="88046" y="33970"/>
                  </a:cubicBezTo>
                  <a:cubicBezTo>
                    <a:pt x="87645" y="34020"/>
                    <a:pt x="87319" y="34346"/>
                    <a:pt x="87294" y="34747"/>
                  </a:cubicBezTo>
                  <a:lnTo>
                    <a:pt x="84061" y="63068"/>
                  </a:lnTo>
                  <a:lnTo>
                    <a:pt x="76392" y="25574"/>
                  </a:lnTo>
                  <a:cubicBezTo>
                    <a:pt x="76319" y="25164"/>
                    <a:pt x="75969" y="24870"/>
                    <a:pt x="75564" y="24870"/>
                  </a:cubicBezTo>
                  <a:cubicBezTo>
                    <a:pt x="75548" y="24870"/>
                    <a:pt x="75531" y="24871"/>
                    <a:pt x="75515" y="24872"/>
                  </a:cubicBezTo>
                  <a:cubicBezTo>
                    <a:pt x="75088" y="24897"/>
                    <a:pt x="74738" y="25223"/>
                    <a:pt x="74687" y="25649"/>
                  </a:cubicBezTo>
                  <a:lnTo>
                    <a:pt x="70301" y="64722"/>
                  </a:lnTo>
                  <a:lnTo>
                    <a:pt x="63284" y="44772"/>
                  </a:lnTo>
                  <a:cubicBezTo>
                    <a:pt x="63165" y="44415"/>
                    <a:pt x="62820" y="44193"/>
                    <a:pt x="62464" y="44193"/>
                  </a:cubicBezTo>
                  <a:cubicBezTo>
                    <a:pt x="62445" y="44193"/>
                    <a:pt x="62426" y="44194"/>
                    <a:pt x="62407" y="44195"/>
                  </a:cubicBezTo>
                  <a:cubicBezTo>
                    <a:pt x="62006" y="44245"/>
                    <a:pt x="61680" y="44546"/>
                    <a:pt x="61630" y="44922"/>
                  </a:cubicBezTo>
                  <a:lnTo>
                    <a:pt x="58597" y="63218"/>
                  </a:lnTo>
                  <a:cubicBezTo>
                    <a:pt x="44211" y="69007"/>
                    <a:pt x="31404" y="72992"/>
                    <a:pt x="21479" y="74747"/>
                  </a:cubicBezTo>
                  <a:cubicBezTo>
                    <a:pt x="17890" y="75386"/>
                    <a:pt x="14765" y="75701"/>
                    <a:pt x="12192" y="75701"/>
                  </a:cubicBezTo>
                  <a:cubicBezTo>
                    <a:pt x="7901" y="75701"/>
                    <a:pt x="5141" y="74825"/>
                    <a:pt x="4311" y="73118"/>
                  </a:cubicBezTo>
                  <a:cubicBezTo>
                    <a:pt x="2607" y="69634"/>
                    <a:pt x="8271" y="62391"/>
                    <a:pt x="19675" y="53519"/>
                  </a:cubicBezTo>
                  <a:lnTo>
                    <a:pt x="18923" y="51890"/>
                  </a:lnTo>
                  <a:cubicBezTo>
                    <a:pt x="10101" y="58757"/>
                    <a:pt x="0" y="68230"/>
                    <a:pt x="2757" y="73870"/>
                  </a:cubicBezTo>
                  <a:cubicBezTo>
                    <a:pt x="3985" y="76376"/>
                    <a:pt x="7369" y="77429"/>
                    <a:pt x="12156" y="77429"/>
                  </a:cubicBezTo>
                  <a:cubicBezTo>
                    <a:pt x="23584" y="77429"/>
                    <a:pt x="43008" y="71388"/>
                    <a:pt x="59700" y="64646"/>
                  </a:cubicBezTo>
                  <a:lnTo>
                    <a:pt x="59700" y="64621"/>
                  </a:lnTo>
                  <a:cubicBezTo>
                    <a:pt x="59976" y="64521"/>
                    <a:pt x="60176" y="64296"/>
                    <a:pt x="60226" y="63970"/>
                  </a:cubicBezTo>
                  <a:lnTo>
                    <a:pt x="62783" y="48531"/>
                  </a:lnTo>
                  <a:lnTo>
                    <a:pt x="69900" y="68857"/>
                  </a:lnTo>
                  <a:cubicBezTo>
                    <a:pt x="70026" y="69208"/>
                    <a:pt x="70352" y="69433"/>
                    <a:pt x="70728" y="69433"/>
                  </a:cubicBezTo>
                  <a:lnTo>
                    <a:pt x="70828" y="69433"/>
                  </a:lnTo>
                  <a:cubicBezTo>
                    <a:pt x="71229" y="69383"/>
                    <a:pt x="71530" y="69058"/>
                    <a:pt x="71580" y="68657"/>
                  </a:cubicBezTo>
                  <a:lnTo>
                    <a:pt x="75790" y="31263"/>
                  </a:lnTo>
                  <a:lnTo>
                    <a:pt x="83459" y="68732"/>
                  </a:lnTo>
                  <a:cubicBezTo>
                    <a:pt x="83535" y="69158"/>
                    <a:pt x="83911" y="69433"/>
                    <a:pt x="84337" y="69433"/>
                  </a:cubicBezTo>
                  <a:cubicBezTo>
                    <a:pt x="84763" y="69408"/>
                    <a:pt x="85114" y="69083"/>
                    <a:pt x="85164" y="68657"/>
                  </a:cubicBezTo>
                  <a:lnTo>
                    <a:pt x="88547" y="38857"/>
                  </a:lnTo>
                  <a:lnTo>
                    <a:pt x="94788" y="57779"/>
                  </a:lnTo>
                  <a:cubicBezTo>
                    <a:pt x="94907" y="58138"/>
                    <a:pt x="95232" y="58383"/>
                    <a:pt x="95610" y="58383"/>
                  </a:cubicBezTo>
                  <a:cubicBezTo>
                    <a:pt x="95628" y="58383"/>
                    <a:pt x="95647" y="58382"/>
                    <a:pt x="95665" y="58381"/>
                  </a:cubicBezTo>
                  <a:cubicBezTo>
                    <a:pt x="96066" y="58331"/>
                    <a:pt x="96392" y="58055"/>
                    <a:pt x="96467" y="57654"/>
                  </a:cubicBezTo>
                  <a:lnTo>
                    <a:pt x="99675" y="39283"/>
                  </a:lnTo>
                  <a:lnTo>
                    <a:pt x="101254" y="43594"/>
                  </a:lnTo>
                  <a:cubicBezTo>
                    <a:pt x="101370" y="43941"/>
                    <a:pt x="101693" y="44155"/>
                    <a:pt x="102042" y="44155"/>
                  </a:cubicBezTo>
                  <a:cubicBezTo>
                    <a:pt x="102146" y="44155"/>
                    <a:pt x="102253" y="44135"/>
                    <a:pt x="102357" y="44095"/>
                  </a:cubicBezTo>
                  <a:cubicBezTo>
                    <a:pt x="102407" y="44095"/>
                    <a:pt x="102432" y="44070"/>
                    <a:pt x="102482" y="44045"/>
                  </a:cubicBezTo>
                  <a:cubicBezTo>
                    <a:pt x="116943" y="35925"/>
                    <a:pt x="129450" y="27453"/>
                    <a:pt x="137695" y="20260"/>
                  </a:cubicBezTo>
                  <a:cubicBezTo>
                    <a:pt x="146593" y="12466"/>
                    <a:pt x="150177" y="6601"/>
                    <a:pt x="148347" y="2817"/>
                  </a:cubicBezTo>
                  <a:cubicBezTo>
                    <a:pt x="147326" y="725"/>
                    <a:pt x="145255" y="1"/>
                    <a:pt x="142834" y="1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9" name="Google Shape;923;p42">
              <a:extLst>
                <a:ext uri="{FF2B5EF4-FFF2-40B4-BE49-F238E27FC236}">
                  <a16:creationId xmlns:a16="http://schemas.microsoft.com/office/drawing/2014/main" id="{E4CB70B5-2019-4EBB-97BB-1CA0C61ED52D}"/>
                </a:ext>
              </a:extLst>
            </p:cNvPr>
            <p:cNvSpPr/>
            <p:nvPr/>
          </p:nvSpPr>
          <p:spPr>
            <a:xfrm>
              <a:off x="5313240" y="-1112204"/>
              <a:ext cx="256832" cy="107356"/>
            </a:xfrm>
            <a:custGeom>
              <a:avLst/>
              <a:gdLst/>
              <a:ahLst/>
              <a:cxnLst/>
              <a:rect l="l" t="t" r="r" b="b"/>
              <a:pathLst>
                <a:path w="13134" h="5490" extrusionOk="0">
                  <a:moveTo>
                    <a:pt x="12557" y="0"/>
                  </a:moveTo>
                  <a:cubicBezTo>
                    <a:pt x="8347" y="1454"/>
                    <a:pt x="4161" y="2983"/>
                    <a:pt x="1" y="4587"/>
                  </a:cubicBezTo>
                  <a:cubicBezTo>
                    <a:pt x="828" y="4863"/>
                    <a:pt x="1655" y="5163"/>
                    <a:pt x="2457" y="5489"/>
                  </a:cubicBezTo>
                  <a:cubicBezTo>
                    <a:pt x="6016" y="4161"/>
                    <a:pt x="9575" y="2858"/>
                    <a:pt x="13133" y="1629"/>
                  </a:cubicBezTo>
                  <a:lnTo>
                    <a:pt x="12557" y="0"/>
                  </a:ln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0" name="Google Shape;924;p42">
              <a:extLst>
                <a:ext uri="{FF2B5EF4-FFF2-40B4-BE49-F238E27FC236}">
                  <a16:creationId xmlns:a16="http://schemas.microsoft.com/office/drawing/2014/main" id="{E742C50C-68B7-0C38-2FB6-791F3F01E218}"/>
                </a:ext>
              </a:extLst>
            </p:cNvPr>
            <p:cNvSpPr/>
            <p:nvPr/>
          </p:nvSpPr>
          <p:spPr>
            <a:xfrm>
              <a:off x="5506832" y="-1116134"/>
              <a:ext cx="59310" cy="59818"/>
            </a:xfrm>
            <a:custGeom>
              <a:avLst/>
              <a:gdLst/>
              <a:ahLst/>
              <a:cxnLst/>
              <a:rect l="l" t="t" r="r" b="b"/>
              <a:pathLst>
                <a:path w="3033" h="3059" extrusionOk="0">
                  <a:moveTo>
                    <a:pt x="2281" y="1"/>
                  </a:moveTo>
                  <a:lnTo>
                    <a:pt x="0" y="778"/>
                  </a:lnTo>
                  <a:lnTo>
                    <a:pt x="752" y="3059"/>
                  </a:lnTo>
                  <a:lnTo>
                    <a:pt x="3033" y="2282"/>
                  </a:lnTo>
                  <a:lnTo>
                    <a:pt x="2281" y="1"/>
                  </a:ln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1" name="Google Shape;925;p42">
              <a:extLst>
                <a:ext uri="{FF2B5EF4-FFF2-40B4-BE49-F238E27FC236}">
                  <a16:creationId xmlns:a16="http://schemas.microsoft.com/office/drawing/2014/main" id="{C83DAD34-4127-16C4-1AB1-8A75F6B009EE}"/>
                </a:ext>
              </a:extLst>
            </p:cNvPr>
            <p:cNvSpPr/>
            <p:nvPr/>
          </p:nvSpPr>
          <p:spPr>
            <a:xfrm>
              <a:off x="5507810" y="-1363111"/>
              <a:ext cx="467573" cy="415812"/>
            </a:xfrm>
            <a:custGeom>
              <a:avLst/>
              <a:gdLst/>
              <a:ahLst/>
              <a:cxnLst/>
              <a:rect l="l" t="t" r="r" b="b"/>
              <a:pathLst>
                <a:path w="23911" h="21264" extrusionOk="0">
                  <a:moveTo>
                    <a:pt x="11924" y="0"/>
                  </a:moveTo>
                  <a:cubicBezTo>
                    <a:pt x="10804" y="0"/>
                    <a:pt x="9666" y="178"/>
                    <a:pt x="8547" y="551"/>
                  </a:cubicBezTo>
                  <a:cubicBezTo>
                    <a:pt x="2983" y="2430"/>
                    <a:pt x="1" y="8470"/>
                    <a:pt x="1880" y="14034"/>
                  </a:cubicBezTo>
                  <a:cubicBezTo>
                    <a:pt x="3358" y="18469"/>
                    <a:pt x="7496" y="21264"/>
                    <a:pt x="11931" y="21264"/>
                  </a:cubicBezTo>
                  <a:cubicBezTo>
                    <a:pt x="13061" y="21264"/>
                    <a:pt x="14210" y="21083"/>
                    <a:pt x="15339" y="20701"/>
                  </a:cubicBezTo>
                  <a:cubicBezTo>
                    <a:pt x="20903" y="18846"/>
                    <a:pt x="23910" y="12806"/>
                    <a:pt x="22031" y="7242"/>
                  </a:cubicBezTo>
                  <a:cubicBezTo>
                    <a:pt x="20529" y="2798"/>
                    <a:pt x="16372" y="0"/>
                    <a:pt x="11924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2" name="Google Shape;926;p42">
              <a:extLst>
                <a:ext uri="{FF2B5EF4-FFF2-40B4-BE49-F238E27FC236}">
                  <a16:creationId xmlns:a16="http://schemas.microsoft.com/office/drawing/2014/main" id="{22699970-6095-EDEF-22E0-369969B81C50}"/>
                </a:ext>
              </a:extLst>
            </p:cNvPr>
            <p:cNvSpPr/>
            <p:nvPr/>
          </p:nvSpPr>
          <p:spPr>
            <a:xfrm>
              <a:off x="5561723" y="-1315280"/>
              <a:ext cx="359749" cy="320170"/>
            </a:xfrm>
            <a:custGeom>
              <a:avLst/>
              <a:gdLst/>
              <a:ahLst/>
              <a:cxnLst/>
              <a:rect l="l" t="t" r="r" b="b"/>
              <a:pathLst>
                <a:path w="18397" h="16373" extrusionOk="0">
                  <a:moveTo>
                    <a:pt x="9207" y="0"/>
                  </a:moveTo>
                  <a:cubicBezTo>
                    <a:pt x="8339" y="0"/>
                    <a:pt x="7457" y="140"/>
                    <a:pt x="6592" y="435"/>
                  </a:cubicBezTo>
                  <a:cubicBezTo>
                    <a:pt x="2306" y="1864"/>
                    <a:pt x="0" y="6526"/>
                    <a:pt x="1429" y="10786"/>
                  </a:cubicBezTo>
                  <a:cubicBezTo>
                    <a:pt x="2591" y="14212"/>
                    <a:pt x="5786" y="16372"/>
                    <a:pt x="9210" y="16372"/>
                  </a:cubicBezTo>
                  <a:cubicBezTo>
                    <a:pt x="10070" y="16372"/>
                    <a:pt x="10945" y="16236"/>
                    <a:pt x="11805" y="15949"/>
                  </a:cubicBezTo>
                  <a:cubicBezTo>
                    <a:pt x="16091" y="14496"/>
                    <a:pt x="18397" y="9859"/>
                    <a:pt x="16943" y="5573"/>
                  </a:cubicBezTo>
                  <a:cubicBezTo>
                    <a:pt x="15804" y="2158"/>
                    <a:pt x="12613" y="0"/>
                    <a:pt x="9207" y="0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3" name="Google Shape;927;p42">
              <a:extLst>
                <a:ext uri="{FF2B5EF4-FFF2-40B4-BE49-F238E27FC236}">
                  <a16:creationId xmlns:a16="http://schemas.microsoft.com/office/drawing/2014/main" id="{93752CAD-992B-4526-CF7C-37656E543CAC}"/>
                </a:ext>
              </a:extLst>
            </p:cNvPr>
            <p:cNvSpPr/>
            <p:nvPr/>
          </p:nvSpPr>
          <p:spPr>
            <a:xfrm>
              <a:off x="5692094" y="-1297485"/>
              <a:ext cx="194081" cy="206381"/>
            </a:xfrm>
            <a:custGeom>
              <a:avLst/>
              <a:gdLst/>
              <a:ahLst/>
              <a:cxnLst/>
              <a:rect l="l" t="t" r="r" b="b"/>
              <a:pathLst>
                <a:path w="9925" h="10554" extrusionOk="0">
                  <a:moveTo>
                    <a:pt x="2313" y="1"/>
                  </a:moveTo>
                  <a:cubicBezTo>
                    <a:pt x="1546" y="1"/>
                    <a:pt x="766" y="122"/>
                    <a:pt x="0" y="378"/>
                  </a:cubicBezTo>
                  <a:lnTo>
                    <a:pt x="927" y="3160"/>
                  </a:lnTo>
                  <a:cubicBezTo>
                    <a:pt x="1391" y="3003"/>
                    <a:pt x="1863" y="2929"/>
                    <a:pt x="2327" y="2929"/>
                  </a:cubicBezTo>
                  <a:cubicBezTo>
                    <a:pt x="4171" y="2929"/>
                    <a:pt x="5896" y="4099"/>
                    <a:pt x="6516" y="5942"/>
                  </a:cubicBezTo>
                  <a:cubicBezTo>
                    <a:pt x="6892" y="7044"/>
                    <a:pt x="6792" y="8197"/>
                    <a:pt x="6341" y="9200"/>
                  </a:cubicBezTo>
                  <a:lnTo>
                    <a:pt x="8922" y="10553"/>
                  </a:lnTo>
                  <a:cubicBezTo>
                    <a:pt x="9750" y="8899"/>
                    <a:pt x="9925" y="6894"/>
                    <a:pt x="9298" y="5014"/>
                  </a:cubicBezTo>
                  <a:cubicBezTo>
                    <a:pt x="8256" y="1946"/>
                    <a:pt x="5383" y="1"/>
                    <a:pt x="2313" y="1"/>
                  </a:cubicBezTo>
                  <a:close/>
                </a:path>
              </a:pathLst>
            </a:custGeom>
            <a:solidFill>
              <a:srgbClr val="E3D4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4" name="Google Shape;928;p42">
              <a:extLst>
                <a:ext uri="{FF2B5EF4-FFF2-40B4-BE49-F238E27FC236}">
                  <a16:creationId xmlns:a16="http://schemas.microsoft.com/office/drawing/2014/main" id="{30B91DCC-DF5B-629C-C837-3421BFEAD9BC}"/>
                </a:ext>
              </a:extLst>
            </p:cNvPr>
            <p:cNvSpPr/>
            <p:nvPr/>
          </p:nvSpPr>
          <p:spPr>
            <a:xfrm>
              <a:off x="5765600" y="-1117601"/>
              <a:ext cx="100981" cy="99514"/>
            </a:xfrm>
            <a:custGeom>
              <a:avLst/>
              <a:gdLst/>
              <a:ahLst/>
              <a:cxnLst/>
              <a:rect l="l" t="t" r="r" b="b"/>
              <a:pathLst>
                <a:path w="5164" h="5089" extrusionOk="0">
                  <a:moveTo>
                    <a:pt x="2582" y="1"/>
                  </a:moveTo>
                  <a:cubicBezTo>
                    <a:pt x="2081" y="1053"/>
                    <a:pt x="1178" y="1931"/>
                    <a:pt x="1" y="2332"/>
                  </a:cubicBezTo>
                  <a:lnTo>
                    <a:pt x="928" y="5088"/>
                  </a:lnTo>
                  <a:cubicBezTo>
                    <a:pt x="2858" y="4437"/>
                    <a:pt x="4336" y="3058"/>
                    <a:pt x="5163" y="1354"/>
                  </a:cubicBezTo>
                  <a:lnTo>
                    <a:pt x="2582" y="1"/>
                  </a:ln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5" name="Google Shape;929;p42">
              <a:extLst>
                <a:ext uri="{FF2B5EF4-FFF2-40B4-BE49-F238E27FC236}">
                  <a16:creationId xmlns:a16="http://schemas.microsoft.com/office/drawing/2014/main" id="{321ED623-2B44-472F-846C-0487D04F0690}"/>
                </a:ext>
              </a:extLst>
            </p:cNvPr>
            <p:cNvSpPr/>
            <p:nvPr/>
          </p:nvSpPr>
          <p:spPr>
            <a:xfrm>
              <a:off x="5730812" y="-1164767"/>
              <a:ext cx="21569" cy="19183"/>
            </a:xfrm>
            <a:custGeom>
              <a:avLst/>
              <a:gdLst/>
              <a:ahLst/>
              <a:cxnLst/>
              <a:rect l="l" t="t" r="r" b="b"/>
              <a:pathLst>
                <a:path w="1103" h="981" extrusionOk="0">
                  <a:moveTo>
                    <a:pt x="551" y="0"/>
                  </a:moveTo>
                  <a:cubicBezTo>
                    <a:pt x="494" y="0"/>
                    <a:pt x="435" y="10"/>
                    <a:pt x="376" y="32"/>
                  </a:cubicBezTo>
                  <a:cubicBezTo>
                    <a:pt x="125" y="107"/>
                    <a:pt x="0" y="383"/>
                    <a:pt x="75" y="658"/>
                  </a:cubicBezTo>
                  <a:cubicBezTo>
                    <a:pt x="156" y="860"/>
                    <a:pt x="351" y="981"/>
                    <a:pt x="554" y="981"/>
                  </a:cubicBezTo>
                  <a:cubicBezTo>
                    <a:pt x="603" y="981"/>
                    <a:pt x="653" y="974"/>
                    <a:pt x="702" y="959"/>
                  </a:cubicBezTo>
                  <a:cubicBezTo>
                    <a:pt x="952" y="884"/>
                    <a:pt x="1103" y="583"/>
                    <a:pt x="1003" y="332"/>
                  </a:cubicBezTo>
                  <a:cubicBezTo>
                    <a:pt x="943" y="135"/>
                    <a:pt x="760" y="0"/>
                    <a:pt x="551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6" name="Google Shape;930;p42">
              <a:extLst>
                <a:ext uri="{FF2B5EF4-FFF2-40B4-BE49-F238E27FC236}">
                  <a16:creationId xmlns:a16="http://schemas.microsoft.com/office/drawing/2014/main" id="{5AF241D8-7584-3A52-225E-F2CEA9D0529A}"/>
                </a:ext>
              </a:extLst>
            </p:cNvPr>
            <p:cNvSpPr/>
            <p:nvPr/>
          </p:nvSpPr>
          <p:spPr>
            <a:xfrm>
              <a:off x="5738654" y="-1157786"/>
              <a:ext cx="73526" cy="77945"/>
            </a:xfrm>
            <a:custGeom>
              <a:avLst/>
              <a:gdLst/>
              <a:ahLst/>
              <a:cxnLst/>
              <a:rect l="l" t="t" r="r" b="b"/>
              <a:pathLst>
                <a:path w="3760" h="3986" extrusionOk="0">
                  <a:moveTo>
                    <a:pt x="276" y="1"/>
                  </a:moveTo>
                  <a:lnTo>
                    <a:pt x="0" y="276"/>
                  </a:lnTo>
                  <a:lnTo>
                    <a:pt x="3484" y="3986"/>
                  </a:lnTo>
                  <a:lnTo>
                    <a:pt x="3760" y="3735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7" name="Google Shape;931;p42">
              <a:extLst>
                <a:ext uri="{FF2B5EF4-FFF2-40B4-BE49-F238E27FC236}">
                  <a16:creationId xmlns:a16="http://schemas.microsoft.com/office/drawing/2014/main" id="{D0385135-A982-C746-C702-6E81423C3D8B}"/>
                </a:ext>
              </a:extLst>
            </p:cNvPr>
            <p:cNvSpPr/>
            <p:nvPr/>
          </p:nvSpPr>
          <p:spPr>
            <a:xfrm>
              <a:off x="3489096" y="119413"/>
              <a:ext cx="104911" cy="452868"/>
            </a:xfrm>
            <a:custGeom>
              <a:avLst/>
              <a:gdLst/>
              <a:ahLst/>
              <a:cxnLst/>
              <a:rect l="l" t="t" r="r" b="b"/>
              <a:pathLst>
                <a:path w="5365" h="23159" extrusionOk="0">
                  <a:moveTo>
                    <a:pt x="4412" y="0"/>
                  </a:moveTo>
                  <a:cubicBezTo>
                    <a:pt x="3159" y="1203"/>
                    <a:pt x="2056" y="2607"/>
                    <a:pt x="1329" y="4311"/>
                  </a:cubicBezTo>
                  <a:cubicBezTo>
                    <a:pt x="1" y="7444"/>
                    <a:pt x="327" y="10928"/>
                    <a:pt x="828" y="13935"/>
                  </a:cubicBezTo>
                  <a:cubicBezTo>
                    <a:pt x="1329" y="16918"/>
                    <a:pt x="1655" y="19574"/>
                    <a:pt x="2056" y="22933"/>
                  </a:cubicBezTo>
                  <a:lnTo>
                    <a:pt x="2081" y="23158"/>
                  </a:lnTo>
                  <a:lnTo>
                    <a:pt x="3810" y="22933"/>
                  </a:lnTo>
                  <a:lnTo>
                    <a:pt x="3785" y="22732"/>
                  </a:lnTo>
                  <a:cubicBezTo>
                    <a:pt x="3359" y="19324"/>
                    <a:pt x="3033" y="16667"/>
                    <a:pt x="2532" y="13659"/>
                  </a:cubicBezTo>
                  <a:cubicBezTo>
                    <a:pt x="2081" y="10903"/>
                    <a:pt x="1755" y="7720"/>
                    <a:pt x="2908" y="4988"/>
                  </a:cubicBezTo>
                  <a:cubicBezTo>
                    <a:pt x="3485" y="3659"/>
                    <a:pt x="4362" y="2506"/>
                    <a:pt x="5364" y="1479"/>
                  </a:cubicBezTo>
                  <a:cubicBezTo>
                    <a:pt x="5114" y="1103"/>
                    <a:pt x="4863" y="727"/>
                    <a:pt x="4612" y="326"/>
                  </a:cubicBezTo>
                  <a:cubicBezTo>
                    <a:pt x="4537" y="226"/>
                    <a:pt x="4462" y="100"/>
                    <a:pt x="4412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8" name="Google Shape;932;p42">
              <a:extLst>
                <a:ext uri="{FF2B5EF4-FFF2-40B4-BE49-F238E27FC236}">
                  <a16:creationId xmlns:a16="http://schemas.microsoft.com/office/drawing/2014/main" id="{C03A288E-26A9-3F99-A5F6-51844FA6EF26}"/>
                </a:ext>
              </a:extLst>
            </p:cNvPr>
            <p:cNvSpPr/>
            <p:nvPr/>
          </p:nvSpPr>
          <p:spPr>
            <a:xfrm>
              <a:off x="3512620" y="486494"/>
              <a:ext cx="53443" cy="53443"/>
            </a:xfrm>
            <a:custGeom>
              <a:avLst/>
              <a:gdLst/>
              <a:ahLst/>
              <a:cxnLst/>
              <a:rect l="l" t="t" r="r" b="b"/>
              <a:pathLst>
                <a:path w="2733" h="2733" extrusionOk="0">
                  <a:moveTo>
                    <a:pt x="2407" y="0"/>
                  </a:moveTo>
                  <a:lnTo>
                    <a:pt x="1" y="301"/>
                  </a:lnTo>
                  <a:lnTo>
                    <a:pt x="327" y="2732"/>
                  </a:lnTo>
                  <a:lnTo>
                    <a:pt x="2733" y="2406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9" name="Google Shape;933;p42">
              <a:extLst>
                <a:ext uri="{FF2B5EF4-FFF2-40B4-BE49-F238E27FC236}">
                  <a16:creationId xmlns:a16="http://schemas.microsoft.com/office/drawing/2014/main" id="{19FAD881-9397-4883-CCAB-BFA44DAA6ABF}"/>
                </a:ext>
              </a:extLst>
            </p:cNvPr>
            <p:cNvSpPr/>
            <p:nvPr/>
          </p:nvSpPr>
          <p:spPr>
            <a:xfrm>
              <a:off x="3399418" y="523160"/>
              <a:ext cx="334269" cy="395221"/>
            </a:xfrm>
            <a:custGeom>
              <a:avLst/>
              <a:gdLst/>
              <a:ahLst/>
              <a:cxnLst/>
              <a:rect l="l" t="t" r="r" b="b"/>
              <a:pathLst>
                <a:path w="17094" h="20211" extrusionOk="0">
                  <a:moveTo>
                    <a:pt x="8062" y="1"/>
                  </a:moveTo>
                  <a:cubicBezTo>
                    <a:pt x="7790" y="1"/>
                    <a:pt x="7517" y="18"/>
                    <a:pt x="7244" y="55"/>
                  </a:cubicBezTo>
                  <a:cubicBezTo>
                    <a:pt x="2908" y="632"/>
                    <a:pt x="0" y="5594"/>
                    <a:pt x="752" y="11133"/>
                  </a:cubicBezTo>
                  <a:cubicBezTo>
                    <a:pt x="1433" y="16341"/>
                    <a:pt x="5056" y="20210"/>
                    <a:pt x="9053" y="20210"/>
                  </a:cubicBezTo>
                  <a:cubicBezTo>
                    <a:pt x="9325" y="20210"/>
                    <a:pt x="9600" y="20192"/>
                    <a:pt x="9875" y="20155"/>
                  </a:cubicBezTo>
                  <a:cubicBezTo>
                    <a:pt x="14186" y="19604"/>
                    <a:pt x="17093" y="14642"/>
                    <a:pt x="16366" y="9078"/>
                  </a:cubicBezTo>
                  <a:cubicBezTo>
                    <a:pt x="15686" y="3891"/>
                    <a:pt x="12060" y="1"/>
                    <a:pt x="8062" y="1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0" name="Google Shape;934;p42">
              <a:extLst>
                <a:ext uri="{FF2B5EF4-FFF2-40B4-BE49-F238E27FC236}">
                  <a16:creationId xmlns:a16="http://schemas.microsoft.com/office/drawing/2014/main" id="{FD895821-D240-11CE-6DC5-068A24B7BDCF}"/>
                </a:ext>
              </a:extLst>
            </p:cNvPr>
            <p:cNvSpPr/>
            <p:nvPr/>
          </p:nvSpPr>
          <p:spPr>
            <a:xfrm>
              <a:off x="3436670" y="564420"/>
              <a:ext cx="117152" cy="134791"/>
            </a:xfrm>
            <a:custGeom>
              <a:avLst/>
              <a:gdLst/>
              <a:ahLst/>
              <a:cxnLst/>
              <a:rect l="l" t="t" r="r" b="b"/>
              <a:pathLst>
                <a:path w="5991" h="6893" extrusionOk="0">
                  <a:moveTo>
                    <a:pt x="3860" y="0"/>
                  </a:moveTo>
                  <a:cubicBezTo>
                    <a:pt x="2807" y="0"/>
                    <a:pt x="1579" y="953"/>
                    <a:pt x="877" y="2431"/>
                  </a:cubicBezTo>
                  <a:cubicBezTo>
                    <a:pt x="0" y="4261"/>
                    <a:pt x="251" y="6166"/>
                    <a:pt x="1429" y="6742"/>
                  </a:cubicBezTo>
                  <a:cubicBezTo>
                    <a:pt x="1654" y="6842"/>
                    <a:pt x="1880" y="6892"/>
                    <a:pt x="2130" y="6892"/>
                  </a:cubicBezTo>
                  <a:cubicBezTo>
                    <a:pt x="3208" y="6892"/>
                    <a:pt x="4436" y="5940"/>
                    <a:pt x="5138" y="4461"/>
                  </a:cubicBezTo>
                  <a:cubicBezTo>
                    <a:pt x="5990" y="2657"/>
                    <a:pt x="5740" y="727"/>
                    <a:pt x="4562" y="151"/>
                  </a:cubicBezTo>
                  <a:cubicBezTo>
                    <a:pt x="4336" y="50"/>
                    <a:pt x="4110" y="0"/>
                    <a:pt x="3860" y="0"/>
                  </a:cubicBezTo>
                  <a:close/>
                </a:path>
              </a:pathLst>
            </a:custGeom>
            <a:solidFill>
              <a:srgbClr val="7942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1" name="Google Shape;935;p42">
              <a:extLst>
                <a:ext uri="{FF2B5EF4-FFF2-40B4-BE49-F238E27FC236}">
                  <a16:creationId xmlns:a16="http://schemas.microsoft.com/office/drawing/2014/main" id="{8DED7858-D5F3-B893-5329-C18799E546AD}"/>
                </a:ext>
              </a:extLst>
            </p:cNvPr>
            <p:cNvSpPr/>
            <p:nvPr/>
          </p:nvSpPr>
          <p:spPr>
            <a:xfrm>
              <a:off x="3567510" y="905025"/>
              <a:ext cx="53443" cy="53443"/>
            </a:xfrm>
            <a:custGeom>
              <a:avLst/>
              <a:gdLst/>
              <a:ahLst/>
              <a:cxnLst/>
              <a:rect l="l" t="t" r="r" b="b"/>
              <a:pathLst>
                <a:path w="2733" h="2733" extrusionOk="0">
                  <a:moveTo>
                    <a:pt x="2432" y="1"/>
                  </a:moveTo>
                  <a:lnTo>
                    <a:pt x="1" y="327"/>
                  </a:lnTo>
                  <a:lnTo>
                    <a:pt x="327" y="2733"/>
                  </a:lnTo>
                  <a:lnTo>
                    <a:pt x="2733" y="2407"/>
                  </a:lnTo>
                  <a:lnTo>
                    <a:pt x="2432" y="1"/>
                  </a:ln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2" name="Google Shape;936;p42">
              <a:extLst>
                <a:ext uri="{FF2B5EF4-FFF2-40B4-BE49-F238E27FC236}">
                  <a16:creationId xmlns:a16="http://schemas.microsoft.com/office/drawing/2014/main" id="{75A01C2D-0AD0-DC99-209B-61C9CE18198F}"/>
                </a:ext>
              </a:extLst>
            </p:cNvPr>
            <p:cNvSpPr/>
            <p:nvPr/>
          </p:nvSpPr>
          <p:spPr>
            <a:xfrm>
              <a:off x="4817762" y="513069"/>
              <a:ext cx="1029714" cy="287103"/>
            </a:xfrm>
            <a:custGeom>
              <a:avLst/>
              <a:gdLst/>
              <a:ahLst/>
              <a:cxnLst/>
              <a:rect l="l" t="t" r="r" b="b"/>
              <a:pathLst>
                <a:path w="52658" h="14682" extrusionOk="0">
                  <a:moveTo>
                    <a:pt x="15226" y="1"/>
                  </a:moveTo>
                  <a:cubicBezTo>
                    <a:pt x="12828" y="1"/>
                    <a:pt x="10458" y="1009"/>
                    <a:pt x="8847" y="2777"/>
                  </a:cubicBezTo>
                  <a:cubicBezTo>
                    <a:pt x="7018" y="4731"/>
                    <a:pt x="6191" y="7589"/>
                    <a:pt x="6692" y="10220"/>
                  </a:cubicBezTo>
                  <a:cubicBezTo>
                    <a:pt x="5880" y="9765"/>
                    <a:pt x="4896" y="9481"/>
                    <a:pt x="3950" y="9481"/>
                  </a:cubicBezTo>
                  <a:cubicBezTo>
                    <a:pt x="3699" y="9481"/>
                    <a:pt x="3450" y="9501"/>
                    <a:pt x="3208" y="9544"/>
                  </a:cubicBezTo>
                  <a:cubicBezTo>
                    <a:pt x="2055" y="9744"/>
                    <a:pt x="952" y="10471"/>
                    <a:pt x="476" y="11549"/>
                  </a:cubicBezTo>
                  <a:cubicBezTo>
                    <a:pt x="0" y="12626"/>
                    <a:pt x="201" y="13930"/>
                    <a:pt x="1103" y="14681"/>
                  </a:cubicBezTo>
                  <a:lnTo>
                    <a:pt x="52030" y="14681"/>
                  </a:lnTo>
                  <a:cubicBezTo>
                    <a:pt x="52657" y="12075"/>
                    <a:pt x="51554" y="9017"/>
                    <a:pt x="49274" y="7664"/>
                  </a:cubicBezTo>
                  <a:cubicBezTo>
                    <a:pt x="48322" y="7089"/>
                    <a:pt x="47218" y="6810"/>
                    <a:pt x="46110" y="6810"/>
                  </a:cubicBezTo>
                  <a:cubicBezTo>
                    <a:pt x="44563" y="6810"/>
                    <a:pt x="43009" y="7354"/>
                    <a:pt x="41855" y="8391"/>
                  </a:cubicBezTo>
                  <a:cubicBezTo>
                    <a:pt x="41554" y="5659"/>
                    <a:pt x="39750" y="3127"/>
                    <a:pt x="37419" y="1649"/>
                  </a:cubicBezTo>
                  <a:cubicBezTo>
                    <a:pt x="35709" y="546"/>
                    <a:pt x="33689" y="9"/>
                    <a:pt x="31666" y="9"/>
                  </a:cubicBezTo>
                  <a:cubicBezTo>
                    <a:pt x="30931" y="9"/>
                    <a:pt x="30195" y="80"/>
                    <a:pt x="29474" y="220"/>
                  </a:cubicBezTo>
                  <a:cubicBezTo>
                    <a:pt x="26767" y="772"/>
                    <a:pt x="24286" y="2300"/>
                    <a:pt x="22456" y="4356"/>
                  </a:cubicBezTo>
                  <a:cubicBezTo>
                    <a:pt x="21103" y="2050"/>
                    <a:pt x="18747" y="320"/>
                    <a:pt x="16090" y="45"/>
                  </a:cubicBezTo>
                  <a:cubicBezTo>
                    <a:pt x="15803" y="15"/>
                    <a:pt x="15514" y="1"/>
                    <a:pt x="15226" y="1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3" name="Google Shape;937;p42">
              <a:extLst>
                <a:ext uri="{FF2B5EF4-FFF2-40B4-BE49-F238E27FC236}">
                  <a16:creationId xmlns:a16="http://schemas.microsoft.com/office/drawing/2014/main" id="{6FF011D2-7034-FF1F-9B2A-1FCE80139EE2}"/>
                </a:ext>
              </a:extLst>
            </p:cNvPr>
            <p:cNvSpPr/>
            <p:nvPr/>
          </p:nvSpPr>
          <p:spPr>
            <a:xfrm>
              <a:off x="3239147" y="-1207592"/>
              <a:ext cx="655279" cy="342423"/>
            </a:xfrm>
            <a:custGeom>
              <a:avLst/>
              <a:gdLst/>
              <a:ahLst/>
              <a:cxnLst/>
              <a:rect l="l" t="t" r="r" b="b"/>
              <a:pathLst>
                <a:path w="33510" h="17511" extrusionOk="0">
                  <a:moveTo>
                    <a:pt x="16649" y="0"/>
                  </a:moveTo>
                  <a:cubicBezTo>
                    <a:pt x="16119" y="0"/>
                    <a:pt x="15588" y="62"/>
                    <a:pt x="15064" y="192"/>
                  </a:cubicBezTo>
                  <a:cubicBezTo>
                    <a:pt x="13209" y="668"/>
                    <a:pt x="11605" y="1946"/>
                    <a:pt x="10602" y="3575"/>
                  </a:cubicBezTo>
                  <a:cubicBezTo>
                    <a:pt x="9600" y="5204"/>
                    <a:pt x="9274" y="7109"/>
                    <a:pt x="9324" y="9014"/>
                  </a:cubicBezTo>
                  <a:cubicBezTo>
                    <a:pt x="8436" y="8075"/>
                    <a:pt x="7153" y="7589"/>
                    <a:pt x="5862" y="7589"/>
                  </a:cubicBezTo>
                  <a:cubicBezTo>
                    <a:pt x="5258" y="7589"/>
                    <a:pt x="4653" y="7695"/>
                    <a:pt x="4086" y="7911"/>
                  </a:cubicBezTo>
                  <a:cubicBezTo>
                    <a:pt x="2307" y="8563"/>
                    <a:pt x="978" y="10192"/>
                    <a:pt x="502" y="12021"/>
                  </a:cubicBezTo>
                  <a:cubicBezTo>
                    <a:pt x="1" y="13851"/>
                    <a:pt x="226" y="15806"/>
                    <a:pt x="1028" y="17510"/>
                  </a:cubicBezTo>
                  <a:lnTo>
                    <a:pt x="32758" y="17510"/>
                  </a:lnTo>
                  <a:cubicBezTo>
                    <a:pt x="33134" y="16407"/>
                    <a:pt x="33510" y="14878"/>
                    <a:pt x="33134" y="13776"/>
                  </a:cubicBezTo>
                  <a:cubicBezTo>
                    <a:pt x="32733" y="12673"/>
                    <a:pt x="31856" y="11695"/>
                    <a:pt x="30728" y="11395"/>
                  </a:cubicBezTo>
                  <a:cubicBezTo>
                    <a:pt x="30439" y="11311"/>
                    <a:pt x="30127" y="11269"/>
                    <a:pt x="29813" y="11269"/>
                  </a:cubicBezTo>
                  <a:cubicBezTo>
                    <a:pt x="28899" y="11269"/>
                    <a:pt x="27961" y="11626"/>
                    <a:pt x="27495" y="12372"/>
                  </a:cubicBezTo>
                  <a:cubicBezTo>
                    <a:pt x="26668" y="9264"/>
                    <a:pt x="25665" y="6081"/>
                    <a:pt x="23610" y="3600"/>
                  </a:cubicBezTo>
                  <a:cubicBezTo>
                    <a:pt x="21899" y="1514"/>
                    <a:pt x="19285" y="0"/>
                    <a:pt x="16649" y="0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4" name="Google Shape;938;p42">
              <a:extLst>
                <a:ext uri="{FF2B5EF4-FFF2-40B4-BE49-F238E27FC236}">
                  <a16:creationId xmlns:a16="http://schemas.microsoft.com/office/drawing/2014/main" id="{2B402731-9635-896B-A395-ECE5A62D9EFD}"/>
                </a:ext>
              </a:extLst>
            </p:cNvPr>
            <p:cNvSpPr/>
            <p:nvPr/>
          </p:nvSpPr>
          <p:spPr>
            <a:xfrm>
              <a:off x="3008812" y="-524388"/>
              <a:ext cx="442583" cy="217429"/>
            </a:xfrm>
            <a:custGeom>
              <a:avLst/>
              <a:gdLst/>
              <a:ahLst/>
              <a:cxnLst/>
              <a:rect l="l" t="t" r="r" b="b"/>
              <a:pathLst>
                <a:path w="22633" h="11119" extrusionOk="0">
                  <a:moveTo>
                    <a:pt x="16909" y="1"/>
                  </a:moveTo>
                  <a:cubicBezTo>
                    <a:pt x="15813" y="1"/>
                    <a:pt x="14698" y="316"/>
                    <a:pt x="13710" y="818"/>
                  </a:cubicBezTo>
                  <a:cubicBezTo>
                    <a:pt x="11354" y="2021"/>
                    <a:pt x="9675" y="4276"/>
                    <a:pt x="9073" y="6833"/>
                  </a:cubicBezTo>
                  <a:cubicBezTo>
                    <a:pt x="8396" y="5329"/>
                    <a:pt x="6842" y="4251"/>
                    <a:pt x="5188" y="4126"/>
                  </a:cubicBezTo>
                  <a:cubicBezTo>
                    <a:pt x="5100" y="4121"/>
                    <a:pt x="5012" y="4118"/>
                    <a:pt x="4924" y="4118"/>
                  </a:cubicBezTo>
                  <a:cubicBezTo>
                    <a:pt x="3358" y="4118"/>
                    <a:pt x="1808" y="4953"/>
                    <a:pt x="978" y="6281"/>
                  </a:cubicBezTo>
                  <a:cubicBezTo>
                    <a:pt x="101" y="7685"/>
                    <a:pt x="0" y="9690"/>
                    <a:pt x="802" y="11119"/>
                  </a:cubicBezTo>
                  <a:lnTo>
                    <a:pt x="22056" y="11119"/>
                  </a:lnTo>
                  <a:cubicBezTo>
                    <a:pt x="22331" y="9114"/>
                    <a:pt x="22632" y="7058"/>
                    <a:pt x="22256" y="5078"/>
                  </a:cubicBezTo>
                  <a:cubicBezTo>
                    <a:pt x="21855" y="3098"/>
                    <a:pt x="20677" y="1144"/>
                    <a:pt x="18822" y="367"/>
                  </a:cubicBezTo>
                  <a:cubicBezTo>
                    <a:pt x="18213" y="113"/>
                    <a:pt x="17564" y="1"/>
                    <a:pt x="16909" y="1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5" name="Google Shape;939;p42">
              <a:extLst>
                <a:ext uri="{FF2B5EF4-FFF2-40B4-BE49-F238E27FC236}">
                  <a16:creationId xmlns:a16="http://schemas.microsoft.com/office/drawing/2014/main" id="{34DC23D0-CD7E-28F4-9884-78613BB90744}"/>
                </a:ext>
              </a:extLst>
            </p:cNvPr>
            <p:cNvSpPr/>
            <p:nvPr/>
          </p:nvSpPr>
          <p:spPr>
            <a:xfrm>
              <a:off x="5595044" y="-92130"/>
              <a:ext cx="443071" cy="217429"/>
            </a:xfrm>
            <a:custGeom>
              <a:avLst/>
              <a:gdLst/>
              <a:ahLst/>
              <a:cxnLst/>
              <a:rect l="l" t="t" r="r" b="b"/>
              <a:pathLst>
                <a:path w="22658" h="11119" extrusionOk="0">
                  <a:moveTo>
                    <a:pt x="5749" y="1"/>
                  </a:moveTo>
                  <a:cubicBezTo>
                    <a:pt x="5093" y="1"/>
                    <a:pt x="4445" y="114"/>
                    <a:pt x="3835" y="367"/>
                  </a:cubicBezTo>
                  <a:cubicBezTo>
                    <a:pt x="1956" y="1144"/>
                    <a:pt x="778" y="3099"/>
                    <a:pt x="402" y="5079"/>
                  </a:cubicBezTo>
                  <a:cubicBezTo>
                    <a:pt x="1" y="7059"/>
                    <a:pt x="301" y="9114"/>
                    <a:pt x="577" y="11119"/>
                  </a:cubicBezTo>
                  <a:lnTo>
                    <a:pt x="21830" y="11119"/>
                  </a:lnTo>
                  <a:cubicBezTo>
                    <a:pt x="22657" y="9690"/>
                    <a:pt x="22557" y="7685"/>
                    <a:pt x="21680" y="6282"/>
                  </a:cubicBezTo>
                  <a:cubicBezTo>
                    <a:pt x="20826" y="4953"/>
                    <a:pt x="19275" y="4118"/>
                    <a:pt x="17709" y="4118"/>
                  </a:cubicBezTo>
                  <a:cubicBezTo>
                    <a:pt x="17621" y="4118"/>
                    <a:pt x="17532" y="4121"/>
                    <a:pt x="17444" y="4126"/>
                  </a:cubicBezTo>
                  <a:cubicBezTo>
                    <a:pt x="15790" y="4252"/>
                    <a:pt x="14261" y="5329"/>
                    <a:pt x="13585" y="6833"/>
                  </a:cubicBezTo>
                  <a:cubicBezTo>
                    <a:pt x="12958" y="4277"/>
                    <a:pt x="11279" y="2021"/>
                    <a:pt x="8948" y="818"/>
                  </a:cubicBezTo>
                  <a:cubicBezTo>
                    <a:pt x="7960" y="316"/>
                    <a:pt x="6845" y="1"/>
                    <a:pt x="5749" y="1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Google Shape;940;p42">
              <a:extLst>
                <a:ext uri="{FF2B5EF4-FFF2-40B4-BE49-F238E27FC236}">
                  <a16:creationId xmlns:a16="http://schemas.microsoft.com/office/drawing/2014/main" id="{F29C0AA0-BCAB-B335-B500-594EF98468D5}"/>
                </a:ext>
              </a:extLst>
            </p:cNvPr>
            <p:cNvSpPr/>
            <p:nvPr/>
          </p:nvSpPr>
          <p:spPr>
            <a:xfrm>
              <a:off x="4002721" y="807505"/>
              <a:ext cx="60307" cy="167134"/>
            </a:xfrm>
            <a:custGeom>
              <a:avLst/>
              <a:gdLst/>
              <a:ahLst/>
              <a:cxnLst/>
              <a:rect l="l" t="t" r="r" b="b"/>
              <a:pathLst>
                <a:path w="3084" h="8547" extrusionOk="0">
                  <a:moveTo>
                    <a:pt x="1" y="0"/>
                  </a:moveTo>
                  <a:lnTo>
                    <a:pt x="1" y="8547"/>
                  </a:lnTo>
                  <a:lnTo>
                    <a:pt x="3083" y="8547"/>
                  </a:lnTo>
                  <a:lnTo>
                    <a:pt x="3083" y="0"/>
                  </a:ln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Google Shape;941;p42">
              <a:extLst>
                <a:ext uri="{FF2B5EF4-FFF2-40B4-BE49-F238E27FC236}">
                  <a16:creationId xmlns:a16="http://schemas.microsoft.com/office/drawing/2014/main" id="{13B0A2C4-A4BC-2C43-A77A-829B494E402E}"/>
                </a:ext>
              </a:extLst>
            </p:cNvPr>
            <p:cNvSpPr/>
            <p:nvPr/>
          </p:nvSpPr>
          <p:spPr>
            <a:xfrm>
              <a:off x="3949297" y="860929"/>
              <a:ext cx="167154" cy="60287"/>
            </a:xfrm>
            <a:custGeom>
              <a:avLst/>
              <a:gdLst/>
              <a:ahLst/>
              <a:cxnLst/>
              <a:rect l="l" t="t" r="r" b="b"/>
              <a:pathLst>
                <a:path w="8548" h="3083" extrusionOk="0">
                  <a:moveTo>
                    <a:pt x="1" y="0"/>
                  </a:moveTo>
                  <a:lnTo>
                    <a:pt x="1" y="3083"/>
                  </a:lnTo>
                  <a:lnTo>
                    <a:pt x="8547" y="3083"/>
                  </a:lnTo>
                  <a:lnTo>
                    <a:pt x="8547" y="0"/>
                  </a:ln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Google Shape;942;p42">
              <a:extLst>
                <a:ext uri="{FF2B5EF4-FFF2-40B4-BE49-F238E27FC236}">
                  <a16:creationId xmlns:a16="http://schemas.microsoft.com/office/drawing/2014/main" id="{0751C094-A728-EAC5-F5C7-72A986C96339}"/>
                </a:ext>
              </a:extLst>
            </p:cNvPr>
            <p:cNvSpPr/>
            <p:nvPr/>
          </p:nvSpPr>
          <p:spPr>
            <a:xfrm>
              <a:off x="3097512" y="-684835"/>
              <a:ext cx="29919" cy="83812"/>
            </a:xfrm>
            <a:custGeom>
              <a:avLst/>
              <a:gdLst/>
              <a:ahLst/>
              <a:cxnLst/>
              <a:rect l="l" t="t" r="r" b="b"/>
              <a:pathLst>
                <a:path w="1530" h="4286" extrusionOk="0">
                  <a:moveTo>
                    <a:pt x="1" y="0"/>
                  </a:moveTo>
                  <a:lnTo>
                    <a:pt x="1" y="4286"/>
                  </a:lnTo>
                  <a:lnTo>
                    <a:pt x="1530" y="4286"/>
                  </a:lnTo>
                  <a:lnTo>
                    <a:pt x="1530" y="0"/>
                  </a:ln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9" name="Google Shape;943;p42">
              <a:extLst>
                <a:ext uri="{FF2B5EF4-FFF2-40B4-BE49-F238E27FC236}">
                  <a16:creationId xmlns:a16="http://schemas.microsoft.com/office/drawing/2014/main" id="{0F7D9849-143F-4BA1-31C1-CA6B57209078}"/>
                </a:ext>
              </a:extLst>
            </p:cNvPr>
            <p:cNvSpPr/>
            <p:nvPr/>
          </p:nvSpPr>
          <p:spPr>
            <a:xfrm>
              <a:off x="3070566" y="-657888"/>
              <a:ext cx="83812" cy="29919"/>
            </a:xfrm>
            <a:custGeom>
              <a:avLst/>
              <a:gdLst/>
              <a:ahLst/>
              <a:cxnLst/>
              <a:rect l="l" t="t" r="r" b="b"/>
              <a:pathLst>
                <a:path w="4286" h="1530" extrusionOk="0">
                  <a:moveTo>
                    <a:pt x="0" y="1"/>
                  </a:moveTo>
                  <a:lnTo>
                    <a:pt x="0" y="1529"/>
                  </a:lnTo>
                  <a:lnTo>
                    <a:pt x="4286" y="1529"/>
                  </a:lnTo>
                  <a:lnTo>
                    <a:pt x="4286" y="1"/>
                  </a:ln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0" name="Google Shape;944;p42">
              <a:extLst>
                <a:ext uri="{FF2B5EF4-FFF2-40B4-BE49-F238E27FC236}">
                  <a16:creationId xmlns:a16="http://schemas.microsoft.com/office/drawing/2014/main" id="{23EDC42E-CAB1-3631-60DE-BF4FE28068B3}"/>
                </a:ext>
              </a:extLst>
            </p:cNvPr>
            <p:cNvSpPr/>
            <p:nvPr/>
          </p:nvSpPr>
          <p:spPr>
            <a:xfrm>
              <a:off x="4929987" y="-1368527"/>
              <a:ext cx="50490" cy="142143"/>
            </a:xfrm>
            <a:custGeom>
              <a:avLst/>
              <a:gdLst/>
              <a:ahLst/>
              <a:cxnLst/>
              <a:rect l="l" t="t" r="r" b="b"/>
              <a:pathLst>
                <a:path w="2582" h="7269" extrusionOk="0">
                  <a:moveTo>
                    <a:pt x="0" y="1"/>
                  </a:moveTo>
                  <a:lnTo>
                    <a:pt x="0" y="7269"/>
                  </a:lnTo>
                  <a:lnTo>
                    <a:pt x="2582" y="7269"/>
                  </a:lnTo>
                  <a:lnTo>
                    <a:pt x="2582" y="1"/>
                  </a:ln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1" name="Google Shape;945;p42">
              <a:extLst>
                <a:ext uri="{FF2B5EF4-FFF2-40B4-BE49-F238E27FC236}">
                  <a16:creationId xmlns:a16="http://schemas.microsoft.com/office/drawing/2014/main" id="{3C1CC64F-8010-73CA-851E-0419D1202308}"/>
                </a:ext>
              </a:extLst>
            </p:cNvPr>
            <p:cNvSpPr/>
            <p:nvPr/>
          </p:nvSpPr>
          <p:spPr>
            <a:xfrm>
              <a:off x="4884405" y="-1322945"/>
              <a:ext cx="141655" cy="50979"/>
            </a:xfrm>
            <a:custGeom>
              <a:avLst/>
              <a:gdLst/>
              <a:ahLst/>
              <a:cxnLst/>
              <a:rect l="l" t="t" r="r" b="b"/>
              <a:pathLst>
                <a:path w="7244" h="2607" extrusionOk="0">
                  <a:moveTo>
                    <a:pt x="1" y="0"/>
                  </a:moveTo>
                  <a:lnTo>
                    <a:pt x="1" y="2607"/>
                  </a:lnTo>
                  <a:lnTo>
                    <a:pt x="7244" y="2607"/>
                  </a:lnTo>
                  <a:lnTo>
                    <a:pt x="7244" y="0"/>
                  </a:ln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2" name="Google Shape;946;p42">
              <a:extLst>
                <a:ext uri="{FF2B5EF4-FFF2-40B4-BE49-F238E27FC236}">
                  <a16:creationId xmlns:a16="http://schemas.microsoft.com/office/drawing/2014/main" id="{8285C967-4E77-798E-FBB8-89979EEA7F5F}"/>
                </a:ext>
              </a:extLst>
            </p:cNvPr>
            <p:cNvSpPr/>
            <p:nvPr/>
          </p:nvSpPr>
          <p:spPr>
            <a:xfrm>
              <a:off x="5980761" y="-602509"/>
              <a:ext cx="81367" cy="227911"/>
            </a:xfrm>
            <a:custGeom>
              <a:avLst/>
              <a:gdLst/>
              <a:ahLst/>
              <a:cxnLst/>
              <a:rect l="l" t="t" r="r" b="b"/>
              <a:pathLst>
                <a:path w="4161" h="11655" extrusionOk="0">
                  <a:moveTo>
                    <a:pt x="0" y="1"/>
                  </a:moveTo>
                  <a:lnTo>
                    <a:pt x="0" y="11655"/>
                  </a:lnTo>
                  <a:lnTo>
                    <a:pt x="4161" y="11655"/>
                  </a:lnTo>
                  <a:lnTo>
                    <a:pt x="4161" y="1"/>
                  </a:ln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Google Shape;947;p42">
              <a:extLst>
                <a:ext uri="{FF2B5EF4-FFF2-40B4-BE49-F238E27FC236}">
                  <a16:creationId xmlns:a16="http://schemas.microsoft.com/office/drawing/2014/main" id="{77B9A02C-D8F0-81BC-BEBB-E6A29A20759F}"/>
                </a:ext>
              </a:extLst>
            </p:cNvPr>
            <p:cNvSpPr/>
            <p:nvPr/>
          </p:nvSpPr>
          <p:spPr>
            <a:xfrm>
              <a:off x="5907724" y="-529472"/>
              <a:ext cx="227422" cy="81367"/>
            </a:xfrm>
            <a:custGeom>
              <a:avLst/>
              <a:gdLst/>
              <a:ahLst/>
              <a:cxnLst/>
              <a:rect l="l" t="t" r="r" b="b"/>
              <a:pathLst>
                <a:path w="11630" h="4161" extrusionOk="0">
                  <a:moveTo>
                    <a:pt x="1" y="0"/>
                  </a:moveTo>
                  <a:lnTo>
                    <a:pt x="1" y="4160"/>
                  </a:lnTo>
                  <a:lnTo>
                    <a:pt x="11630" y="4160"/>
                  </a:lnTo>
                  <a:lnTo>
                    <a:pt x="11630" y="0"/>
                  </a:ln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Google Shape;948;p42">
              <a:extLst>
                <a:ext uri="{FF2B5EF4-FFF2-40B4-BE49-F238E27FC236}">
                  <a16:creationId xmlns:a16="http://schemas.microsoft.com/office/drawing/2014/main" id="{45E0A3CD-EE16-137B-37F0-C64CCA321D2A}"/>
                </a:ext>
              </a:extLst>
            </p:cNvPr>
            <p:cNvSpPr/>
            <p:nvPr/>
          </p:nvSpPr>
          <p:spPr>
            <a:xfrm>
              <a:off x="3896871" y="-1495457"/>
              <a:ext cx="322986" cy="306032"/>
            </a:xfrm>
            <a:custGeom>
              <a:avLst/>
              <a:gdLst/>
              <a:ahLst/>
              <a:cxnLst/>
              <a:rect l="l" t="t" r="r" b="b"/>
              <a:pathLst>
                <a:path w="16517" h="15650" extrusionOk="0">
                  <a:moveTo>
                    <a:pt x="5138" y="0"/>
                  </a:moveTo>
                  <a:cubicBezTo>
                    <a:pt x="3935" y="0"/>
                    <a:pt x="2757" y="426"/>
                    <a:pt x="1855" y="1354"/>
                  </a:cubicBezTo>
                  <a:cubicBezTo>
                    <a:pt x="25" y="3158"/>
                    <a:pt x="0" y="6091"/>
                    <a:pt x="1805" y="7895"/>
                  </a:cubicBezTo>
                  <a:lnTo>
                    <a:pt x="8120" y="14261"/>
                  </a:lnTo>
                  <a:cubicBezTo>
                    <a:pt x="9032" y="15185"/>
                    <a:pt x="10231" y="15649"/>
                    <a:pt x="11431" y="15649"/>
                  </a:cubicBezTo>
                  <a:cubicBezTo>
                    <a:pt x="12606" y="15649"/>
                    <a:pt x="13782" y="15204"/>
                    <a:pt x="14687" y="14311"/>
                  </a:cubicBezTo>
                  <a:cubicBezTo>
                    <a:pt x="16491" y="12507"/>
                    <a:pt x="16517" y="9574"/>
                    <a:pt x="14712" y="7745"/>
                  </a:cubicBezTo>
                  <a:lnTo>
                    <a:pt x="8396" y="1379"/>
                  </a:lnTo>
                  <a:cubicBezTo>
                    <a:pt x="7494" y="476"/>
                    <a:pt x="6316" y="0"/>
                    <a:pt x="5138" y="0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Google Shape;949;p42">
              <a:extLst>
                <a:ext uri="{FF2B5EF4-FFF2-40B4-BE49-F238E27FC236}">
                  <a16:creationId xmlns:a16="http://schemas.microsoft.com/office/drawing/2014/main" id="{E66B538C-F764-A565-23AB-2EF7C029D270}"/>
                </a:ext>
              </a:extLst>
            </p:cNvPr>
            <p:cNvSpPr/>
            <p:nvPr/>
          </p:nvSpPr>
          <p:spPr>
            <a:xfrm>
              <a:off x="3993901" y="-1406268"/>
              <a:ext cx="225955" cy="216843"/>
            </a:xfrm>
            <a:custGeom>
              <a:avLst/>
              <a:gdLst/>
              <a:ahLst/>
              <a:cxnLst/>
              <a:rect l="l" t="t" r="r" b="b"/>
              <a:pathLst>
                <a:path w="11555" h="11089" extrusionOk="0">
                  <a:moveTo>
                    <a:pt x="6592" y="1"/>
                  </a:moveTo>
                  <a:lnTo>
                    <a:pt x="1" y="6517"/>
                  </a:lnTo>
                  <a:lnTo>
                    <a:pt x="3158" y="9700"/>
                  </a:lnTo>
                  <a:cubicBezTo>
                    <a:pt x="4070" y="10624"/>
                    <a:pt x="5269" y="11088"/>
                    <a:pt x="6469" y="11088"/>
                  </a:cubicBezTo>
                  <a:cubicBezTo>
                    <a:pt x="7644" y="11088"/>
                    <a:pt x="8820" y="10643"/>
                    <a:pt x="9725" y="9750"/>
                  </a:cubicBezTo>
                  <a:cubicBezTo>
                    <a:pt x="11529" y="7946"/>
                    <a:pt x="11555" y="5013"/>
                    <a:pt x="9750" y="3184"/>
                  </a:cubicBezTo>
                  <a:lnTo>
                    <a:pt x="6592" y="1"/>
                  </a:ln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106" name="Google Shape;950;p42">
              <a:extLst>
                <a:ext uri="{FF2B5EF4-FFF2-40B4-BE49-F238E27FC236}">
                  <a16:creationId xmlns:a16="http://schemas.microsoft.com/office/drawing/2014/main" id="{0B152CFD-CDC8-DCE6-823E-DF5DE9DFC488}"/>
                </a:ext>
              </a:extLst>
            </p:cNvPr>
            <p:cNvGrpSpPr/>
            <p:nvPr/>
          </p:nvGrpSpPr>
          <p:grpSpPr>
            <a:xfrm>
              <a:off x="4659932" y="1050214"/>
              <a:ext cx="224471" cy="135143"/>
              <a:chOff x="4623682" y="1196214"/>
              <a:chExt cx="224471" cy="135143"/>
            </a:xfrm>
          </p:grpSpPr>
          <p:sp>
            <p:nvSpPr>
              <p:cNvPr id="1111" name="Google Shape;951;p42">
                <a:extLst>
                  <a:ext uri="{FF2B5EF4-FFF2-40B4-BE49-F238E27FC236}">
                    <a16:creationId xmlns:a16="http://schemas.microsoft.com/office/drawing/2014/main" id="{26DFF2A4-438D-FA40-EDD3-806B7A7ACC31}"/>
                  </a:ext>
                </a:extLst>
              </p:cNvPr>
              <p:cNvSpPr/>
              <p:nvPr/>
            </p:nvSpPr>
            <p:spPr>
              <a:xfrm>
                <a:off x="4623682" y="1196214"/>
                <a:ext cx="224469" cy="135143"/>
              </a:xfrm>
              <a:custGeom>
                <a:avLst/>
                <a:gdLst/>
                <a:ahLst/>
                <a:cxnLst/>
                <a:rect l="l" t="t" r="r" b="b"/>
                <a:pathLst>
                  <a:path w="11479" h="6911" extrusionOk="0">
                    <a:moveTo>
                      <a:pt x="8354" y="1"/>
                    </a:moveTo>
                    <a:cubicBezTo>
                      <a:pt x="8146" y="1"/>
                      <a:pt x="7933" y="24"/>
                      <a:pt x="7720" y="72"/>
                    </a:cubicBezTo>
                    <a:lnTo>
                      <a:pt x="2331" y="1275"/>
                    </a:lnTo>
                    <a:cubicBezTo>
                      <a:pt x="1579" y="1451"/>
                      <a:pt x="953" y="1902"/>
                      <a:pt x="552" y="2528"/>
                    </a:cubicBezTo>
                    <a:cubicBezTo>
                      <a:pt x="151" y="3130"/>
                      <a:pt x="0" y="3907"/>
                      <a:pt x="176" y="4684"/>
                    </a:cubicBezTo>
                    <a:cubicBezTo>
                      <a:pt x="457" y="6002"/>
                      <a:pt x="1632" y="6911"/>
                      <a:pt x="2947" y="6911"/>
                    </a:cubicBezTo>
                    <a:cubicBezTo>
                      <a:pt x="3157" y="6911"/>
                      <a:pt x="3370" y="6888"/>
                      <a:pt x="3584" y="6839"/>
                    </a:cubicBezTo>
                    <a:lnTo>
                      <a:pt x="8948" y="5636"/>
                    </a:lnTo>
                    <a:cubicBezTo>
                      <a:pt x="10502" y="5310"/>
                      <a:pt x="11479" y="3782"/>
                      <a:pt x="11128" y="2253"/>
                    </a:cubicBezTo>
                    <a:cubicBezTo>
                      <a:pt x="10825" y="912"/>
                      <a:pt x="9665" y="1"/>
                      <a:pt x="8354" y="1"/>
                    </a:cubicBezTo>
                    <a:close/>
                  </a:path>
                </a:pathLst>
              </a:custGeom>
              <a:solidFill>
                <a:srgbClr val="FFFD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952;p42">
                <a:extLst>
                  <a:ext uri="{FF2B5EF4-FFF2-40B4-BE49-F238E27FC236}">
                    <a16:creationId xmlns:a16="http://schemas.microsoft.com/office/drawing/2014/main" id="{D3D79DDA-7FD6-BE43-334E-3EAC98D01A48}"/>
                  </a:ext>
                </a:extLst>
              </p:cNvPr>
              <p:cNvSpPr/>
              <p:nvPr/>
            </p:nvSpPr>
            <p:spPr>
              <a:xfrm>
                <a:off x="4722179" y="1196214"/>
                <a:ext cx="125973" cy="121984"/>
              </a:xfrm>
              <a:custGeom>
                <a:avLst/>
                <a:gdLst/>
                <a:ahLst/>
                <a:cxnLst/>
                <a:rect l="l" t="t" r="r" b="b"/>
                <a:pathLst>
                  <a:path w="6442" h="6238" extrusionOk="0">
                    <a:moveTo>
                      <a:pt x="3317" y="1"/>
                    </a:moveTo>
                    <a:cubicBezTo>
                      <a:pt x="3109" y="1"/>
                      <a:pt x="2896" y="24"/>
                      <a:pt x="2683" y="72"/>
                    </a:cubicBezTo>
                    <a:lnTo>
                      <a:pt x="1" y="674"/>
                    </a:lnTo>
                    <a:lnTo>
                      <a:pt x="1229" y="6238"/>
                    </a:lnTo>
                    <a:lnTo>
                      <a:pt x="3911" y="5636"/>
                    </a:lnTo>
                    <a:cubicBezTo>
                      <a:pt x="5465" y="5310"/>
                      <a:pt x="6442" y="3782"/>
                      <a:pt x="6091" y="2253"/>
                    </a:cubicBezTo>
                    <a:cubicBezTo>
                      <a:pt x="5788" y="912"/>
                      <a:pt x="4628" y="1"/>
                      <a:pt x="3317" y="1"/>
                    </a:cubicBezTo>
                    <a:close/>
                  </a:path>
                </a:pathLst>
              </a:custGeom>
              <a:solidFill>
                <a:srgbClr val="CF1E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7" name="Google Shape;953;p42">
              <a:extLst>
                <a:ext uri="{FF2B5EF4-FFF2-40B4-BE49-F238E27FC236}">
                  <a16:creationId xmlns:a16="http://schemas.microsoft.com/office/drawing/2014/main" id="{E970C5C6-DEBE-E58B-4A5A-7AB72CADA1DF}"/>
                </a:ext>
              </a:extLst>
            </p:cNvPr>
            <p:cNvSpPr/>
            <p:nvPr/>
          </p:nvSpPr>
          <p:spPr>
            <a:xfrm>
              <a:off x="3026450" y="-100050"/>
              <a:ext cx="142143" cy="147834"/>
            </a:xfrm>
            <a:custGeom>
              <a:avLst/>
              <a:gdLst/>
              <a:ahLst/>
              <a:cxnLst/>
              <a:rect l="l" t="t" r="r" b="b"/>
              <a:pathLst>
                <a:path w="7269" h="7560" extrusionOk="0">
                  <a:moveTo>
                    <a:pt x="2403" y="1"/>
                  </a:moveTo>
                  <a:cubicBezTo>
                    <a:pt x="1961" y="1"/>
                    <a:pt x="1514" y="137"/>
                    <a:pt x="1128" y="421"/>
                  </a:cubicBezTo>
                  <a:cubicBezTo>
                    <a:pt x="201" y="1123"/>
                    <a:pt x="1" y="2451"/>
                    <a:pt x="702" y="3379"/>
                  </a:cubicBezTo>
                  <a:lnTo>
                    <a:pt x="3133" y="6687"/>
                  </a:lnTo>
                  <a:cubicBezTo>
                    <a:pt x="3484" y="7163"/>
                    <a:pt x="3986" y="7439"/>
                    <a:pt x="4537" y="7539"/>
                  </a:cubicBezTo>
                  <a:cubicBezTo>
                    <a:pt x="4635" y="7553"/>
                    <a:pt x="4734" y="7560"/>
                    <a:pt x="4834" y="7560"/>
                  </a:cubicBezTo>
                  <a:cubicBezTo>
                    <a:pt x="5274" y="7560"/>
                    <a:pt x="5728" y="7424"/>
                    <a:pt x="6116" y="7138"/>
                  </a:cubicBezTo>
                  <a:cubicBezTo>
                    <a:pt x="7068" y="6436"/>
                    <a:pt x="7269" y="5108"/>
                    <a:pt x="6567" y="4155"/>
                  </a:cubicBezTo>
                  <a:lnTo>
                    <a:pt x="4111" y="847"/>
                  </a:lnTo>
                  <a:cubicBezTo>
                    <a:pt x="3693" y="295"/>
                    <a:pt x="3054" y="1"/>
                    <a:pt x="2403" y="1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8" name="Google Shape;954;p42">
              <a:extLst>
                <a:ext uri="{FF2B5EF4-FFF2-40B4-BE49-F238E27FC236}">
                  <a16:creationId xmlns:a16="http://schemas.microsoft.com/office/drawing/2014/main" id="{8091199B-DF51-5C48-8C05-21E585B0BA00}"/>
                </a:ext>
              </a:extLst>
            </p:cNvPr>
            <p:cNvSpPr/>
            <p:nvPr/>
          </p:nvSpPr>
          <p:spPr>
            <a:xfrm>
              <a:off x="3026450" y="-100050"/>
              <a:ext cx="104403" cy="98419"/>
            </a:xfrm>
            <a:custGeom>
              <a:avLst/>
              <a:gdLst/>
              <a:ahLst/>
              <a:cxnLst/>
              <a:rect l="l" t="t" r="r" b="b"/>
              <a:pathLst>
                <a:path w="5339" h="5033" extrusionOk="0">
                  <a:moveTo>
                    <a:pt x="2403" y="1"/>
                  </a:moveTo>
                  <a:cubicBezTo>
                    <a:pt x="1961" y="1"/>
                    <a:pt x="1514" y="137"/>
                    <a:pt x="1128" y="421"/>
                  </a:cubicBezTo>
                  <a:cubicBezTo>
                    <a:pt x="201" y="1123"/>
                    <a:pt x="1" y="2451"/>
                    <a:pt x="702" y="3379"/>
                  </a:cubicBezTo>
                  <a:lnTo>
                    <a:pt x="1905" y="5033"/>
                  </a:lnTo>
                  <a:lnTo>
                    <a:pt x="5339" y="2501"/>
                  </a:lnTo>
                  <a:lnTo>
                    <a:pt x="4111" y="847"/>
                  </a:lnTo>
                  <a:cubicBezTo>
                    <a:pt x="3693" y="295"/>
                    <a:pt x="3054" y="1"/>
                    <a:pt x="2403" y="1"/>
                  </a:cubicBezTo>
                  <a:close/>
                </a:path>
              </a:pathLst>
            </a:custGeom>
            <a:solidFill>
              <a:srgbClr val="D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9" name="Google Shape;955;p42">
              <a:extLst>
                <a:ext uri="{FF2B5EF4-FFF2-40B4-BE49-F238E27FC236}">
                  <a16:creationId xmlns:a16="http://schemas.microsoft.com/office/drawing/2014/main" id="{20A02223-7347-C625-2CD8-9D39FCC1DE9D}"/>
                </a:ext>
              </a:extLst>
            </p:cNvPr>
            <p:cNvSpPr/>
            <p:nvPr/>
          </p:nvSpPr>
          <p:spPr>
            <a:xfrm>
              <a:off x="5820979" y="263101"/>
              <a:ext cx="256832" cy="256480"/>
            </a:xfrm>
            <a:custGeom>
              <a:avLst/>
              <a:gdLst/>
              <a:ahLst/>
              <a:cxnLst/>
              <a:rect l="l" t="t" r="r" b="b"/>
              <a:pathLst>
                <a:path w="13134" h="13116" extrusionOk="0">
                  <a:moveTo>
                    <a:pt x="4222" y="1"/>
                  </a:moveTo>
                  <a:cubicBezTo>
                    <a:pt x="3362" y="1"/>
                    <a:pt x="2494" y="295"/>
                    <a:pt x="1780" y="898"/>
                  </a:cubicBezTo>
                  <a:cubicBezTo>
                    <a:pt x="201" y="2251"/>
                    <a:pt x="1" y="4607"/>
                    <a:pt x="1329" y="6211"/>
                  </a:cubicBezTo>
                  <a:lnTo>
                    <a:pt x="6041" y="11775"/>
                  </a:lnTo>
                  <a:cubicBezTo>
                    <a:pt x="6692" y="12577"/>
                    <a:pt x="7645" y="13028"/>
                    <a:pt x="8597" y="13103"/>
                  </a:cubicBezTo>
                  <a:cubicBezTo>
                    <a:pt x="8698" y="13111"/>
                    <a:pt x="8800" y="13115"/>
                    <a:pt x="8902" y="13115"/>
                  </a:cubicBezTo>
                  <a:cubicBezTo>
                    <a:pt x="9761" y="13115"/>
                    <a:pt x="10637" y="12831"/>
                    <a:pt x="11354" y="12226"/>
                  </a:cubicBezTo>
                  <a:cubicBezTo>
                    <a:pt x="12933" y="10873"/>
                    <a:pt x="13134" y="8517"/>
                    <a:pt x="11805" y="6913"/>
                  </a:cubicBezTo>
                  <a:lnTo>
                    <a:pt x="7093" y="1349"/>
                  </a:lnTo>
                  <a:cubicBezTo>
                    <a:pt x="6356" y="459"/>
                    <a:pt x="5295" y="1"/>
                    <a:pt x="4222" y="1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956;p42">
              <a:extLst>
                <a:ext uri="{FF2B5EF4-FFF2-40B4-BE49-F238E27FC236}">
                  <a16:creationId xmlns:a16="http://schemas.microsoft.com/office/drawing/2014/main" id="{55557A94-47A2-263D-183B-953727C29B10}"/>
                </a:ext>
              </a:extLst>
            </p:cNvPr>
            <p:cNvSpPr/>
            <p:nvPr/>
          </p:nvSpPr>
          <p:spPr>
            <a:xfrm>
              <a:off x="5820979" y="263101"/>
              <a:ext cx="184792" cy="175875"/>
            </a:xfrm>
            <a:custGeom>
              <a:avLst/>
              <a:gdLst/>
              <a:ahLst/>
              <a:cxnLst/>
              <a:rect l="l" t="t" r="r" b="b"/>
              <a:pathLst>
                <a:path w="9450" h="8994" extrusionOk="0">
                  <a:moveTo>
                    <a:pt x="4222" y="1"/>
                  </a:moveTo>
                  <a:cubicBezTo>
                    <a:pt x="3362" y="1"/>
                    <a:pt x="2494" y="295"/>
                    <a:pt x="1780" y="898"/>
                  </a:cubicBezTo>
                  <a:cubicBezTo>
                    <a:pt x="201" y="2251"/>
                    <a:pt x="1" y="4607"/>
                    <a:pt x="1329" y="6211"/>
                  </a:cubicBezTo>
                  <a:lnTo>
                    <a:pt x="3685" y="8993"/>
                  </a:lnTo>
                  <a:lnTo>
                    <a:pt x="9449" y="4131"/>
                  </a:lnTo>
                  <a:lnTo>
                    <a:pt x="7093" y="1349"/>
                  </a:lnTo>
                  <a:cubicBezTo>
                    <a:pt x="6356" y="459"/>
                    <a:pt x="5295" y="1"/>
                    <a:pt x="4222" y="1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20" name="TextBox 1119">
            <a:extLst>
              <a:ext uri="{FF2B5EF4-FFF2-40B4-BE49-F238E27FC236}">
                <a16:creationId xmlns:a16="http://schemas.microsoft.com/office/drawing/2014/main" id="{08F8556A-937F-BBB1-D659-4C70A946737B}"/>
              </a:ext>
            </a:extLst>
          </p:cNvPr>
          <p:cNvSpPr txBox="1"/>
          <p:nvPr/>
        </p:nvSpPr>
        <p:spPr>
          <a:xfrm>
            <a:off x="2939726" y="1815052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5200" b="1" kern="0">
                <a:solidFill>
                  <a:srgbClr val="EF324B"/>
                </a:solidFill>
                <a:latin typeface="Alata"/>
                <a:sym typeface="Alata"/>
              </a:rPr>
              <a:t>Hipertensão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82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3F33-7461-2A89-1A26-215F535D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414612"/>
            <a:ext cx="10515600" cy="1255721"/>
          </a:xfrm>
        </p:spPr>
        <p:txBody>
          <a:bodyPr>
            <a:normAutofit/>
          </a:bodyPr>
          <a:lstStyle/>
          <a:p>
            <a:r>
              <a:rPr lang="en" sz="4000" b="1" kern="0">
                <a:solidFill>
                  <a:srgbClr val="EF324B"/>
                </a:solidFill>
                <a:latin typeface="Alata"/>
                <a:sym typeface="Alata"/>
              </a:rPr>
              <a:t>Introdução</a:t>
            </a:r>
            <a:br>
              <a:rPr lang="en-GB"/>
            </a:br>
            <a:endParaRPr lang="en-GB">
              <a:solidFill>
                <a:srgbClr val="EF324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F425F-AC34-A3F4-7FC1-FED9A166A1E7}"/>
              </a:ext>
            </a:extLst>
          </p:cNvPr>
          <p:cNvSpPr txBox="1"/>
          <p:nvPr/>
        </p:nvSpPr>
        <p:spPr>
          <a:xfrm>
            <a:off x="265922" y="1736271"/>
            <a:ext cx="11660155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A hipertensão é uma condição complexa</a:t>
            </a:r>
            <a:r>
              <a:rPr lang="pt-PT" sz="2000" dirty="0">
                <a:solidFill>
                  <a:srgbClr val="000000"/>
                </a:solidFill>
                <a:latin typeface="+mj-lt"/>
              </a:rPr>
              <a:t>,</a:t>
            </a:r>
            <a:r>
              <a:rPr lang="pt-PT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 determinada tanto por condições genéticas como por ambientais, sendo um grande problema de saúde pública devido à sua alta prevalência </a:t>
            </a:r>
            <a:r>
              <a:rPr lang="pt-PT" sz="2000" dirty="0">
                <a:solidFill>
                  <a:srgbClr val="000000"/>
                </a:solidFill>
                <a:latin typeface="+mj-lt"/>
              </a:rPr>
              <a:t>que condiciona</a:t>
            </a:r>
            <a:r>
              <a:rPr lang="pt-PT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  outras patologias.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>
                <a:solidFill>
                  <a:srgbClr val="000000"/>
                </a:solidFill>
                <a:latin typeface="+mj-lt"/>
              </a:rPr>
              <a:t>A prevalência  em Portugal é de 3,5</a:t>
            </a:r>
            <a:r>
              <a:rPr lang="pt-PT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 milhões de </a:t>
            </a:r>
            <a:r>
              <a:rPr lang="pt-PT" sz="2000" dirty="0">
                <a:solidFill>
                  <a:srgbClr val="000000"/>
                </a:solidFill>
                <a:latin typeface="+mj-lt"/>
              </a:rPr>
              <a:t>habitantes, sendo</a:t>
            </a:r>
            <a:r>
              <a:rPr lang="pt-PT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 considerada uma das causas críticas de mortalidade.</a:t>
            </a:r>
            <a:endParaRPr lang="pt-PT" sz="2000" b="0" i="0" u="none" strike="noStrike" dirty="0">
              <a:solidFill>
                <a:srgbClr val="000000"/>
              </a:solidFill>
              <a:effectLst/>
              <a:latin typeface="+mj-lt"/>
              <a:cs typeface="Calibri Ligh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b="0" i="0" u="none" strike="noStrike" dirty="0">
                <a:solidFill>
                  <a:srgbClr val="000000"/>
                </a:solidFill>
                <a:effectLst/>
                <a:latin typeface="+mj-lt"/>
              </a:rPr>
              <a:t>Os mecanismos que promovem a sensibilidade ao sal são complexos na relação entre a genética e as influências do ambiente.</a:t>
            </a:r>
            <a:endParaRPr lang="pt-PT" sz="2000" dirty="0">
              <a:solidFill>
                <a:srgbClr val="000000"/>
              </a:solidFill>
              <a:latin typeface="+mj-lt"/>
              <a:cs typeface="Calibri Light"/>
            </a:endParaRPr>
          </a:p>
          <a:p>
            <a:pPr algn="just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0ECF2-B453-4A1F-6CFF-C730E6446636}"/>
              </a:ext>
            </a:extLst>
          </p:cNvPr>
          <p:cNvSpPr txBox="1"/>
          <p:nvPr/>
        </p:nvSpPr>
        <p:spPr>
          <a:xfrm>
            <a:off x="265922" y="4867569"/>
            <a:ext cx="11563364" cy="1569660"/>
          </a:xfrm>
          <a:prstGeom prst="rect">
            <a:avLst/>
          </a:prstGeom>
          <a:solidFill>
            <a:srgbClr val="EF9195"/>
          </a:solidFill>
          <a:ln>
            <a:solidFill>
              <a:srgbClr val="CF1E2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PT" sz="2400" b="1">
                <a:latin typeface="+mj-lt"/>
              </a:rPr>
              <a:t>Objetivo: </a:t>
            </a:r>
            <a:r>
              <a:rPr lang="pt-PT" sz="2400">
                <a:latin typeface="+mj-lt"/>
              </a:rPr>
              <a:t>As </a:t>
            </a:r>
            <a:r>
              <a:rPr lang="pt-PT" sz="2400">
                <a:solidFill>
                  <a:srgbClr val="000000"/>
                </a:solidFill>
                <a:latin typeface="+mj-lt"/>
              </a:rPr>
              <a:t>p</a:t>
            </a:r>
            <a:r>
              <a:rPr lang="pt-PT" sz="2400" i="0" u="none" strike="noStrike">
                <a:solidFill>
                  <a:srgbClr val="000000"/>
                </a:solidFill>
                <a:effectLst/>
                <a:latin typeface="+mj-lt"/>
              </a:rPr>
              <a:t>roteínas </a:t>
            </a:r>
            <a:r>
              <a:rPr lang="pt-PT" sz="2400" b="0" i="0" u="none" strike="noStrike">
                <a:solidFill>
                  <a:srgbClr val="000000"/>
                </a:solidFill>
                <a:effectLst/>
                <a:latin typeface="+mj-lt"/>
              </a:rPr>
              <a:t>na urina servem como  biomarcadores viáveis para o diagnóstico e  monitorização de várias doenças. Utilizando os dados das proteínas identificadas nas várias amostras é possível originar uma base de dados </a:t>
            </a:r>
            <a:r>
              <a:rPr lang="pt-PT" sz="2400">
                <a:solidFill>
                  <a:srgbClr val="000000"/>
                </a:solidFill>
                <a:latin typeface="+mj-lt"/>
              </a:rPr>
              <a:t>de forma a </a:t>
            </a:r>
            <a:r>
              <a:rPr lang="pt-PT" sz="2400" b="0" i="0" u="none" strike="noStrike">
                <a:solidFill>
                  <a:srgbClr val="000000"/>
                </a:solidFill>
                <a:effectLst/>
                <a:latin typeface="+mj-lt"/>
              </a:rPr>
              <a:t>descodificar quais as proteínas expressas mais relevantes e quais os genes que as originam. </a:t>
            </a:r>
            <a:endParaRPr lang="en-GB" sz="2400">
              <a:latin typeface="+mj-lt"/>
            </a:endParaRPr>
          </a:p>
        </p:txBody>
      </p:sp>
      <p:grpSp>
        <p:nvGrpSpPr>
          <p:cNvPr id="20" name="Google Shape;1327;p51">
            <a:extLst>
              <a:ext uri="{FF2B5EF4-FFF2-40B4-BE49-F238E27FC236}">
                <a16:creationId xmlns:a16="http://schemas.microsoft.com/office/drawing/2014/main" id="{C932364C-3B4C-A7D8-6DCA-D07696E454AB}"/>
              </a:ext>
            </a:extLst>
          </p:cNvPr>
          <p:cNvGrpSpPr/>
          <p:nvPr/>
        </p:nvGrpSpPr>
        <p:grpSpPr>
          <a:xfrm>
            <a:off x="10522439" y="331579"/>
            <a:ext cx="960316" cy="1095013"/>
            <a:chOff x="7146475" y="2227125"/>
            <a:chExt cx="1321475" cy="1498650"/>
          </a:xfrm>
        </p:grpSpPr>
        <p:sp>
          <p:nvSpPr>
            <p:cNvPr id="21" name="Google Shape;1328;p51">
              <a:extLst>
                <a:ext uri="{FF2B5EF4-FFF2-40B4-BE49-F238E27FC236}">
                  <a16:creationId xmlns:a16="http://schemas.microsoft.com/office/drawing/2014/main" id="{1229BAE9-B514-B473-D210-49F32FAA76E9}"/>
                </a:ext>
              </a:extLst>
            </p:cNvPr>
            <p:cNvSpPr/>
            <p:nvPr/>
          </p:nvSpPr>
          <p:spPr>
            <a:xfrm>
              <a:off x="7146475" y="3062200"/>
              <a:ext cx="1319600" cy="663575"/>
            </a:xfrm>
            <a:custGeom>
              <a:avLst/>
              <a:gdLst/>
              <a:ahLst/>
              <a:cxnLst/>
              <a:rect l="l" t="t" r="r" b="b"/>
              <a:pathLst>
                <a:path w="52784" h="26543" extrusionOk="0">
                  <a:moveTo>
                    <a:pt x="8147" y="2123"/>
                  </a:moveTo>
                  <a:cubicBezTo>
                    <a:pt x="8311" y="2123"/>
                    <a:pt x="8478" y="2131"/>
                    <a:pt x="8647" y="2146"/>
                  </a:cubicBezTo>
                  <a:cubicBezTo>
                    <a:pt x="12808" y="2547"/>
                    <a:pt x="15214" y="6557"/>
                    <a:pt x="16918" y="9915"/>
                  </a:cubicBezTo>
                  <a:cubicBezTo>
                    <a:pt x="17570" y="11194"/>
                    <a:pt x="18247" y="12447"/>
                    <a:pt x="18948" y="13650"/>
                  </a:cubicBezTo>
                  <a:cubicBezTo>
                    <a:pt x="16870" y="15418"/>
                    <a:pt x="14383" y="16543"/>
                    <a:pt x="11451" y="16543"/>
                  </a:cubicBezTo>
                  <a:cubicBezTo>
                    <a:pt x="11059" y="16543"/>
                    <a:pt x="10659" y="16523"/>
                    <a:pt x="10252" y="16482"/>
                  </a:cubicBezTo>
                  <a:cubicBezTo>
                    <a:pt x="6492" y="16081"/>
                    <a:pt x="3309" y="13550"/>
                    <a:pt x="2733" y="9740"/>
                  </a:cubicBezTo>
                  <a:cubicBezTo>
                    <a:pt x="2204" y="6231"/>
                    <a:pt x="4326" y="2123"/>
                    <a:pt x="8147" y="2123"/>
                  </a:cubicBezTo>
                  <a:close/>
                  <a:moveTo>
                    <a:pt x="8212" y="1"/>
                  </a:moveTo>
                  <a:cubicBezTo>
                    <a:pt x="5791" y="1"/>
                    <a:pt x="3515" y="1119"/>
                    <a:pt x="2056" y="3299"/>
                  </a:cubicBezTo>
                  <a:cubicBezTo>
                    <a:pt x="151" y="6131"/>
                    <a:pt x="1" y="9890"/>
                    <a:pt x="1480" y="12948"/>
                  </a:cubicBezTo>
                  <a:cubicBezTo>
                    <a:pt x="3109" y="16281"/>
                    <a:pt x="6467" y="18312"/>
                    <a:pt x="10101" y="18637"/>
                  </a:cubicBezTo>
                  <a:cubicBezTo>
                    <a:pt x="10531" y="18675"/>
                    <a:pt x="10954" y="18694"/>
                    <a:pt x="11369" y="18694"/>
                  </a:cubicBezTo>
                  <a:cubicBezTo>
                    <a:pt x="14773" y="18694"/>
                    <a:pt x="17663" y="17443"/>
                    <a:pt x="20076" y="15454"/>
                  </a:cubicBezTo>
                  <a:cubicBezTo>
                    <a:pt x="21129" y="16983"/>
                    <a:pt x="22282" y="18437"/>
                    <a:pt x="23685" y="19765"/>
                  </a:cubicBezTo>
                  <a:cubicBezTo>
                    <a:pt x="27729" y="23557"/>
                    <a:pt x="33580" y="26543"/>
                    <a:pt x="39324" y="26543"/>
                  </a:cubicBezTo>
                  <a:cubicBezTo>
                    <a:pt x="41020" y="26543"/>
                    <a:pt x="42708" y="26282"/>
                    <a:pt x="44337" y="25705"/>
                  </a:cubicBezTo>
                  <a:cubicBezTo>
                    <a:pt x="47896" y="24452"/>
                    <a:pt x="50979" y="21595"/>
                    <a:pt x="51906" y="17860"/>
                  </a:cubicBezTo>
                  <a:cubicBezTo>
                    <a:pt x="52783" y="14377"/>
                    <a:pt x="51530" y="10442"/>
                    <a:pt x="48598" y="8311"/>
                  </a:cubicBezTo>
                  <a:cubicBezTo>
                    <a:pt x="48387" y="8162"/>
                    <a:pt x="48167" y="8098"/>
                    <a:pt x="47955" y="8098"/>
                  </a:cubicBezTo>
                  <a:cubicBezTo>
                    <a:pt x="47034" y="8098"/>
                    <a:pt x="46277" y="9313"/>
                    <a:pt x="47194" y="9966"/>
                  </a:cubicBezTo>
                  <a:cubicBezTo>
                    <a:pt x="50252" y="12171"/>
                    <a:pt x="50803" y="16482"/>
                    <a:pt x="48848" y="19615"/>
                  </a:cubicBezTo>
                  <a:cubicBezTo>
                    <a:pt x="46813" y="22849"/>
                    <a:pt x="43001" y="24328"/>
                    <a:pt x="39312" y="24328"/>
                  </a:cubicBezTo>
                  <a:cubicBezTo>
                    <a:pt x="38913" y="24328"/>
                    <a:pt x="38515" y="24311"/>
                    <a:pt x="38121" y="24276"/>
                  </a:cubicBezTo>
                  <a:cubicBezTo>
                    <a:pt x="33886" y="23926"/>
                    <a:pt x="29800" y="21996"/>
                    <a:pt x="26517" y="19339"/>
                  </a:cubicBezTo>
                  <a:cubicBezTo>
                    <a:pt x="24537" y="17760"/>
                    <a:pt x="23034" y="15931"/>
                    <a:pt x="21705" y="13951"/>
                  </a:cubicBezTo>
                  <a:cubicBezTo>
                    <a:pt x="24963" y="10592"/>
                    <a:pt x="27244" y="5981"/>
                    <a:pt x="28798" y="1795"/>
                  </a:cubicBezTo>
                  <a:cubicBezTo>
                    <a:pt x="29111" y="940"/>
                    <a:pt x="28376" y="246"/>
                    <a:pt x="27692" y="246"/>
                  </a:cubicBezTo>
                  <a:cubicBezTo>
                    <a:pt x="27334" y="246"/>
                    <a:pt x="26990" y="436"/>
                    <a:pt x="26818" y="893"/>
                  </a:cubicBezTo>
                  <a:cubicBezTo>
                    <a:pt x="25465" y="4552"/>
                    <a:pt x="23460" y="8913"/>
                    <a:pt x="20552" y="12096"/>
                  </a:cubicBezTo>
                  <a:cubicBezTo>
                    <a:pt x="19951" y="11068"/>
                    <a:pt x="19399" y="10016"/>
                    <a:pt x="18848" y="8913"/>
                  </a:cubicBezTo>
                  <a:cubicBezTo>
                    <a:pt x="17094" y="5504"/>
                    <a:pt x="14863" y="1870"/>
                    <a:pt x="11079" y="517"/>
                  </a:cubicBezTo>
                  <a:cubicBezTo>
                    <a:pt x="10127" y="172"/>
                    <a:pt x="9159" y="1"/>
                    <a:pt x="8212" y="1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1329;p51">
              <a:extLst>
                <a:ext uri="{FF2B5EF4-FFF2-40B4-BE49-F238E27FC236}">
                  <a16:creationId xmlns:a16="http://schemas.microsoft.com/office/drawing/2014/main" id="{52E760BE-127F-9BF2-EBD6-79C62F255F3A}"/>
                </a:ext>
              </a:extLst>
            </p:cNvPr>
            <p:cNvSpPr/>
            <p:nvPr/>
          </p:nvSpPr>
          <p:spPr>
            <a:xfrm>
              <a:off x="7661525" y="2227125"/>
              <a:ext cx="803275" cy="938200"/>
            </a:xfrm>
            <a:custGeom>
              <a:avLst/>
              <a:gdLst/>
              <a:ahLst/>
              <a:cxnLst/>
              <a:rect l="l" t="t" r="r" b="b"/>
              <a:pathLst>
                <a:path w="32131" h="37528" extrusionOk="0">
                  <a:moveTo>
                    <a:pt x="11968" y="1"/>
                  </a:moveTo>
                  <a:cubicBezTo>
                    <a:pt x="11333" y="1"/>
                    <a:pt x="10696" y="138"/>
                    <a:pt x="10101" y="411"/>
                  </a:cubicBezTo>
                  <a:cubicBezTo>
                    <a:pt x="8898" y="962"/>
                    <a:pt x="8021" y="1990"/>
                    <a:pt x="7645" y="3268"/>
                  </a:cubicBezTo>
                  <a:lnTo>
                    <a:pt x="602" y="28080"/>
                  </a:lnTo>
                  <a:cubicBezTo>
                    <a:pt x="0" y="30186"/>
                    <a:pt x="1028" y="32416"/>
                    <a:pt x="3008" y="33369"/>
                  </a:cubicBezTo>
                  <a:lnTo>
                    <a:pt x="11028" y="37103"/>
                  </a:lnTo>
                  <a:cubicBezTo>
                    <a:pt x="11640" y="37390"/>
                    <a:pt x="12291" y="37528"/>
                    <a:pt x="12934" y="37528"/>
                  </a:cubicBezTo>
                  <a:cubicBezTo>
                    <a:pt x="14370" y="37528"/>
                    <a:pt x="15769" y="36838"/>
                    <a:pt x="16617" y="35574"/>
                  </a:cubicBezTo>
                  <a:lnTo>
                    <a:pt x="31179" y="14271"/>
                  </a:lnTo>
                  <a:cubicBezTo>
                    <a:pt x="31905" y="13193"/>
                    <a:pt x="32131" y="11840"/>
                    <a:pt x="31780" y="10561"/>
                  </a:cubicBezTo>
                  <a:cubicBezTo>
                    <a:pt x="31454" y="9283"/>
                    <a:pt x="30552" y="8231"/>
                    <a:pt x="29374" y="7679"/>
                  </a:cubicBezTo>
                  <a:lnTo>
                    <a:pt x="26366" y="6276"/>
                  </a:lnTo>
                  <a:lnTo>
                    <a:pt x="25339" y="8506"/>
                  </a:lnTo>
                  <a:lnTo>
                    <a:pt x="28321" y="9910"/>
                  </a:lnTo>
                  <a:cubicBezTo>
                    <a:pt x="28873" y="10160"/>
                    <a:pt x="29274" y="10637"/>
                    <a:pt x="29424" y="11213"/>
                  </a:cubicBezTo>
                  <a:cubicBezTo>
                    <a:pt x="29600" y="11790"/>
                    <a:pt x="29499" y="12391"/>
                    <a:pt x="29148" y="12892"/>
                  </a:cubicBezTo>
                  <a:lnTo>
                    <a:pt x="14612" y="34196"/>
                  </a:lnTo>
                  <a:cubicBezTo>
                    <a:pt x="14212" y="34770"/>
                    <a:pt x="13571" y="35090"/>
                    <a:pt x="12914" y="35090"/>
                  </a:cubicBezTo>
                  <a:cubicBezTo>
                    <a:pt x="12624" y="35090"/>
                    <a:pt x="12332" y="35028"/>
                    <a:pt x="12056" y="34897"/>
                  </a:cubicBezTo>
                  <a:lnTo>
                    <a:pt x="4061" y="31138"/>
                  </a:lnTo>
                  <a:cubicBezTo>
                    <a:pt x="3133" y="30712"/>
                    <a:pt x="2682" y="29709"/>
                    <a:pt x="2958" y="28732"/>
                  </a:cubicBezTo>
                  <a:lnTo>
                    <a:pt x="10000" y="3920"/>
                  </a:lnTo>
                  <a:cubicBezTo>
                    <a:pt x="10176" y="3343"/>
                    <a:pt x="10577" y="2892"/>
                    <a:pt x="11128" y="2642"/>
                  </a:cubicBezTo>
                  <a:cubicBezTo>
                    <a:pt x="11391" y="2516"/>
                    <a:pt x="11680" y="2454"/>
                    <a:pt x="11971" y="2454"/>
                  </a:cubicBezTo>
                  <a:cubicBezTo>
                    <a:pt x="12262" y="2454"/>
                    <a:pt x="12557" y="2516"/>
                    <a:pt x="12833" y="2642"/>
                  </a:cubicBezTo>
                  <a:lnTo>
                    <a:pt x="15840" y="4045"/>
                  </a:lnTo>
                  <a:lnTo>
                    <a:pt x="16868" y="1840"/>
                  </a:lnTo>
                  <a:lnTo>
                    <a:pt x="13860" y="436"/>
                  </a:lnTo>
                  <a:cubicBezTo>
                    <a:pt x="13265" y="145"/>
                    <a:pt x="12618" y="1"/>
                    <a:pt x="11968" y="1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1330;p51">
              <a:extLst>
                <a:ext uri="{FF2B5EF4-FFF2-40B4-BE49-F238E27FC236}">
                  <a16:creationId xmlns:a16="http://schemas.microsoft.com/office/drawing/2014/main" id="{0015FA73-D2F4-DEA9-DCC8-9BC00F130CA1}"/>
                </a:ext>
              </a:extLst>
            </p:cNvPr>
            <p:cNvSpPr/>
            <p:nvPr/>
          </p:nvSpPr>
          <p:spPr>
            <a:xfrm>
              <a:off x="7638975" y="2615075"/>
              <a:ext cx="633475" cy="570700"/>
            </a:xfrm>
            <a:custGeom>
              <a:avLst/>
              <a:gdLst/>
              <a:ahLst/>
              <a:cxnLst/>
              <a:rect l="l" t="t" r="r" b="b"/>
              <a:pathLst>
                <a:path w="25339" h="22828" extrusionOk="0">
                  <a:moveTo>
                    <a:pt x="4921" y="1"/>
                  </a:moveTo>
                  <a:cubicBezTo>
                    <a:pt x="4515" y="1"/>
                    <a:pt x="4161" y="259"/>
                    <a:pt x="4035" y="657"/>
                  </a:cubicBezTo>
                  <a:lnTo>
                    <a:pt x="727" y="12337"/>
                  </a:lnTo>
                  <a:cubicBezTo>
                    <a:pt x="0" y="14843"/>
                    <a:pt x="1203" y="17475"/>
                    <a:pt x="3584" y="18577"/>
                  </a:cubicBezTo>
                  <a:lnTo>
                    <a:pt x="11579" y="22312"/>
                  </a:lnTo>
                  <a:cubicBezTo>
                    <a:pt x="12308" y="22661"/>
                    <a:pt x="13077" y="22827"/>
                    <a:pt x="13836" y="22827"/>
                  </a:cubicBezTo>
                  <a:cubicBezTo>
                    <a:pt x="15531" y="22827"/>
                    <a:pt x="17174" y="21996"/>
                    <a:pt x="18196" y="20507"/>
                  </a:cubicBezTo>
                  <a:lnTo>
                    <a:pt x="25038" y="10482"/>
                  </a:lnTo>
                  <a:cubicBezTo>
                    <a:pt x="25339" y="10081"/>
                    <a:pt x="25213" y="9530"/>
                    <a:pt x="24812" y="9229"/>
                  </a:cubicBezTo>
                  <a:lnTo>
                    <a:pt x="22933" y="7951"/>
                  </a:lnTo>
                  <a:cubicBezTo>
                    <a:pt x="22780" y="7846"/>
                    <a:pt x="22601" y="7795"/>
                    <a:pt x="22424" y="7795"/>
                  </a:cubicBezTo>
                  <a:cubicBezTo>
                    <a:pt x="22136" y="7795"/>
                    <a:pt x="21850" y="7928"/>
                    <a:pt x="21679" y="8176"/>
                  </a:cubicBezTo>
                  <a:lnTo>
                    <a:pt x="14837" y="18201"/>
                  </a:lnTo>
                  <a:cubicBezTo>
                    <a:pt x="14594" y="18550"/>
                    <a:pt x="14217" y="18741"/>
                    <a:pt x="13824" y="18741"/>
                  </a:cubicBezTo>
                  <a:cubicBezTo>
                    <a:pt x="13652" y="18741"/>
                    <a:pt x="13477" y="18704"/>
                    <a:pt x="13309" y="18628"/>
                  </a:cubicBezTo>
                  <a:lnTo>
                    <a:pt x="5313" y="14893"/>
                  </a:lnTo>
                  <a:cubicBezTo>
                    <a:pt x="4762" y="14617"/>
                    <a:pt x="4486" y="14016"/>
                    <a:pt x="4637" y="13440"/>
                  </a:cubicBezTo>
                  <a:lnTo>
                    <a:pt x="7970" y="1760"/>
                  </a:lnTo>
                  <a:cubicBezTo>
                    <a:pt x="8095" y="1284"/>
                    <a:pt x="7820" y="783"/>
                    <a:pt x="7344" y="657"/>
                  </a:cubicBezTo>
                  <a:lnTo>
                    <a:pt x="5163" y="31"/>
                  </a:lnTo>
                  <a:cubicBezTo>
                    <a:pt x="5081" y="11"/>
                    <a:pt x="5000" y="1"/>
                    <a:pt x="4921" y="1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1331;p51">
              <a:extLst>
                <a:ext uri="{FF2B5EF4-FFF2-40B4-BE49-F238E27FC236}">
                  <a16:creationId xmlns:a16="http://schemas.microsoft.com/office/drawing/2014/main" id="{40B6ED55-B601-0CBB-31BD-D5C877F8BB6A}"/>
                </a:ext>
              </a:extLst>
            </p:cNvPr>
            <p:cNvSpPr/>
            <p:nvPr/>
          </p:nvSpPr>
          <p:spPr>
            <a:xfrm>
              <a:off x="7991725" y="2234275"/>
              <a:ext cx="158550" cy="133350"/>
            </a:xfrm>
            <a:custGeom>
              <a:avLst/>
              <a:gdLst/>
              <a:ahLst/>
              <a:cxnLst/>
              <a:rect l="l" t="t" r="r" b="b"/>
              <a:pathLst>
                <a:path w="6342" h="5334" extrusionOk="0">
                  <a:moveTo>
                    <a:pt x="2459" y="0"/>
                  </a:moveTo>
                  <a:cubicBezTo>
                    <a:pt x="1783" y="0"/>
                    <a:pt x="1135" y="382"/>
                    <a:pt x="828" y="1052"/>
                  </a:cubicBezTo>
                  <a:lnTo>
                    <a:pt x="427" y="1904"/>
                  </a:lnTo>
                  <a:cubicBezTo>
                    <a:pt x="1" y="2807"/>
                    <a:pt x="402" y="3884"/>
                    <a:pt x="1304" y="4310"/>
                  </a:cubicBezTo>
                  <a:lnTo>
                    <a:pt x="3108" y="5163"/>
                  </a:lnTo>
                  <a:cubicBezTo>
                    <a:pt x="3354" y="5279"/>
                    <a:pt x="3612" y="5333"/>
                    <a:pt x="3867" y="5333"/>
                  </a:cubicBezTo>
                  <a:cubicBezTo>
                    <a:pt x="4549" y="5333"/>
                    <a:pt x="5204" y="4942"/>
                    <a:pt x="5514" y="4285"/>
                  </a:cubicBezTo>
                  <a:lnTo>
                    <a:pt x="5915" y="3433"/>
                  </a:lnTo>
                  <a:cubicBezTo>
                    <a:pt x="6341" y="2506"/>
                    <a:pt x="5940" y="1428"/>
                    <a:pt x="5038" y="1002"/>
                  </a:cubicBezTo>
                  <a:lnTo>
                    <a:pt x="3234" y="175"/>
                  </a:lnTo>
                  <a:cubicBezTo>
                    <a:pt x="2983" y="57"/>
                    <a:pt x="2719" y="0"/>
                    <a:pt x="2459" y="0"/>
                  </a:cubicBez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1332;p51">
              <a:extLst>
                <a:ext uri="{FF2B5EF4-FFF2-40B4-BE49-F238E27FC236}">
                  <a16:creationId xmlns:a16="http://schemas.microsoft.com/office/drawing/2014/main" id="{B7A71DDD-3112-DEB4-473C-8DE0230DDA5B}"/>
                </a:ext>
              </a:extLst>
            </p:cNvPr>
            <p:cNvSpPr/>
            <p:nvPr/>
          </p:nvSpPr>
          <p:spPr>
            <a:xfrm>
              <a:off x="8227950" y="2344650"/>
              <a:ext cx="158550" cy="133350"/>
            </a:xfrm>
            <a:custGeom>
              <a:avLst/>
              <a:gdLst/>
              <a:ahLst/>
              <a:cxnLst/>
              <a:rect l="l" t="t" r="r" b="b"/>
              <a:pathLst>
                <a:path w="6342" h="5334" extrusionOk="0">
                  <a:moveTo>
                    <a:pt x="2474" y="1"/>
                  </a:moveTo>
                  <a:cubicBezTo>
                    <a:pt x="1793" y="1"/>
                    <a:pt x="1137" y="392"/>
                    <a:pt x="827" y="1048"/>
                  </a:cubicBezTo>
                  <a:lnTo>
                    <a:pt x="426" y="1901"/>
                  </a:lnTo>
                  <a:cubicBezTo>
                    <a:pt x="0" y="2828"/>
                    <a:pt x="376" y="3906"/>
                    <a:pt x="1303" y="4332"/>
                  </a:cubicBezTo>
                  <a:lnTo>
                    <a:pt x="3108" y="5159"/>
                  </a:lnTo>
                  <a:cubicBezTo>
                    <a:pt x="3360" y="5278"/>
                    <a:pt x="3625" y="5334"/>
                    <a:pt x="3886" y="5334"/>
                  </a:cubicBezTo>
                  <a:cubicBezTo>
                    <a:pt x="4561" y="5334"/>
                    <a:pt x="5207" y="4957"/>
                    <a:pt x="5514" y="4307"/>
                  </a:cubicBezTo>
                  <a:lnTo>
                    <a:pt x="5915" y="3429"/>
                  </a:lnTo>
                  <a:cubicBezTo>
                    <a:pt x="6341" y="2527"/>
                    <a:pt x="5940" y="1449"/>
                    <a:pt x="5038" y="1023"/>
                  </a:cubicBezTo>
                  <a:lnTo>
                    <a:pt x="3233" y="171"/>
                  </a:lnTo>
                  <a:cubicBezTo>
                    <a:pt x="2988" y="55"/>
                    <a:pt x="2729" y="1"/>
                    <a:pt x="2474" y="1"/>
                  </a:cubicBez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1333;p51">
              <a:extLst>
                <a:ext uri="{FF2B5EF4-FFF2-40B4-BE49-F238E27FC236}">
                  <a16:creationId xmlns:a16="http://schemas.microsoft.com/office/drawing/2014/main" id="{AC12DC97-82A0-233A-77CF-A6B895759CAD}"/>
                </a:ext>
              </a:extLst>
            </p:cNvPr>
            <p:cNvSpPr/>
            <p:nvPr/>
          </p:nvSpPr>
          <p:spPr>
            <a:xfrm>
              <a:off x="8120800" y="3094575"/>
              <a:ext cx="347150" cy="305100"/>
            </a:xfrm>
            <a:custGeom>
              <a:avLst/>
              <a:gdLst/>
              <a:ahLst/>
              <a:cxnLst/>
              <a:rect l="l" t="t" r="r" b="b"/>
              <a:pathLst>
                <a:path w="13886" h="12204" extrusionOk="0">
                  <a:moveTo>
                    <a:pt x="6949" y="0"/>
                  </a:moveTo>
                  <a:cubicBezTo>
                    <a:pt x="4656" y="0"/>
                    <a:pt x="2467" y="1304"/>
                    <a:pt x="1429" y="3508"/>
                  </a:cubicBezTo>
                  <a:cubicBezTo>
                    <a:pt x="0" y="6565"/>
                    <a:pt x="1304" y="10199"/>
                    <a:pt x="4361" y="11628"/>
                  </a:cubicBezTo>
                  <a:cubicBezTo>
                    <a:pt x="5190" y="12019"/>
                    <a:pt x="6064" y="12203"/>
                    <a:pt x="6926" y="12203"/>
                  </a:cubicBezTo>
                  <a:cubicBezTo>
                    <a:pt x="9216" y="12203"/>
                    <a:pt x="11419" y="10899"/>
                    <a:pt x="12457" y="8696"/>
                  </a:cubicBezTo>
                  <a:cubicBezTo>
                    <a:pt x="13885" y="5638"/>
                    <a:pt x="12557" y="2004"/>
                    <a:pt x="9524" y="575"/>
                  </a:cubicBezTo>
                  <a:cubicBezTo>
                    <a:pt x="8688" y="185"/>
                    <a:pt x="7811" y="0"/>
                    <a:pt x="6949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1334;p51">
              <a:extLst>
                <a:ext uri="{FF2B5EF4-FFF2-40B4-BE49-F238E27FC236}">
                  <a16:creationId xmlns:a16="http://schemas.microsoft.com/office/drawing/2014/main" id="{BBF86D39-3C4A-4EF1-8BC7-0C4D97D83869}"/>
                </a:ext>
              </a:extLst>
            </p:cNvPr>
            <p:cNvSpPr/>
            <p:nvPr/>
          </p:nvSpPr>
          <p:spPr>
            <a:xfrm>
              <a:off x="8179700" y="3146925"/>
              <a:ext cx="228725" cy="200375"/>
            </a:xfrm>
            <a:custGeom>
              <a:avLst/>
              <a:gdLst/>
              <a:ahLst/>
              <a:cxnLst/>
              <a:rect l="l" t="t" r="r" b="b"/>
              <a:pathLst>
                <a:path w="9149" h="8015" extrusionOk="0">
                  <a:moveTo>
                    <a:pt x="4587" y="1"/>
                  </a:moveTo>
                  <a:cubicBezTo>
                    <a:pt x="3076" y="1"/>
                    <a:pt x="1625" y="862"/>
                    <a:pt x="953" y="2316"/>
                  </a:cubicBezTo>
                  <a:cubicBezTo>
                    <a:pt x="0" y="4321"/>
                    <a:pt x="878" y="6702"/>
                    <a:pt x="2883" y="7629"/>
                  </a:cubicBezTo>
                  <a:cubicBezTo>
                    <a:pt x="3433" y="7891"/>
                    <a:pt x="4013" y="8014"/>
                    <a:pt x="4583" y="8014"/>
                  </a:cubicBezTo>
                  <a:cubicBezTo>
                    <a:pt x="6088" y="8014"/>
                    <a:pt x="7530" y="7154"/>
                    <a:pt x="8221" y="5699"/>
                  </a:cubicBezTo>
                  <a:cubicBezTo>
                    <a:pt x="9148" y="3694"/>
                    <a:pt x="8296" y="1313"/>
                    <a:pt x="6291" y="386"/>
                  </a:cubicBezTo>
                  <a:cubicBezTo>
                    <a:pt x="5740" y="124"/>
                    <a:pt x="5159" y="1"/>
                    <a:pt x="4587" y="1"/>
                  </a:cubicBezTo>
                  <a:close/>
                </a:path>
              </a:pathLst>
            </a:custGeom>
            <a:solidFill>
              <a:srgbClr val="7942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1335;p51">
              <a:extLst>
                <a:ext uri="{FF2B5EF4-FFF2-40B4-BE49-F238E27FC236}">
                  <a16:creationId xmlns:a16="http://schemas.microsoft.com/office/drawing/2014/main" id="{FF66DCE6-EAB9-985D-8BB0-795A9BE15328}"/>
                </a:ext>
              </a:extLst>
            </p:cNvPr>
            <p:cNvSpPr/>
            <p:nvPr/>
          </p:nvSpPr>
          <p:spPr>
            <a:xfrm>
              <a:off x="7752375" y="3123350"/>
              <a:ext cx="69575" cy="209300"/>
            </a:xfrm>
            <a:custGeom>
              <a:avLst/>
              <a:gdLst/>
              <a:ahLst/>
              <a:cxnLst/>
              <a:rect l="l" t="t" r="r" b="b"/>
              <a:pathLst>
                <a:path w="2783" h="8372" extrusionOk="0">
                  <a:moveTo>
                    <a:pt x="2783" y="1"/>
                  </a:moveTo>
                  <a:cubicBezTo>
                    <a:pt x="2081" y="2883"/>
                    <a:pt x="1128" y="5715"/>
                    <a:pt x="1" y="8372"/>
                  </a:cubicBezTo>
                  <a:cubicBezTo>
                    <a:pt x="1128" y="5715"/>
                    <a:pt x="2081" y="2908"/>
                    <a:pt x="2783" y="1"/>
                  </a:cubicBezTo>
                  <a:close/>
                </a:path>
              </a:pathLst>
            </a:custGeom>
            <a:solidFill>
              <a:srgbClr val="5272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1336;p51">
              <a:extLst>
                <a:ext uri="{FF2B5EF4-FFF2-40B4-BE49-F238E27FC236}">
                  <a16:creationId xmlns:a16="http://schemas.microsoft.com/office/drawing/2014/main" id="{04E925E0-1955-BCFC-B66B-C39C6588C385}"/>
                </a:ext>
              </a:extLst>
            </p:cNvPr>
            <p:cNvSpPr/>
            <p:nvPr/>
          </p:nvSpPr>
          <p:spPr>
            <a:xfrm>
              <a:off x="7842600" y="2979875"/>
              <a:ext cx="5675" cy="40750"/>
            </a:xfrm>
            <a:custGeom>
              <a:avLst/>
              <a:gdLst/>
              <a:ahLst/>
              <a:cxnLst/>
              <a:rect l="l" t="t" r="r" b="b"/>
              <a:pathLst>
                <a:path w="227" h="1630" extrusionOk="0">
                  <a:moveTo>
                    <a:pt x="1" y="1629"/>
                  </a:moveTo>
                  <a:lnTo>
                    <a:pt x="1" y="1629"/>
                  </a:lnTo>
                  <a:cubicBezTo>
                    <a:pt x="76" y="1103"/>
                    <a:pt x="151" y="552"/>
                    <a:pt x="226" y="25"/>
                  </a:cubicBezTo>
                  <a:cubicBezTo>
                    <a:pt x="151" y="552"/>
                    <a:pt x="76" y="1103"/>
                    <a:pt x="1" y="1629"/>
                  </a:cubicBezTo>
                  <a:close/>
                  <a:moveTo>
                    <a:pt x="226" y="25"/>
                  </a:moveTo>
                  <a:cubicBezTo>
                    <a:pt x="226" y="25"/>
                    <a:pt x="226" y="0"/>
                    <a:pt x="226" y="0"/>
                  </a:cubicBezTo>
                  <a:cubicBezTo>
                    <a:pt x="226" y="0"/>
                    <a:pt x="226" y="25"/>
                    <a:pt x="226" y="25"/>
                  </a:cubicBezTo>
                  <a:close/>
                </a:path>
              </a:pathLst>
            </a:custGeom>
            <a:solidFill>
              <a:srgbClr val="F57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1337;p51">
              <a:extLst>
                <a:ext uri="{FF2B5EF4-FFF2-40B4-BE49-F238E27FC236}">
                  <a16:creationId xmlns:a16="http://schemas.microsoft.com/office/drawing/2014/main" id="{58EA2742-C970-DD7D-FFAE-82BC2D19B7CA}"/>
                </a:ext>
              </a:extLst>
            </p:cNvPr>
            <p:cNvSpPr/>
            <p:nvPr/>
          </p:nvSpPr>
          <p:spPr>
            <a:xfrm>
              <a:off x="7821925" y="3020600"/>
              <a:ext cx="20700" cy="102775"/>
            </a:xfrm>
            <a:custGeom>
              <a:avLst/>
              <a:gdLst/>
              <a:ahLst/>
              <a:cxnLst/>
              <a:rect l="l" t="t" r="r" b="b"/>
              <a:pathLst>
                <a:path w="828" h="4111" extrusionOk="0">
                  <a:moveTo>
                    <a:pt x="1" y="4111"/>
                  </a:moveTo>
                  <a:lnTo>
                    <a:pt x="1" y="4111"/>
                  </a:lnTo>
                  <a:cubicBezTo>
                    <a:pt x="326" y="2757"/>
                    <a:pt x="602" y="1379"/>
                    <a:pt x="828" y="0"/>
                  </a:cubicBezTo>
                  <a:lnTo>
                    <a:pt x="828" y="0"/>
                  </a:lnTo>
                  <a:cubicBezTo>
                    <a:pt x="602" y="1379"/>
                    <a:pt x="326" y="2757"/>
                    <a:pt x="1" y="4111"/>
                  </a:cubicBezTo>
                  <a:close/>
                </a:path>
              </a:pathLst>
            </a:custGeom>
            <a:solidFill>
              <a:srgbClr val="151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1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15619-BE95-B6ED-D705-190DBCE8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0" y="0"/>
            <a:ext cx="4840010" cy="1807305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EF324B"/>
                </a:solidFill>
                <a:latin typeface="Atlata"/>
                <a:cs typeface="Calibri Light"/>
              </a:rPr>
              <a:t>Urina</a:t>
            </a:r>
            <a:r>
              <a:rPr lang="en-US" sz="4000" b="1" dirty="0">
                <a:solidFill>
                  <a:srgbClr val="EF324B"/>
                </a:solidFill>
                <a:latin typeface="Atlata"/>
                <a:cs typeface="Calibri Light"/>
              </a:rPr>
              <a:t> </a:t>
            </a:r>
            <a:endParaRPr lang="en-US" sz="4000" b="1" dirty="0">
              <a:solidFill>
                <a:srgbClr val="EF324B"/>
              </a:solidFill>
              <a:latin typeface="Atlat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328DB-53A6-B8B5-D614-9407324001B2}"/>
              </a:ext>
            </a:extLst>
          </p:cNvPr>
          <p:cNvSpPr txBox="1"/>
          <p:nvPr/>
        </p:nvSpPr>
        <p:spPr>
          <a:xfrm>
            <a:off x="597159" y="1446245"/>
            <a:ext cx="107022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Produto</a:t>
            </a:r>
            <a:r>
              <a:rPr lang="en-US" sz="2000" dirty="0"/>
              <a:t> </a:t>
            </a:r>
            <a:r>
              <a:rPr lang="en-US" sz="2000" dirty="0" err="1"/>
              <a:t>biológico</a:t>
            </a:r>
            <a:r>
              <a:rPr lang="en-US" sz="2000" dirty="0"/>
              <a:t> fundamental para </a:t>
            </a:r>
            <a:r>
              <a:rPr lang="en-US" sz="2000" dirty="0" err="1"/>
              <a:t>estudar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processos</a:t>
            </a:r>
            <a:r>
              <a:rPr lang="en-US" sz="2000" dirty="0"/>
              <a:t> e </a:t>
            </a:r>
            <a:r>
              <a:rPr lang="en-US" sz="2000" dirty="0" err="1"/>
              <a:t>monitorização</a:t>
            </a:r>
            <a:r>
              <a:rPr lang="en-US" sz="2000" dirty="0"/>
              <a:t>  das </a:t>
            </a:r>
            <a:r>
              <a:rPr lang="en-US" sz="2000" dirty="0" err="1"/>
              <a:t>doenças</a:t>
            </a:r>
            <a:r>
              <a:rPr lang="en-US" sz="2000" dirty="0"/>
              <a:t>.</a:t>
            </a:r>
          </a:p>
          <a:p>
            <a:pPr lvl="0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Formada</a:t>
            </a:r>
            <a:r>
              <a:rPr lang="en-US" sz="2000" dirty="0"/>
              <a:t> no rim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ultrafiltração</a:t>
            </a:r>
            <a:r>
              <a:rPr lang="en-US" sz="2000" dirty="0"/>
              <a:t> do plasma, para </a:t>
            </a:r>
            <a:r>
              <a:rPr lang="en-US" sz="2000" dirty="0" err="1"/>
              <a:t>eliminar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produtos</a:t>
            </a:r>
            <a:r>
              <a:rPr lang="en-US" sz="2000" dirty="0"/>
              <a:t> </a:t>
            </a:r>
            <a:r>
              <a:rPr lang="en-US" sz="2000" dirty="0" err="1"/>
              <a:t>metabólicos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Proteómicas</a:t>
            </a:r>
            <a:r>
              <a:rPr lang="en-US" sz="2000" dirty="0"/>
              <a:t> da </a:t>
            </a:r>
            <a:r>
              <a:rPr lang="en-US" sz="2000" dirty="0" err="1"/>
              <a:t>urina</a:t>
            </a:r>
            <a:r>
              <a:rPr lang="en-US" sz="2000" dirty="0"/>
              <a:t> </a:t>
            </a:r>
            <a:r>
              <a:rPr lang="en-US" sz="2000" dirty="0" err="1"/>
              <a:t>combinam</a:t>
            </a:r>
            <a:r>
              <a:rPr lang="en-US" sz="2000" dirty="0"/>
              <a:t> </a:t>
            </a:r>
            <a:r>
              <a:rPr lang="en-US" sz="2000" dirty="0" err="1"/>
              <a:t>várias</a:t>
            </a:r>
            <a:r>
              <a:rPr lang="en-US" sz="2000" dirty="0"/>
              <a:t> </a:t>
            </a:r>
            <a:r>
              <a:rPr lang="en-US" sz="2000" dirty="0" err="1"/>
              <a:t>concentrações</a:t>
            </a:r>
            <a:r>
              <a:rPr lang="en-US" sz="2000" dirty="0"/>
              <a:t> de </a:t>
            </a:r>
            <a:r>
              <a:rPr lang="en-US" sz="2000" dirty="0" err="1"/>
              <a:t>proteinas</a:t>
            </a:r>
            <a:r>
              <a:rPr lang="en-US" sz="2000" dirty="0"/>
              <a:t> , </a:t>
            </a:r>
            <a:r>
              <a:rPr lang="en-US" sz="2000" dirty="0" err="1"/>
              <a:t>sendo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fonte</a:t>
            </a:r>
            <a:r>
              <a:rPr lang="en-US" sz="2000" dirty="0"/>
              <a:t> </a:t>
            </a:r>
            <a:r>
              <a:rPr lang="en-US" sz="2000" dirty="0" err="1"/>
              <a:t>complexa</a:t>
            </a:r>
            <a:r>
              <a:rPr lang="en-US" sz="2000" dirty="0"/>
              <a:t> de </a:t>
            </a:r>
            <a:r>
              <a:rPr lang="en-US" sz="2000" dirty="0" err="1"/>
              <a:t>estudo</a:t>
            </a:r>
            <a:r>
              <a:rPr lang="en-US" sz="2000" dirty="0"/>
              <a:t>.  </a:t>
            </a:r>
          </a:p>
        </p:txBody>
      </p:sp>
      <p:pic>
        <p:nvPicPr>
          <p:cNvPr id="1026" name="Picture 2" descr="Amostra de urina - ícones de saúde e médico grátis">
            <a:extLst>
              <a:ext uri="{FF2B5EF4-FFF2-40B4-BE49-F238E27FC236}">
                <a16:creationId xmlns:a16="http://schemas.microsoft.com/office/drawing/2014/main" id="{32166D54-4559-A3C9-DC9E-BCA7EAB75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131" y="3813242"/>
            <a:ext cx="2754549" cy="275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90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C9CC-66D6-7982-40C7-E438416C6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80" y="7492736"/>
            <a:ext cx="10515600" cy="22637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O </a:t>
            </a:r>
            <a:r>
              <a:rPr lang="en-US" err="1">
                <a:ea typeface="+mn-lt"/>
                <a:cs typeface="+mn-lt"/>
              </a:rPr>
              <a:t>proteoma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urinário</a:t>
            </a:r>
            <a:r>
              <a:rPr lang="en-US">
                <a:ea typeface="+mn-lt"/>
                <a:cs typeface="+mn-lt"/>
              </a:rPr>
              <a:t> de </a:t>
            </a:r>
            <a:r>
              <a:rPr lang="en-US" err="1">
                <a:ea typeface="+mn-lt"/>
                <a:cs typeface="+mn-lt"/>
              </a:rPr>
              <a:t>pacientes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hipertensos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classificados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como</a:t>
            </a:r>
            <a:r>
              <a:rPr lang="en-US">
                <a:ea typeface="+mn-lt"/>
                <a:cs typeface="+mn-lt"/>
              </a:rPr>
              <a:t> SS </a:t>
            </a:r>
            <a:r>
              <a:rPr lang="en-US" err="1">
                <a:ea typeface="+mn-lt"/>
                <a:cs typeface="+mn-lt"/>
              </a:rPr>
              <a:t>ou</a:t>
            </a:r>
            <a:r>
              <a:rPr lang="en-US">
                <a:ea typeface="+mn-lt"/>
                <a:cs typeface="+mn-lt"/>
              </a:rPr>
              <a:t> SR </a:t>
            </a:r>
            <a:r>
              <a:rPr lang="en-US" err="1">
                <a:ea typeface="+mn-lt"/>
                <a:cs typeface="+mn-lt"/>
              </a:rPr>
              <a:t>informações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importantes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sobre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fisiopatologia</a:t>
            </a:r>
            <a:r>
              <a:rPr lang="en-US">
                <a:ea typeface="+mn-lt"/>
                <a:cs typeface="+mn-lt"/>
              </a:rPr>
              <a:t> da </a:t>
            </a:r>
            <a:r>
              <a:rPr lang="en-US" err="1">
                <a:ea typeface="+mn-lt"/>
                <a:cs typeface="+mn-lt"/>
              </a:rPr>
              <a:t>hipertensão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como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resultado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deste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estudo</a:t>
            </a:r>
            <a:r>
              <a:rPr lang="en-US">
                <a:ea typeface="+mn-lt"/>
                <a:cs typeface="+mn-lt"/>
              </a:rPr>
              <a:t> </a:t>
            </a:r>
            <a:endParaRPr lang="en-US"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37580-5C65-CB30-16D6-B1B86D44BC40}"/>
              </a:ext>
            </a:extLst>
          </p:cNvPr>
          <p:cNvSpPr txBox="1"/>
          <p:nvPr/>
        </p:nvSpPr>
        <p:spPr>
          <a:xfrm>
            <a:off x="422787" y="39445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PT" sz="4000" b="1" i="0" u="none" strike="noStrike" kern="1200" cap="none" spc="0" normalizeH="0" baseline="0" noProof="0" err="1">
                <a:ln>
                  <a:noFill/>
                </a:ln>
                <a:solidFill>
                  <a:srgbClr val="EF324B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  <a:t>VOSviewer</a:t>
            </a:r>
            <a:endParaRPr lang="en-GB" sz="2800" b="1">
              <a:solidFill>
                <a:srgbClr val="EF324B"/>
              </a:solidFill>
              <a:latin typeface="Alata" panose="020B060402020202020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FD1508F-F4D0-E4C5-8855-FC176AA73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487" y="1460240"/>
            <a:ext cx="5956294" cy="45349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87C825-D444-4100-DBB0-32EBC0D2CA99}"/>
              </a:ext>
            </a:extLst>
          </p:cNvPr>
          <p:cNvSpPr txBox="1"/>
          <p:nvPr/>
        </p:nvSpPr>
        <p:spPr>
          <a:xfrm>
            <a:off x="6751648" y="6236121"/>
            <a:ext cx="518160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600">
                <a:latin typeface="+mj-lt"/>
              </a:rPr>
              <a:t>F</a:t>
            </a:r>
            <a:r>
              <a:rPr lang="pt-PT" sz="1200">
                <a:latin typeface="+mj-lt"/>
              </a:rPr>
              <a:t>igura 1. Rede </a:t>
            </a:r>
            <a:r>
              <a:rPr lang="pt-PT" sz="1200" err="1">
                <a:latin typeface="+mj-lt"/>
              </a:rPr>
              <a:t>bibliométrica</a:t>
            </a:r>
            <a:r>
              <a:rPr lang="pt-PT" sz="1200">
                <a:latin typeface="+mj-lt"/>
              </a:rPr>
              <a:t> da hipertensão </a:t>
            </a:r>
            <a:endParaRPr lang="en-GB" sz="1200">
              <a:latin typeface="+mj-lt"/>
              <a:cs typeface="Calibri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EA45A-6D43-F97E-98F6-23C804674903}"/>
              </a:ext>
            </a:extLst>
          </p:cNvPr>
          <p:cNvSpPr txBox="1"/>
          <p:nvPr/>
        </p:nvSpPr>
        <p:spPr>
          <a:xfrm>
            <a:off x="102637" y="1819469"/>
            <a:ext cx="5271796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>
                <a:latin typeface="+mj-lt"/>
              </a:rPr>
              <a:t>Ferramenta de software que permite a construção e visualização de redes de bibliometria. Estas redes podem, por exemplo, incluir revistas cientificas, investigadores, publicações individuais, citações, etc.</a:t>
            </a:r>
          </a:p>
          <a:p>
            <a:pPr algn="just"/>
            <a:endParaRPr lang="pt-PT" sz="200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>
                <a:latin typeface="+mj-lt"/>
              </a:rPr>
              <a:t>Relativamente à hipertensão, foram encontradas várias conexões interessantes nomeadamente a </a:t>
            </a:r>
            <a:r>
              <a:rPr lang="pt-PT" sz="2000" err="1">
                <a:latin typeface="+mj-lt"/>
              </a:rPr>
              <a:t>pré-enclampsia</a:t>
            </a:r>
            <a:r>
              <a:rPr lang="pt-PT" sz="2000">
                <a:latin typeface="+mj-lt"/>
              </a:rPr>
              <a:t>, inflamação, gravidez, AVC , diabetes e doenças cardiovasculares.</a:t>
            </a:r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972A29-F097-D092-6314-D1CF0A61D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884" y="259019"/>
            <a:ext cx="28575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1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016989-CD02-F47A-9100-540C754559D4}"/>
              </a:ext>
            </a:extLst>
          </p:cNvPr>
          <p:cNvSpPr txBox="1"/>
          <p:nvPr/>
        </p:nvSpPr>
        <p:spPr>
          <a:xfrm>
            <a:off x="206478" y="135611"/>
            <a:ext cx="1007806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 b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Base de dados (</a:t>
            </a:r>
            <a:r>
              <a:rPr lang="en-GB" sz="2400" b="1" err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proteínas</a:t>
            </a:r>
            <a:r>
              <a:rPr lang="en-GB" sz="2400" b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 </a:t>
            </a:r>
            <a:r>
              <a:rPr lang="en-GB" sz="2400" b="1" err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expressas</a:t>
            </a:r>
            <a:r>
              <a:rPr lang="en-GB" sz="2400" b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 </a:t>
            </a:r>
            <a:r>
              <a:rPr lang="en-GB" sz="2400" b="1" err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na</a:t>
            </a:r>
            <a:r>
              <a:rPr lang="en-GB" sz="2400" b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 </a:t>
            </a:r>
            <a:r>
              <a:rPr lang="en-GB" sz="2400" b="1" err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urina</a:t>
            </a:r>
            <a:r>
              <a:rPr lang="en-GB" sz="2400" b="1">
                <a:solidFill>
                  <a:srgbClr val="EF324B"/>
                </a:solidFill>
                <a:latin typeface="Atlata"/>
                <a:ea typeface="+mj-ea"/>
                <a:cs typeface="+mj-cs"/>
              </a:rPr>
              <a:t>)</a:t>
            </a:r>
            <a:endParaRPr lang="en-GB" sz="2400" b="1">
              <a:latin typeface="Atlat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B83B5D-73EF-E84A-C96A-078CECAF2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24" y="1755612"/>
            <a:ext cx="2846052" cy="4670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FE8562-D766-8F7F-371E-9B6C84721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096" y="1755612"/>
            <a:ext cx="3439474" cy="4670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CB24EF-A7CE-8311-B833-B73AD0DD1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690" y="1756093"/>
            <a:ext cx="3299319" cy="46176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C1FAFE-566D-F6FA-DF22-8B813B1722AB}"/>
              </a:ext>
            </a:extLst>
          </p:cNvPr>
          <p:cNvSpPr txBox="1"/>
          <p:nvPr/>
        </p:nvSpPr>
        <p:spPr>
          <a:xfrm>
            <a:off x="113713" y="974614"/>
            <a:ext cx="3169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>
                <a:latin typeface="+mj-lt"/>
              </a:rPr>
              <a:t>Pacientes hipertensos (SS+SR) </a:t>
            </a:r>
          </a:p>
          <a:p>
            <a:pPr algn="ctr"/>
            <a:r>
              <a:rPr lang="pt-PT" sz="1400" err="1">
                <a:latin typeface="+mj-lt"/>
              </a:rPr>
              <a:t>vs</a:t>
            </a:r>
            <a:r>
              <a:rPr lang="pt-PT" sz="1400">
                <a:latin typeface="+mj-lt"/>
              </a:rPr>
              <a:t> </a:t>
            </a:r>
          </a:p>
          <a:p>
            <a:pPr algn="ctr"/>
            <a:r>
              <a:rPr lang="pt-PT" sz="1400">
                <a:latin typeface="+mj-lt"/>
              </a:rPr>
              <a:t>indivíduos saudáveis</a:t>
            </a:r>
            <a:endParaRPr lang="en-GB" sz="140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ACB86C-03DE-D763-5141-5A3576CEB191}"/>
              </a:ext>
            </a:extLst>
          </p:cNvPr>
          <p:cNvSpPr txBox="1"/>
          <p:nvPr/>
        </p:nvSpPr>
        <p:spPr>
          <a:xfrm>
            <a:off x="4090362" y="932281"/>
            <a:ext cx="35807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>
                <a:latin typeface="+mj-lt"/>
              </a:rPr>
              <a:t>Pacientes sensíveis ao sal (SS) </a:t>
            </a:r>
          </a:p>
          <a:p>
            <a:pPr algn="ctr"/>
            <a:r>
              <a:rPr lang="pt-PT" sz="1400" err="1">
                <a:latin typeface="+mj-lt"/>
              </a:rPr>
              <a:t>vs</a:t>
            </a:r>
            <a:r>
              <a:rPr lang="pt-PT" sz="1400">
                <a:latin typeface="+mj-lt"/>
              </a:rPr>
              <a:t> </a:t>
            </a:r>
          </a:p>
          <a:p>
            <a:pPr algn="ctr"/>
            <a:r>
              <a:rPr lang="pt-PT" sz="1400">
                <a:latin typeface="+mj-lt"/>
              </a:rPr>
              <a:t>indivíduos saudáveis e resistentes ao sal (SR)</a:t>
            </a:r>
            <a:endParaRPr lang="en-GB" sz="140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6C46D-72AC-19A2-1AA0-5D3E5145E100}"/>
              </a:ext>
            </a:extLst>
          </p:cNvPr>
          <p:cNvSpPr txBox="1"/>
          <p:nvPr/>
        </p:nvSpPr>
        <p:spPr>
          <a:xfrm>
            <a:off x="8327488" y="932111"/>
            <a:ext cx="39255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>
                <a:latin typeface="+mj-lt"/>
              </a:rPr>
              <a:t>Pacientes com resistência ao sal (SR) </a:t>
            </a:r>
          </a:p>
          <a:p>
            <a:pPr algn="ctr"/>
            <a:r>
              <a:rPr lang="pt-PT" sz="1400" err="1">
                <a:latin typeface="+mj-lt"/>
              </a:rPr>
              <a:t>vs</a:t>
            </a:r>
            <a:r>
              <a:rPr lang="pt-PT" sz="1400">
                <a:latin typeface="+mj-lt"/>
              </a:rPr>
              <a:t> </a:t>
            </a:r>
          </a:p>
          <a:p>
            <a:pPr algn="ctr"/>
            <a:r>
              <a:rPr lang="pt-PT" sz="1400">
                <a:latin typeface="+mj-lt"/>
              </a:rPr>
              <a:t>indivíduos saudáveis e pacientes sensíveis ao sal (SS)</a:t>
            </a:r>
            <a:endParaRPr lang="en-GB" sz="1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6544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D6E5D8-2775-030F-AFEF-EF1A528CA465}"/>
              </a:ext>
            </a:extLst>
          </p:cNvPr>
          <p:cNvSpPr txBox="1"/>
          <p:nvPr/>
        </p:nvSpPr>
        <p:spPr>
          <a:xfrm>
            <a:off x="344129" y="42592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4000" b="1" kern="0" err="1">
                <a:solidFill>
                  <a:srgbClr val="EF324B"/>
                </a:solidFill>
                <a:latin typeface="Alata"/>
                <a:ea typeface="+mj-ea"/>
                <a:cs typeface="+mj-cs"/>
                <a:sym typeface="Alata"/>
              </a:rPr>
              <a:t>Uniprot</a:t>
            </a:r>
            <a:endParaRPr lang="en-GB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585335-2F35-5C6A-84B1-93ADEC94A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1745215"/>
            <a:ext cx="2948004" cy="492597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379325C-717D-E564-B8AE-C10213E42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141" y="2714446"/>
            <a:ext cx="2948004" cy="153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FDCE08-D41B-2061-AABB-5418C4E68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226" y="1676702"/>
            <a:ext cx="5484915" cy="253149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0803B4-CF1E-039D-FCD2-3394A30879D3}"/>
              </a:ext>
            </a:extLst>
          </p:cNvPr>
          <p:cNvCxnSpPr/>
          <p:nvPr/>
        </p:nvCxnSpPr>
        <p:spPr>
          <a:xfrm flipV="1">
            <a:off x="824753" y="4043082"/>
            <a:ext cx="3074894" cy="1577789"/>
          </a:xfrm>
          <a:prstGeom prst="straightConnector1">
            <a:avLst/>
          </a:prstGeom>
          <a:ln>
            <a:solidFill>
              <a:srgbClr val="CF1E2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AA87B2E-F7B9-917D-24A2-EBDEC5FD5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647" y="4597775"/>
            <a:ext cx="5596815" cy="1834302"/>
          </a:xfrm>
          <a:prstGeom prst="rect">
            <a:avLst/>
          </a:prstGeom>
        </p:spPr>
      </p:pic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E0F39A51-1DFC-F2E8-FACA-E868BE2519ED}"/>
              </a:ext>
            </a:extLst>
          </p:cNvPr>
          <p:cNvSpPr/>
          <p:nvPr/>
        </p:nvSpPr>
        <p:spPr>
          <a:xfrm>
            <a:off x="4661647" y="4446494"/>
            <a:ext cx="609600" cy="1416424"/>
          </a:xfrm>
          <a:prstGeom prst="curvedRightArrow">
            <a:avLst/>
          </a:prstGeom>
          <a:solidFill>
            <a:srgbClr val="EF324B"/>
          </a:solidFill>
          <a:ln>
            <a:solidFill>
              <a:srgbClr val="CF1E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683069-FCFA-8373-930A-CAA171D3DBBE}"/>
              </a:ext>
            </a:extLst>
          </p:cNvPr>
          <p:cNvSpPr/>
          <p:nvPr/>
        </p:nvSpPr>
        <p:spPr>
          <a:xfrm>
            <a:off x="9654989" y="5432612"/>
            <a:ext cx="1075764" cy="1050502"/>
          </a:xfrm>
          <a:prstGeom prst="ellipse">
            <a:avLst/>
          </a:prstGeom>
          <a:noFill/>
          <a:ln w="9525" cap="flat" cmpd="sng" algn="ctr">
            <a:solidFill>
              <a:srgbClr val="CF1E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292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F53CA2-69E8-FA4B-4A75-F86D365143BD}"/>
              </a:ext>
            </a:extLst>
          </p:cNvPr>
          <p:cNvSpPr txBox="1"/>
          <p:nvPr/>
        </p:nvSpPr>
        <p:spPr>
          <a:xfrm>
            <a:off x="517706" y="-376847"/>
            <a:ext cx="1262452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</a:b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rgbClr val="EF324B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  <a:t>STRING</a:t>
            </a:r>
          </a:p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E135A-B6E3-7120-DAFF-021FB74A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63" y="2259259"/>
            <a:ext cx="4362872" cy="3551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973815-95B7-2A38-AD90-958D10F65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146" y="2168393"/>
            <a:ext cx="3505124" cy="3610701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CCD5694A-68BD-7FA3-5E9F-1A8548553BDA}"/>
              </a:ext>
            </a:extLst>
          </p:cNvPr>
          <p:cNvSpPr/>
          <p:nvPr/>
        </p:nvSpPr>
        <p:spPr>
          <a:xfrm>
            <a:off x="4696583" y="3947745"/>
            <a:ext cx="1125415" cy="386862"/>
          </a:xfrm>
          <a:prstGeom prst="rightArrow">
            <a:avLst/>
          </a:prstGeom>
          <a:solidFill>
            <a:srgbClr val="EF324B"/>
          </a:solidFill>
          <a:ln>
            <a:solidFill>
              <a:srgbClr val="CF1E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A68F74-673F-B6F6-E254-DB3EC04BB161}"/>
              </a:ext>
            </a:extLst>
          </p:cNvPr>
          <p:cNvSpPr txBox="1"/>
          <p:nvPr/>
        </p:nvSpPr>
        <p:spPr>
          <a:xfrm>
            <a:off x="166563" y="977370"/>
            <a:ext cx="12139109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PT">
                <a:solidFill>
                  <a:srgbClr val="521C15"/>
                </a:solidFill>
                <a:latin typeface="Calibri Light" panose="020F0302020204030204"/>
                <a:ea typeface="+mj-ea"/>
                <a:cs typeface="+mj-cs"/>
              </a:rPr>
              <a:t>1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.Proteínas expressas na urina em pacientes hipertensos (SS+SR) </a:t>
            </a:r>
            <a:r>
              <a:rPr kumimoji="0" lang="pt-PT" sz="1800" b="0" i="1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versus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indivíduos saudáveis</a:t>
            </a:r>
            <a:endParaRPr kumimoji="0" lang="pt-PT" sz="2400" b="0" i="0" u="none" strike="noStrike" kern="1200" cap="none" spc="0" normalizeH="0" baseline="0" noProof="0">
              <a:ln>
                <a:noFill/>
              </a:ln>
              <a:solidFill>
                <a:srgbClr val="521C15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8506BA-7A6D-2BE8-6F9B-081D8AFF9C92}"/>
              </a:ext>
            </a:extLst>
          </p:cNvPr>
          <p:cNvSpPr txBox="1"/>
          <p:nvPr/>
        </p:nvSpPr>
        <p:spPr>
          <a:xfrm>
            <a:off x="517706" y="5880630"/>
            <a:ext cx="444795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alibri Light"/>
                <a:ea typeface="Open Sans"/>
                <a:cs typeface="Calibri"/>
              </a:rPr>
              <a:t>Fig.2 – </a:t>
            </a:r>
            <a:r>
              <a:rPr lang="en-US" sz="1000" err="1">
                <a:latin typeface="Calibri Light"/>
                <a:ea typeface="Open Sans"/>
                <a:cs typeface="Calibri"/>
              </a:rPr>
              <a:t>Imagem</a:t>
            </a:r>
            <a:r>
              <a:rPr lang="en-US" sz="1000">
                <a:latin typeface="Calibri Light"/>
                <a:ea typeface="Open Sans"/>
                <a:cs typeface="Calibri"/>
              </a:rPr>
              <a:t> </a:t>
            </a:r>
            <a:r>
              <a:rPr lang="en-US" sz="1000" err="1">
                <a:latin typeface="Calibri Light"/>
                <a:ea typeface="Open Sans"/>
                <a:cs typeface="Calibri"/>
              </a:rPr>
              <a:t>obtida</a:t>
            </a:r>
            <a:r>
              <a:rPr lang="en-US" sz="1000">
                <a:latin typeface="Calibri Light"/>
                <a:ea typeface="Open Sans"/>
                <a:cs typeface="Calibri"/>
              </a:rPr>
              <a:t> no String pela </a:t>
            </a:r>
            <a:r>
              <a:rPr lang="en-US" sz="1000" err="1">
                <a:latin typeface="Calibri Light"/>
                <a:ea typeface="Open Sans"/>
                <a:cs typeface="Calibri"/>
              </a:rPr>
              <a:t>inserção</a:t>
            </a:r>
            <a:r>
              <a:rPr lang="en-US" sz="1000">
                <a:latin typeface="Calibri Light"/>
                <a:ea typeface="Open Sans"/>
                <a:cs typeface="Calibri"/>
              </a:rPr>
              <a:t> das </a:t>
            </a:r>
            <a:r>
              <a:rPr lang="en-US" sz="1000" err="1">
                <a:latin typeface="Calibri Light"/>
                <a:ea typeface="Open Sans"/>
                <a:cs typeface="Calibri"/>
              </a:rPr>
              <a:t>proteínas</a:t>
            </a:r>
            <a:r>
              <a:rPr lang="en-US" sz="1000">
                <a:latin typeface="Calibri Light"/>
                <a:ea typeface="Open Sans"/>
                <a:cs typeface="Calibri"/>
              </a:rPr>
              <a:t>. </a:t>
            </a:r>
            <a:endParaRPr lang="en-US" sz="1000">
              <a:latin typeface="Calibri Light"/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7C5FD-1AFB-2FE3-3E50-AE349E41BFA0}"/>
              </a:ext>
            </a:extLst>
          </p:cNvPr>
          <p:cNvSpPr txBox="1"/>
          <p:nvPr/>
        </p:nvSpPr>
        <p:spPr>
          <a:xfrm>
            <a:off x="6096000" y="5880629"/>
            <a:ext cx="397834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Calibri Light"/>
                <a:cs typeface="Calibri"/>
              </a:rPr>
              <a:t>Fig. 3 – Rede do String </a:t>
            </a:r>
            <a:r>
              <a:rPr lang="en-US" sz="1000" err="1">
                <a:latin typeface="Calibri Light"/>
                <a:cs typeface="Calibri"/>
              </a:rPr>
              <a:t>numa</a:t>
            </a:r>
            <a:r>
              <a:rPr lang="en-US" sz="1000">
                <a:latin typeface="Calibri Light"/>
                <a:cs typeface="Calibri"/>
              </a:rPr>
              <a:t> </a:t>
            </a:r>
            <a:r>
              <a:rPr lang="en-US" sz="1000" err="1">
                <a:latin typeface="Calibri Light"/>
                <a:cs typeface="Calibri"/>
              </a:rPr>
              <a:t>versão</a:t>
            </a:r>
            <a:r>
              <a:rPr lang="en-US" sz="1000">
                <a:latin typeface="Calibri Light"/>
                <a:cs typeface="Calibri"/>
              </a:rPr>
              <a:t> </a:t>
            </a:r>
            <a:r>
              <a:rPr lang="en-US" sz="1000" err="1">
                <a:latin typeface="Calibri Light"/>
                <a:cs typeface="Calibri"/>
              </a:rPr>
              <a:t>simplicada</a:t>
            </a:r>
            <a:r>
              <a:rPr lang="en-US" sz="1000">
                <a:latin typeface="Calibri Light"/>
                <a:cs typeface="Calibri"/>
              </a:rPr>
              <a:t> </a:t>
            </a:r>
            <a:endParaRPr lang="en-US" sz="1000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8406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80F5252-0B3D-ACB2-748D-CBC03245CE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2" t="7820" r="893" b="67838"/>
          <a:stretch/>
        </p:blipFill>
        <p:spPr>
          <a:xfrm>
            <a:off x="144032" y="1742458"/>
            <a:ext cx="6685935" cy="10127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0F7203-A5D3-A658-1955-490B255382A3}"/>
              </a:ext>
            </a:extLst>
          </p:cNvPr>
          <p:cNvSpPr txBox="1"/>
          <p:nvPr/>
        </p:nvSpPr>
        <p:spPr>
          <a:xfrm>
            <a:off x="517706" y="-376847"/>
            <a:ext cx="1262452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</a:b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rgbClr val="EF324B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  <a:t>STRING</a:t>
            </a:r>
          </a:p>
          <a:p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88851-1710-C0FA-ED23-538AD1D5C220}"/>
              </a:ext>
            </a:extLst>
          </p:cNvPr>
          <p:cNvSpPr txBox="1"/>
          <p:nvPr/>
        </p:nvSpPr>
        <p:spPr>
          <a:xfrm>
            <a:off x="144032" y="1007213"/>
            <a:ext cx="12139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1.Proteínas expressas na urina em pacientes hipertensos (SS+SR) </a:t>
            </a:r>
            <a:r>
              <a:rPr kumimoji="0" lang="pt-PT" sz="1800" b="0" i="1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versus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indivíduos saudáveis</a:t>
            </a:r>
            <a:endParaRPr kumimoji="0" lang="pt-PT" sz="2400" b="0" i="0" u="none" strike="noStrike" kern="1200" cap="none" spc="0" normalizeH="0" baseline="0" noProof="0">
              <a:ln>
                <a:noFill/>
              </a:ln>
              <a:solidFill>
                <a:srgbClr val="521C15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1727563-FD2A-B7FC-1B7D-A9898A4C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33" y="4567595"/>
            <a:ext cx="6685935" cy="1138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4642766-1ED9-A1F2-8291-10E0A8D5B6E4}"/>
              </a:ext>
            </a:extLst>
          </p:cNvPr>
          <p:cNvSpPr/>
          <p:nvPr/>
        </p:nvSpPr>
        <p:spPr>
          <a:xfrm>
            <a:off x="124799" y="2184737"/>
            <a:ext cx="6671561" cy="128164"/>
          </a:xfrm>
          <a:prstGeom prst="rect">
            <a:avLst/>
          </a:prstGeom>
          <a:noFill/>
          <a:ln w="9525" cap="flat" cmpd="sng" algn="ctr">
            <a:solidFill>
              <a:srgbClr val="CF1E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AA3CCC-A721-6F32-4052-9F4DC42FB309}"/>
              </a:ext>
            </a:extLst>
          </p:cNvPr>
          <p:cNvSpPr txBox="1"/>
          <p:nvPr/>
        </p:nvSpPr>
        <p:spPr>
          <a:xfrm>
            <a:off x="7565548" y="1577005"/>
            <a:ext cx="4522835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endParaRPr lang="pt-PT"/>
          </a:p>
          <a:p>
            <a:pPr algn="just"/>
            <a:r>
              <a:rPr lang="pt-PT">
                <a:latin typeface="+mj-lt"/>
              </a:rPr>
              <a:t>Um dos principais componentes das placas amiloides são as fibrilas amiloides ordenadas, que são um das características patológicas da doença de Alzheimer.</a:t>
            </a:r>
            <a:endParaRPr lang="en-GB">
              <a:latin typeface="+mj-lt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3BD7CA8-5D99-41AF-06A8-1EF10370521D}"/>
              </a:ext>
            </a:extLst>
          </p:cNvPr>
          <p:cNvSpPr/>
          <p:nvPr/>
        </p:nvSpPr>
        <p:spPr>
          <a:xfrm>
            <a:off x="6890997" y="4879282"/>
            <a:ext cx="412955" cy="508588"/>
          </a:xfrm>
          <a:prstGeom prst="rightArrow">
            <a:avLst/>
          </a:prstGeom>
          <a:solidFill>
            <a:srgbClr val="EF324B"/>
          </a:solidFill>
          <a:ln>
            <a:solidFill>
              <a:srgbClr val="CF1E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EF4A57-27F1-3713-C27A-0F4374CD1206}"/>
              </a:ext>
            </a:extLst>
          </p:cNvPr>
          <p:cNvSpPr/>
          <p:nvPr/>
        </p:nvSpPr>
        <p:spPr>
          <a:xfrm>
            <a:off x="7449260" y="1856734"/>
            <a:ext cx="4615865" cy="1329702"/>
          </a:xfrm>
          <a:prstGeom prst="rect">
            <a:avLst/>
          </a:prstGeom>
          <a:noFill/>
          <a:ln w="9525" cap="flat" cmpd="sng" algn="ctr">
            <a:solidFill>
              <a:srgbClr val="CF1E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6821F5-3891-282D-441C-0A79C508A562}"/>
              </a:ext>
            </a:extLst>
          </p:cNvPr>
          <p:cNvSpPr/>
          <p:nvPr/>
        </p:nvSpPr>
        <p:spPr>
          <a:xfrm>
            <a:off x="103617" y="5571329"/>
            <a:ext cx="6671561" cy="128164"/>
          </a:xfrm>
          <a:prstGeom prst="rect">
            <a:avLst/>
          </a:prstGeom>
          <a:noFill/>
          <a:ln w="9525" cap="flat" cmpd="sng" algn="ctr">
            <a:solidFill>
              <a:srgbClr val="CF1E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2C9BB1-4BFF-58DE-1A52-38DC9A616205}"/>
              </a:ext>
            </a:extLst>
          </p:cNvPr>
          <p:cNvSpPr txBox="1"/>
          <p:nvPr/>
        </p:nvSpPr>
        <p:spPr>
          <a:xfrm>
            <a:off x="7426004" y="4582000"/>
            <a:ext cx="4662379" cy="1477328"/>
          </a:xfrm>
          <a:prstGeom prst="rect">
            <a:avLst/>
          </a:prstGeom>
          <a:noFill/>
          <a:ln>
            <a:solidFill>
              <a:srgbClr val="CF1E25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PT">
                <a:latin typeface="+mj-lt"/>
              </a:rPr>
              <a:t>A hipertensão está associada à dislipidemia, que é uma condição com níveis anormais de lípidos no sangue podendo induzir </a:t>
            </a:r>
            <a:r>
              <a:rPr lang="pt-PT" err="1">
                <a:latin typeface="+mj-lt"/>
              </a:rPr>
              <a:t>AVC´s</a:t>
            </a:r>
            <a:r>
              <a:rPr lang="pt-PT">
                <a:latin typeface="+mj-lt"/>
              </a:rPr>
              <a:t> e doenças da artéria coronária. A </a:t>
            </a:r>
            <a:r>
              <a:rPr lang="pt-PT" err="1">
                <a:latin typeface="+mj-lt"/>
              </a:rPr>
              <a:t>apoliproteina</a:t>
            </a:r>
            <a:r>
              <a:rPr lang="pt-PT">
                <a:latin typeface="+mj-lt"/>
              </a:rPr>
              <a:t> E está associada ao metabolismo dos lípidos.</a:t>
            </a:r>
            <a:endParaRPr lang="en-GB">
              <a:latin typeface="+mj-lt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34612C73-9F7A-4E9B-5C82-4CC2353639BB}"/>
              </a:ext>
            </a:extLst>
          </p:cNvPr>
          <p:cNvSpPr/>
          <p:nvPr/>
        </p:nvSpPr>
        <p:spPr>
          <a:xfrm>
            <a:off x="6876342" y="2058607"/>
            <a:ext cx="412955" cy="508588"/>
          </a:xfrm>
          <a:prstGeom prst="rightArrow">
            <a:avLst/>
          </a:prstGeom>
          <a:solidFill>
            <a:srgbClr val="EF324B"/>
          </a:solidFill>
          <a:ln>
            <a:solidFill>
              <a:srgbClr val="CF1E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C7600A-4987-4CA6-0DB0-08B5CEE74C6D}"/>
              </a:ext>
            </a:extLst>
          </p:cNvPr>
          <p:cNvSpPr/>
          <p:nvPr/>
        </p:nvSpPr>
        <p:spPr>
          <a:xfrm>
            <a:off x="146637" y="2617447"/>
            <a:ext cx="6671561" cy="128164"/>
          </a:xfrm>
          <a:prstGeom prst="rect">
            <a:avLst/>
          </a:prstGeom>
          <a:noFill/>
          <a:ln w="9525" cap="flat" cmpd="sng" algn="ctr">
            <a:solidFill>
              <a:srgbClr val="CF1E2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58194C-60EC-BFF2-6A56-9CC9EC6C9E19}"/>
              </a:ext>
            </a:extLst>
          </p:cNvPr>
          <p:cNvSpPr txBox="1"/>
          <p:nvPr/>
        </p:nvSpPr>
        <p:spPr>
          <a:xfrm>
            <a:off x="256391" y="3194380"/>
            <a:ext cx="6518787" cy="646331"/>
          </a:xfrm>
          <a:prstGeom prst="rect">
            <a:avLst/>
          </a:prstGeom>
          <a:noFill/>
          <a:ln>
            <a:solidFill>
              <a:srgbClr val="CF1E25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>
                <a:latin typeface="+mj-lt"/>
              </a:rPr>
              <a:t>Estudos demonstram que os mecanismos imunológicos apresentam um papel importante na hipertensão e em doenças vasculares.</a:t>
            </a:r>
            <a:endParaRPr lang="en-GB">
              <a:latin typeface="+mj-lt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A7AB9B3-BAA3-55E0-3A70-1A05228B48F4}"/>
              </a:ext>
            </a:extLst>
          </p:cNvPr>
          <p:cNvSpPr/>
          <p:nvPr/>
        </p:nvSpPr>
        <p:spPr>
          <a:xfrm rot="5214043">
            <a:off x="1700594" y="2684898"/>
            <a:ext cx="412955" cy="508588"/>
          </a:xfrm>
          <a:prstGeom prst="rightArrow">
            <a:avLst/>
          </a:prstGeom>
          <a:solidFill>
            <a:srgbClr val="EF324B"/>
          </a:solidFill>
          <a:ln>
            <a:solidFill>
              <a:srgbClr val="CF1E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831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hematic&#10;&#10;Description automatically generated with medium confidence">
            <a:extLst>
              <a:ext uri="{FF2B5EF4-FFF2-40B4-BE49-F238E27FC236}">
                <a16:creationId xmlns:a16="http://schemas.microsoft.com/office/drawing/2014/main" id="{8865F92B-C2D8-3707-AF55-C67F571EF1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9" r="15893"/>
          <a:stretch/>
        </p:blipFill>
        <p:spPr>
          <a:xfrm>
            <a:off x="492369" y="1271528"/>
            <a:ext cx="6884465" cy="4421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4A9BF3-1BAE-381E-8DA6-8E314EE728F0}"/>
              </a:ext>
            </a:extLst>
          </p:cNvPr>
          <p:cNvSpPr txBox="1"/>
          <p:nvPr/>
        </p:nvSpPr>
        <p:spPr>
          <a:xfrm>
            <a:off x="0" y="-1849626"/>
            <a:ext cx="11867371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>
                <a:latin typeface="+mj-lt"/>
              </a:rPr>
              <a:t>Proteínas analisadas:</a:t>
            </a:r>
          </a:p>
          <a:p>
            <a:r>
              <a:rPr lang="pt-PT">
                <a:latin typeface="+mj-lt"/>
              </a:rPr>
              <a:t>-Calgranulin-B (S100A9)</a:t>
            </a:r>
            <a:endParaRPr lang="pt-PT">
              <a:latin typeface="+mj-lt"/>
              <a:cs typeface="Calibri"/>
            </a:endParaRPr>
          </a:p>
          <a:p>
            <a:r>
              <a:rPr lang="pt-PT">
                <a:latin typeface="+mj-lt"/>
              </a:rPr>
              <a:t>-</a:t>
            </a:r>
            <a:r>
              <a:rPr lang="pt-PT" err="1">
                <a:latin typeface="+mj-lt"/>
              </a:rPr>
              <a:t>Serpin</a:t>
            </a:r>
            <a:r>
              <a:rPr lang="pt-PT">
                <a:latin typeface="+mj-lt"/>
              </a:rPr>
              <a:t> A1 (SERPINA1)</a:t>
            </a:r>
            <a:endParaRPr lang="pt-PT">
              <a:latin typeface="+mj-lt"/>
              <a:cs typeface="Calibri"/>
            </a:endParaRPr>
          </a:p>
          <a:p>
            <a:endParaRPr lang="pt-PT">
              <a:latin typeface="+mj-lt"/>
            </a:endParaRPr>
          </a:p>
          <a:p>
            <a:r>
              <a:rPr lang="pt-PT">
                <a:latin typeface="+mj-lt"/>
              </a:rPr>
              <a:t>Estudos demonstraram que o gene S100A9 </a:t>
            </a:r>
            <a:r>
              <a:rPr lang="pt-PT" err="1">
                <a:latin typeface="+mj-lt"/>
              </a:rPr>
              <a:t>actua</a:t>
            </a:r>
            <a:r>
              <a:rPr lang="pt-PT">
                <a:latin typeface="+mj-lt"/>
              </a:rPr>
              <a:t> como um sinal perigoso que </a:t>
            </a:r>
            <a:r>
              <a:rPr lang="pt-PT" err="1">
                <a:latin typeface="+mj-lt"/>
              </a:rPr>
              <a:t>activa</a:t>
            </a:r>
            <a:r>
              <a:rPr lang="pt-PT">
                <a:latin typeface="+mj-lt"/>
              </a:rPr>
              <a:t> o </a:t>
            </a:r>
            <a:r>
              <a:rPr lang="pt-PT" err="1">
                <a:latin typeface="+mj-lt"/>
              </a:rPr>
              <a:t>inflamasoma</a:t>
            </a:r>
            <a:r>
              <a:rPr lang="pt-PT">
                <a:latin typeface="+mj-lt"/>
              </a:rPr>
              <a:t> NLRP3 na placenta, estando envolvido na pré-eclâmpsia que é a hipertensão na gravidez (testado em modelos animais).</a:t>
            </a:r>
            <a:endParaRPr lang="pt-PT">
              <a:latin typeface="+mj-lt"/>
              <a:cs typeface="Calibri"/>
            </a:endParaRPr>
          </a:p>
          <a:p>
            <a:endParaRPr lang="pt-PT">
              <a:latin typeface="+mj-lt"/>
            </a:endParaRPr>
          </a:p>
          <a:p>
            <a:endParaRPr lang="pt-PT">
              <a:latin typeface="+mj-lt"/>
            </a:endParaRPr>
          </a:p>
          <a:p>
            <a:endParaRPr lang="pt-PT">
              <a:latin typeface="+mj-lt"/>
            </a:endParaRPr>
          </a:p>
          <a:p>
            <a:endParaRPr lang="pt-PT"/>
          </a:p>
          <a:p>
            <a:endParaRPr lang="en-GB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882F484-45A8-C9B9-CCFA-3729F819A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078229"/>
              </p:ext>
            </p:extLst>
          </p:nvPr>
        </p:nvGraphicFramePr>
        <p:xfrm>
          <a:off x="5065566" y="3017981"/>
          <a:ext cx="6703647" cy="336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9076">
                  <a:extLst>
                    <a:ext uri="{9D8B030D-6E8A-4147-A177-3AD203B41FA5}">
                      <a16:colId xmlns:a16="http://schemas.microsoft.com/office/drawing/2014/main" val="460907766"/>
                    </a:ext>
                  </a:extLst>
                </a:gridCol>
                <a:gridCol w="3344571">
                  <a:extLst>
                    <a:ext uri="{9D8B030D-6E8A-4147-A177-3AD203B41FA5}">
                      <a16:colId xmlns:a16="http://schemas.microsoft.com/office/drawing/2014/main" val="700618390"/>
                    </a:ext>
                  </a:extLst>
                </a:gridCol>
              </a:tblGrid>
              <a:tr h="303797">
                <a:tc gridSpan="2">
                  <a:txBody>
                    <a:bodyPr/>
                    <a:lstStyle/>
                    <a:p>
                      <a:pPr algn="ctr"/>
                      <a:r>
                        <a:rPr lang="pt-PT"/>
                        <a:t>Proteínas analisadas</a:t>
                      </a:r>
                      <a:endParaRPr lang="en-GB"/>
                    </a:p>
                  </a:txBody>
                  <a:tcPr>
                    <a:solidFill>
                      <a:srgbClr val="CF1E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263379"/>
                  </a:ext>
                </a:extLst>
              </a:tr>
              <a:tr h="303797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Calgranulin-B </a:t>
                      </a:r>
                    </a:p>
                    <a:p>
                      <a:pPr algn="ctr"/>
                      <a:r>
                        <a:rPr lang="pt-PT"/>
                        <a:t>(gene S100A9)</a:t>
                      </a:r>
                      <a:endParaRPr lang="en-GB"/>
                    </a:p>
                  </a:txBody>
                  <a:tcPr>
                    <a:solidFill>
                      <a:srgbClr val="EF91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Serine</a:t>
                      </a:r>
                      <a:r>
                        <a:rPr lang="pt-PT"/>
                        <a:t> </a:t>
                      </a:r>
                      <a:r>
                        <a:rPr lang="pt-PT" err="1"/>
                        <a:t>Protease</a:t>
                      </a:r>
                      <a:r>
                        <a:rPr lang="pt-PT"/>
                        <a:t> </a:t>
                      </a:r>
                      <a:r>
                        <a:rPr lang="pt-PT" err="1"/>
                        <a:t>Inhibitor</a:t>
                      </a:r>
                      <a:r>
                        <a:rPr lang="pt-PT"/>
                        <a:t>- A1 (gene SERPINA1)</a:t>
                      </a:r>
                      <a:endParaRPr lang="en-GB"/>
                    </a:p>
                  </a:txBody>
                  <a:tcPr>
                    <a:solidFill>
                      <a:srgbClr val="EF9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41410"/>
                  </a:ext>
                </a:extLst>
              </a:tr>
              <a:tr h="235442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Estudos demonstraram que o gene S100A9 atua como um sinal ativador do </a:t>
                      </a:r>
                      <a:r>
                        <a:rPr lang="pt-PT" sz="1800" kern="120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inflamassoma</a:t>
                      </a:r>
                      <a:r>
                        <a:rPr lang="pt-PT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NLRP3 na placenta, estando envolvido na pré-eclâmpsia que é a hipertensão gestacional (testado em modelos animais).</a:t>
                      </a:r>
                      <a:endParaRPr lang="en-GB"/>
                    </a:p>
                    <a:p>
                      <a:endParaRPr lang="en-GB"/>
                    </a:p>
                  </a:txBody>
                  <a:tcPr>
                    <a:solidFill>
                      <a:srgbClr val="EEE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>
                          <a:latin typeface="+mj-lt"/>
                        </a:rPr>
                        <a:t>O gene SERPINA1 é um gene indutor de células sanguíneas que codifica a proteína AAT e os seu altos níveis no sangue indicam uma possível inflamação, infeção ou gravidez avançada.</a:t>
                      </a:r>
                      <a:endParaRPr lang="en-GB">
                        <a:latin typeface="+mj-lt"/>
                      </a:endParaRPr>
                    </a:p>
                  </a:txBody>
                  <a:tcPr>
                    <a:solidFill>
                      <a:srgbClr val="EE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6357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4112A2-437D-7B09-06DE-D718E0D52607}"/>
              </a:ext>
            </a:extLst>
          </p:cNvPr>
          <p:cNvCxnSpPr/>
          <p:nvPr/>
        </p:nvCxnSpPr>
        <p:spPr>
          <a:xfrm>
            <a:off x="673187" y="3026118"/>
            <a:ext cx="1366576" cy="11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307317-2613-5FEC-B65D-EC06F8C72755}"/>
              </a:ext>
            </a:extLst>
          </p:cNvPr>
          <p:cNvCxnSpPr>
            <a:cxnSpLocks/>
          </p:cNvCxnSpPr>
          <p:nvPr/>
        </p:nvCxnSpPr>
        <p:spPr>
          <a:xfrm flipV="1">
            <a:off x="1082093" y="4288419"/>
            <a:ext cx="1297911" cy="1313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35AFFF-35C7-D73B-88C3-75E4D492DF89}"/>
              </a:ext>
            </a:extLst>
          </p:cNvPr>
          <p:cNvSpPr txBox="1"/>
          <p:nvPr/>
        </p:nvSpPr>
        <p:spPr>
          <a:xfrm>
            <a:off x="639641" y="130877"/>
            <a:ext cx="7098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b="1" err="1">
                <a:solidFill>
                  <a:srgbClr val="EF324B"/>
                </a:solidFill>
                <a:latin typeface="Atlata"/>
              </a:rPr>
              <a:t>Cytoscape</a:t>
            </a:r>
            <a:endParaRPr lang="en-GB" sz="4000" b="1">
              <a:solidFill>
                <a:srgbClr val="EF324B"/>
              </a:solidFill>
              <a:latin typeface="Atlat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72871-3D26-37F9-0AA5-95E8911D6100}"/>
              </a:ext>
            </a:extLst>
          </p:cNvPr>
          <p:cNvSpPr txBox="1"/>
          <p:nvPr/>
        </p:nvSpPr>
        <p:spPr>
          <a:xfrm>
            <a:off x="144032" y="816534"/>
            <a:ext cx="12139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1.Proteínas expressas na urina em pacientes hipertensos (SS+SR) </a:t>
            </a:r>
            <a:r>
              <a:rPr kumimoji="0" lang="pt-PT" sz="1800" b="0" i="1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versus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521C15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indivíduos saudáveis</a:t>
            </a:r>
            <a:endParaRPr kumimoji="0" lang="pt-PT" sz="2400" b="0" i="0" u="none" strike="noStrike" kern="1200" cap="none" spc="0" normalizeH="0" baseline="0" noProof="0">
              <a:ln>
                <a:noFill/>
              </a:ln>
              <a:solidFill>
                <a:srgbClr val="521C15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B6524-7A1F-17A3-3D89-D9985A323B39}"/>
              </a:ext>
            </a:extLst>
          </p:cNvPr>
          <p:cNvSpPr txBox="1"/>
          <p:nvPr/>
        </p:nvSpPr>
        <p:spPr>
          <a:xfrm>
            <a:off x="302067" y="5870786"/>
            <a:ext cx="49538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Calibri Light"/>
                <a:cs typeface="Calibri"/>
              </a:rPr>
              <a:t>Fig. 4 – Rede de </a:t>
            </a:r>
            <a:r>
              <a:rPr lang="en-US" sz="1200" err="1">
                <a:latin typeface="Calibri Light"/>
                <a:cs typeface="Calibri"/>
              </a:rPr>
              <a:t>proteínas</a:t>
            </a:r>
            <a:r>
              <a:rPr lang="en-US" sz="1200">
                <a:latin typeface="Calibri Light"/>
                <a:cs typeface="Calibri"/>
              </a:rPr>
              <a:t> </a:t>
            </a:r>
            <a:r>
              <a:rPr lang="en-US" sz="1200" err="1">
                <a:latin typeface="Calibri Light"/>
                <a:cs typeface="Calibri"/>
              </a:rPr>
              <a:t>utilizando</a:t>
            </a:r>
            <a:r>
              <a:rPr lang="en-US" sz="1200">
                <a:latin typeface="Calibri Light"/>
                <a:cs typeface="Calibri"/>
              </a:rPr>
              <a:t> a ferramenta </a:t>
            </a:r>
            <a:r>
              <a:rPr lang="en-US" sz="1200" err="1">
                <a:latin typeface="Calibri Light"/>
                <a:cs typeface="Calibri"/>
              </a:rPr>
              <a:t>Cystoscape</a:t>
            </a:r>
            <a:endParaRPr lang="en-US" sz="1200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4859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506D91-CE72-CF2C-42E5-9626F655F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2" y="2395129"/>
            <a:ext cx="3892094" cy="37552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6811A3-E2BB-B8F8-B122-2AAC72573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104" y="2342025"/>
            <a:ext cx="3818716" cy="3808366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157F1D84-A0E9-F12C-8EEC-A9916F7E3403}"/>
              </a:ext>
            </a:extLst>
          </p:cNvPr>
          <p:cNvSpPr/>
          <p:nvPr/>
        </p:nvSpPr>
        <p:spPr>
          <a:xfrm>
            <a:off x="4415661" y="4079329"/>
            <a:ext cx="1125415" cy="386862"/>
          </a:xfrm>
          <a:prstGeom prst="rightArrow">
            <a:avLst/>
          </a:prstGeom>
          <a:solidFill>
            <a:srgbClr val="EF324B"/>
          </a:solidFill>
          <a:ln>
            <a:solidFill>
              <a:srgbClr val="CF1E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1FE8A-5BD1-1795-E381-601C7723B609}"/>
              </a:ext>
            </a:extLst>
          </p:cNvPr>
          <p:cNvSpPr txBox="1"/>
          <p:nvPr/>
        </p:nvSpPr>
        <p:spPr>
          <a:xfrm>
            <a:off x="517706" y="-376847"/>
            <a:ext cx="1262452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</a:b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rgbClr val="EF324B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  <a:t>STRING</a:t>
            </a:r>
          </a:p>
          <a:p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0DFD7-0E40-E9A6-C8F6-7024B4D7B419}"/>
              </a:ext>
            </a:extLst>
          </p:cNvPr>
          <p:cNvSpPr txBox="1"/>
          <p:nvPr/>
        </p:nvSpPr>
        <p:spPr>
          <a:xfrm>
            <a:off x="-160405" y="977370"/>
            <a:ext cx="11540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>
                <a:solidFill>
                  <a:srgbClr val="521C15"/>
                </a:solidFill>
                <a:latin typeface="+mj-lt"/>
              </a:rPr>
              <a:t>2.Proteínas expressas na urina em pacientes sensíveis ao sal (SS)</a:t>
            </a:r>
            <a:r>
              <a:rPr lang="pt-PT" sz="1800" i="1">
                <a:solidFill>
                  <a:srgbClr val="521C15"/>
                </a:solidFill>
                <a:latin typeface="+mj-lt"/>
              </a:rPr>
              <a:t> </a:t>
            </a:r>
            <a:r>
              <a:rPr lang="pt-PT" i="1">
                <a:solidFill>
                  <a:srgbClr val="521C15"/>
                </a:solidFill>
                <a:latin typeface="+mj-lt"/>
              </a:rPr>
              <a:t>versus </a:t>
            </a:r>
            <a:r>
              <a:rPr lang="pt-PT" sz="1800">
                <a:solidFill>
                  <a:srgbClr val="521C15"/>
                </a:solidFill>
                <a:latin typeface="+mj-lt"/>
              </a:rPr>
              <a:t>indivíduos saudáveis e resistentes ao sal (SR)</a:t>
            </a:r>
            <a:endParaRPr lang="en-GB" sz="1800">
              <a:solidFill>
                <a:srgbClr val="521C15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065D59-16F3-A8C2-7B84-413A88D2C0DF}"/>
              </a:ext>
            </a:extLst>
          </p:cNvPr>
          <p:cNvSpPr txBox="1"/>
          <p:nvPr/>
        </p:nvSpPr>
        <p:spPr>
          <a:xfrm>
            <a:off x="1058348" y="6210660"/>
            <a:ext cx="3810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alibri Light"/>
                <a:cs typeface="Calibri"/>
              </a:rPr>
              <a:t>Fig.5 - </a:t>
            </a:r>
            <a:r>
              <a:rPr lang="en-US" sz="1100" err="1">
                <a:latin typeface="Calibri Light"/>
                <a:cs typeface="Calibri"/>
              </a:rPr>
              <a:t>Imagem</a:t>
            </a:r>
            <a:r>
              <a:rPr lang="en-US" sz="1100">
                <a:latin typeface="Calibri Light"/>
                <a:cs typeface="Calibri"/>
              </a:rPr>
              <a:t> </a:t>
            </a:r>
            <a:r>
              <a:rPr lang="en-US" sz="1100" err="1">
                <a:latin typeface="Calibri Light"/>
                <a:cs typeface="Calibri"/>
              </a:rPr>
              <a:t>obtida</a:t>
            </a:r>
            <a:r>
              <a:rPr lang="en-US" sz="1100">
                <a:latin typeface="Calibri Light"/>
                <a:cs typeface="Calibri"/>
              </a:rPr>
              <a:t> </a:t>
            </a:r>
            <a:r>
              <a:rPr lang="en-US" sz="1100" err="1">
                <a:latin typeface="Calibri Light"/>
                <a:cs typeface="Calibri"/>
              </a:rPr>
              <a:t>pelo</a:t>
            </a:r>
            <a:r>
              <a:rPr lang="en-US" sz="1100">
                <a:latin typeface="Calibri Light"/>
                <a:cs typeface="Calibri"/>
              </a:rPr>
              <a:t> String  </a:t>
            </a:r>
            <a:endParaRPr lang="en-US" sz="1100">
              <a:latin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2A5E80-0184-6DD6-DD24-0C091E6B0290}"/>
              </a:ext>
            </a:extLst>
          </p:cNvPr>
          <p:cNvSpPr txBox="1"/>
          <p:nvPr/>
        </p:nvSpPr>
        <p:spPr>
          <a:xfrm>
            <a:off x="6406954" y="6312120"/>
            <a:ext cx="349988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alibri Light"/>
                <a:cs typeface="Calibri"/>
              </a:rPr>
              <a:t>Fig. 6 - </a:t>
            </a:r>
            <a:r>
              <a:rPr lang="en-US" sz="1100" err="1">
                <a:latin typeface="Calibri Light"/>
                <a:cs typeface="Calibri"/>
              </a:rPr>
              <a:t>Versão</a:t>
            </a:r>
            <a:r>
              <a:rPr lang="en-US" sz="1100">
                <a:latin typeface="Calibri Light"/>
                <a:cs typeface="Calibri"/>
              </a:rPr>
              <a:t> </a:t>
            </a:r>
            <a:r>
              <a:rPr lang="en-US" sz="1100" err="1">
                <a:latin typeface="Calibri Light"/>
                <a:cs typeface="Calibri"/>
              </a:rPr>
              <a:t>simplificada</a:t>
            </a:r>
            <a:r>
              <a:rPr lang="en-US" sz="1100">
                <a:latin typeface="Calibri Light"/>
                <a:cs typeface="Calibri"/>
              </a:rPr>
              <a:t> da rede </a:t>
            </a:r>
            <a:r>
              <a:rPr lang="en-US" sz="1100" err="1">
                <a:latin typeface="Calibri Light"/>
                <a:cs typeface="Calibri"/>
              </a:rPr>
              <a:t>pelo</a:t>
            </a:r>
            <a:r>
              <a:rPr lang="en-US" sz="1100">
                <a:latin typeface="Calibri Light"/>
                <a:cs typeface="Calibri"/>
              </a:rPr>
              <a:t> String </a:t>
            </a:r>
            <a:endParaRPr lang="en-US" sz="1100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8568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, bubble chart&#10;&#10;Description automatically generated">
            <a:extLst>
              <a:ext uri="{FF2B5EF4-FFF2-40B4-BE49-F238E27FC236}">
                <a16:creationId xmlns:a16="http://schemas.microsoft.com/office/drawing/2014/main" id="{33B1432E-4D36-46B4-7CE1-823244146F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0" r="10527" b="805"/>
          <a:stretch/>
        </p:blipFill>
        <p:spPr>
          <a:xfrm>
            <a:off x="270549" y="1447838"/>
            <a:ext cx="6804163" cy="4867551"/>
          </a:xfrm>
          <a:prstGeom prst="rect">
            <a:avLst/>
          </a:prstGeom>
        </p:spPr>
      </p:pic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9F2BB583-BC8F-EBCE-02B6-4EE5CFF14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531969"/>
              </p:ext>
            </p:extLst>
          </p:nvPr>
        </p:nvGraphicFramePr>
        <p:xfrm>
          <a:off x="6479957" y="2955125"/>
          <a:ext cx="5441494" cy="336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634">
                  <a:extLst>
                    <a:ext uri="{9D8B030D-6E8A-4147-A177-3AD203B41FA5}">
                      <a16:colId xmlns:a16="http://schemas.microsoft.com/office/drawing/2014/main" val="460907766"/>
                    </a:ext>
                  </a:extLst>
                </a:gridCol>
                <a:gridCol w="2714860">
                  <a:extLst>
                    <a:ext uri="{9D8B030D-6E8A-4147-A177-3AD203B41FA5}">
                      <a16:colId xmlns:a16="http://schemas.microsoft.com/office/drawing/2014/main" val="700618390"/>
                    </a:ext>
                  </a:extLst>
                </a:gridCol>
              </a:tblGrid>
              <a:tr h="303797">
                <a:tc gridSpan="2">
                  <a:txBody>
                    <a:bodyPr/>
                    <a:lstStyle/>
                    <a:p>
                      <a:pPr algn="ctr"/>
                      <a:r>
                        <a:rPr lang="pt-PT"/>
                        <a:t>Proteínas analisadas</a:t>
                      </a:r>
                      <a:endParaRPr lang="en-GB"/>
                    </a:p>
                  </a:txBody>
                  <a:tcPr>
                    <a:solidFill>
                      <a:srgbClr val="CF1E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263379"/>
                  </a:ext>
                </a:extLst>
              </a:tr>
              <a:tr h="303797">
                <a:tc>
                  <a:txBody>
                    <a:bodyPr/>
                    <a:lstStyle/>
                    <a:p>
                      <a:pPr algn="ctr"/>
                      <a:r>
                        <a:rPr lang="pt-PT" b="1">
                          <a:latin typeface="+mj-lt"/>
                        </a:rPr>
                        <a:t>Glutamil aminopeptidase</a:t>
                      </a:r>
                    </a:p>
                    <a:p>
                      <a:pPr algn="ctr"/>
                      <a:r>
                        <a:rPr lang="pt-PT" b="1">
                          <a:latin typeface="+mj-lt"/>
                        </a:rPr>
                        <a:t>(gene ENPEP)</a:t>
                      </a:r>
                      <a:endParaRPr lang="en-GB" b="1">
                        <a:latin typeface="+mj-lt"/>
                      </a:endParaRPr>
                    </a:p>
                  </a:txBody>
                  <a:tcPr>
                    <a:solidFill>
                      <a:srgbClr val="EF91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Aminopeptidase N</a:t>
                      </a:r>
                    </a:p>
                    <a:p>
                      <a:pPr algn="ctr"/>
                      <a:r>
                        <a:rPr lang="pt-PT"/>
                        <a:t>(gene ANPEP)</a:t>
                      </a:r>
                      <a:endParaRPr lang="en-GB"/>
                    </a:p>
                  </a:txBody>
                  <a:tcPr>
                    <a:solidFill>
                      <a:srgbClr val="EF9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41410"/>
                  </a:ext>
                </a:extLst>
              </a:tr>
              <a:tr h="2354424">
                <a:tc>
                  <a:txBody>
                    <a:bodyPr/>
                    <a:lstStyle/>
                    <a:p>
                      <a:pPr algn="just"/>
                      <a:r>
                        <a:rPr lang="pt-PT">
                          <a:latin typeface="+mj-lt"/>
                        </a:rPr>
                        <a:t>Papel importante no sistema renina-angiotensina-aldosterona,  que desempenha uma série de reações no controlo da pressão arterial.</a:t>
                      </a:r>
                      <a:endParaRPr lang="en-GB">
                        <a:latin typeface="+mj-lt"/>
                      </a:endParaRPr>
                    </a:p>
                  </a:txBody>
                  <a:tcPr>
                    <a:solidFill>
                      <a:srgbClr val="EEE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>
                          <a:latin typeface="+mj-lt"/>
                        </a:rPr>
                        <a:t> Função fisiológica que involve a angiogénese, inflamação, invasão celular e é crucial para a implantação do embrião no endométrio.</a:t>
                      </a:r>
                      <a:endParaRPr lang="en-GB">
                        <a:latin typeface="+mj-lt"/>
                      </a:endParaRPr>
                    </a:p>
                  </a:txBody>
                  <a:tcPr>
                    <a:solidFill>
                      <a:srgbClr val="EE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635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E2ACBA-79DE-3205-FE8F-0D79D27BC6C0}"/>
              </a:ext>
            </a:extLst>
          </p:cNvPr>
          <p:cNvSpPr txBox="1"/>
          <p:nvPr/>
        </p:nvSpPr>
        <p:spPr>
          <a:xfrm>
            <a:off x="-240791" y="1014813"/>
            <a:ext cx="11540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>
                <a:solidFill>
                  <a:srgbClr val="521C15"/>
                </a:solidFill>
                <a:latin typeface="+mj-lt"/>
              </a:rPr>
              <a:t>2.Proteínas expressas na urina em pacientes sensíveis ao sal (SS)</a:t>
            </a:r>
            <a:r>
              <a:rPr lang="pt-PT" sz="1800" i="1">
                <a:solidFill>
                  <a:srgbClr val="521C15"/>
                </a:solidFill>
                <a:latin typeface="+mj-lt"/>
              </a:rPr>
              <a:t> </a:t>
            </a:r>
            <a:r>
              <a:rPr lang="pt-PT" i="1">
                <a:solidFill>
                  <a:srgbClr val="521C15"/>
                </a:solidFill>
                <a:latin typeface="+mj-lt"/>
              </a:rPr>
              <a:t>versus </a:t>
            </a:r>
            <a:r>
              <a:rPr lang="pt-PT" sz="1800">
                <a:solidFill>
                  <a:srgbClr val="521C15"/>
                </a:solidFill>
                <a:latin typeface="+mj-lt"/>
              </a:rPr>
              <a:t>indivíduos saudáveis e resistentes ao sal (SR)</a:t>
            </a:r>
            <a:endParaRPr lang="en-GB" sz="1800">
              <a:solidFill>
                <a:srgbClr val="521C15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0E663-E8F1-54BB-A01B-7EF0769026C6}"/>
              </a:ext>
            </a:extLst>
          </p:cNvPr>
          <p:cNvSpPr txBox="1"/>
          <p:nvPr/>
        </p:nvSpPr>
        <p:spPr>
          <a:xfrm>
            <a:off x="542611" y="274320"/>
            <a:ext cx="7998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4000" b="1" i="0" u="none" strike="noStrike" kern="1200" cap="none" spc="0" normalizeH="0" baseline="0" noProof="0" err="1">
                <a:ln>
                  <a:noFill/>
                </a:ln>
                <a:solidFill>
                  <a:srgbClr val="EF324B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  <a:t>Cytoscape</a:t>
            </a:r>
            <a:endParaRPr kumimoji="0" lang="en-GB" sz="4000" b="1" i="0" u="none" strike="noStrike" kern="1200" cap="none" spc="0" normalizeH="0" baseline="0" noProof="0">
              <a:ln>
                <a:noFill/>
              </a:ln>
              <a:solidFill>
                <a:srgbClr val="EF324B"/>
              </a:solidFill>
              <a:effectLst/>
              <a:uLnTx/>
              <a:uFillTx/>
              <a:latin typeface="Alata" panose="020B0604020202020204" charset="0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5ED4E-8750-B5AD-23D2-232CD426DF7C}"/>
              </a:ext>
            </a:extLst>
          </p:cNvPr>
          <p:cNvSpPr txBox="1"/>
          <p:nvPr/>
        </p:nvSpPr>
        <p:spPr>
          <a:xfrm>
            <a:off x="898353" y="6299674"/>
            <a:ext cx="49538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Calibri Light"/>
                <a:cs typeface="Calibri"/>
              </a:rPr>
              <a:t>Fig. 7 – Rede de </a:t>
            </a:r>
            <a:r>
              <a:rPr lang="en-US" sz="1200" dirty="0" err="1">
                <a:latin typeface="Calibri Light"/>
                <a:cs typeface="Calibri"/>
              </a:rPr>
              <a:t>proteínas</a:t>
            </a:r>
            <a:r>
              <a:rPr lang="en-US" sz="1200" dirty="0">
                <a:latin typeface="Calibri Light"/>
                <a:cs typeface="Calibri"/>
              </a:rPr>
              <a:t> </a:t>
            </a:r>
            <a:r>
              <a:rPr lang="en-US" sz="1200" dirty="0" err="1">
                <a:latin typeface="Calibri Light"/>
                <a:cs typeface="Calibri"/>
              </a:rPr>
              <a:t>utilizando</a:t>
            </a:r>
            <a:r>
              <a:rPr lang="en-US" sz="1200" dirty="0">
                <a:latin typeface="Calibri Light"/>
                <a:cs typeface="Calibri"/>
              </a:rPr>
              <a:t> a ferramenta </a:t>
            </a:r>
            <a:r>
              <a:rPr lang="en-US" sz="1200" dirty="0" err="1">
                <a:latin typeface="Calibri Light"/>
                <a:cs typeface="Calibri"/>
              </a:rPr>
              <a:t>Cystoscape</a:t>
            </a:r>
            <a:endParaRPr lang="en-US" sz="1200" dirty="0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9221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ow: Right 12">
            <a:extLst>
              <a:ext uri="{FF2B5EF4-FFF2-40B4-BE49-F238E27FC236}">
                <a16:creationId xmlns:a16="http://schemas.microsoft.com/office/drawing/2014/main" id="{157F1D84-A0E9-F12C-8EEC-A9916F7E3403}"/>
              </a:ext>
            </a:extLst>
          </p:cNvPr>
          <p:cNvSpPr/>
          <p:nvPr/>
        </p:nvSpPr>
        <p:spPr>
          <a:xfrm>
            <a:off x="4697015" y="3818431"/>
            <a:ext cx="1125415" cy="386862"/>
          </a:xfrm>
          <a:prstGeom prst="rightArrow">
            <a:avLst/>
          </a:prstGeom>
          <a:solidFill>
            <a:srgbClr val="EF324B"/>
          </a:solidFill>
          <a:ln>
            <a:solidFill>
              <a:srgbClr val="CF1E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1FE8A-5BD1-1795-E381-601C7723B609}"/>
              </a:ext>
            </a:extLst>
          </p:cNvPr>
          <p:cNvSpPr txBox="1"/>
          <p:nvPr/>
        </p:nvSpPr>
        <p:spPr>
          <a:xfrm>
            <a:off x="517706" y="-376847"/>
            <a:ext cx="1262452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</a:b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rgbClr val="EF324B"/>
                </a:solidFill>
                <a:effectLst/>
                <a:uLnTx/>
                <a:uFillTx/>
                <a:latin typeface="Alata" panose="020B0604020202020204" charset="0"/>
                <a:ea typeface="+mj-ea"/>
                <a:cs typeface="+mj-cs"/>
              </a:rPr>
              <a:t>STRING</a:t>
            </a:r>
          </a:p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065D59-16F3-A8C2-7B84-413A88D2C0DF}"/>
              </a:ext>
            </a:extLst>
          </p:cNvPr>
          <p:cNvSpPr txBox="1"/>
          <p:nvPr/>
        </p:nvSpPr>
        <p:spPr>
          <a:xfrm>
            <a:off x="1058348" y="6210660"/>
            <a:ext cx="3810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Calibri Light"/>
                <a:cs typeface="Calibri"/>
              </a:rPr>
              <a:t>Fig.8 - </a:t>
            </a:r>
            <a:r>
              <a:rPr lang="en-US" sz="1100" dirty="0" err="1">
                <a:latin typeface="Calibri Light"/>
                <a:cs typeface="Calibri"/>
              </a:rPr>
              <a:t>Imagem</a:t>
            </a:r>
            <a:r>
              <a:rPr lang="en-US" sz="1100" dirty="0">
                <a:latin typeface="Calibri Light"/>
                <a:cs typeface="Calibri"/>
              </a:rPr>
              <a:t> </a:t>
            </a:r>
            <a:r>
              <a:rPr lang="en-US" sz="1100" dirty="0" err="1">
                <a:latin typeface="Calibri Light"/>
                <a:cs typeface="Calibri"/>
              </a:rPr>
              <a:t>obtida</a:t>
            </a:r>
            <a:r>
              <a:rPr lang="en-US" sz="1100" dirty="0">
                <a:latin typeface="Calibri Light"/>
                <a:cs typeface="Calibri"/>
              </a:rPr>
              <a:t> </a:t>
            </a:r>
            <a:r>
              <a:rPr lang="en-US" sz="1100" dirty="0" err="1">
                <a:latin typeface="Calibri Light"/>
                <a:cs typeface="Calibri"/>
              </a:rPr>
              <a:t>pelo</a:t>
            </a:r>
            <a:r>
              <a:rPr lang="en-US" sz="1100" dirty="0">
                <a:latin typeface="Calibri Light"/>
                <a:cs typeface="Calibri"/>
              </a:rPr>
              <a:t> String  </a:t>
            </a:r>
            <a:endParaRPr lang="en-US" sz="1100" dirty="0">
              <a:latin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2A5E80-0184-6DD6-DD24-0C091E6B0290}"/>
              </a:ext>
            </a:extLst>
          </p:cNvPr>
          <p:cNvSpPr txBox="1"/>
          <p:nvPr/>
        </p:nvSpPr>
        <p:spPr>
          <a:xfrm>
            <a:off x="6406954" y="6312120"/>
            <a:ext cx="349988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Calibri Light"/>
                <a:cs typeface="Calibri"/>
              </a:rPr>
              <a:t>Fig. 9- </a:t>
            </a:r>
            <a:r>
              <a:rPr lang="en-US" sz="1100" dirty="0" err="1">
                <a:latin typeface="Calibri Light"/>
                <a:cs typeface="Calibri"/>
              </a:rPr>
              <a:t>Versão</a:t>
            </a:r>
            <a:r>
              <a:rPr lang="en-US" sz="1100" dirty="0">
                <a:latin typeface="Calibri Light"/>
                <a:cs typeface="Calibri"/>
              </a:rPr>
              <a:t> </a:t>
            </a:r>
            <a:r>
              <a:rPr lang="en-US" sz="1100" dirty="0" err="1">
                <a:latin typeface="Calibri Light"/>
                <a:cs typeface="Calibri"/>
              </a:rPr>
              <a:t>simplificada</a:t>
            </a:r>
            <a:r>
              <a:rPr lang="en-US" sz="1100" dirty="0">
                <a:latin typeface="Calibri Light"/>
                <a:cs typeface="Calibri"/>
              </a:rPr>
              <a:t> da rede </a:t>
            </a:r>
            <a:r>
              <a:rPr lang="en-US" sz="1100" dirty="0" err="1">
                <a:latin typeface="Calibri Light"/>
                <a:cs typeface="Calibri"/>
              </a:rPr>
              <a:t>pelo</a:t>
            </a:r>
            <a:r>
              <a:rPr lang="en-US" sz="1100" dirty="0">
                <a:latin typeface="Calibri Light"/>
                <a:cs typeface="Calibri"/>
              </a:rPr>
              <a:t> String </a:t>
            </a:r>
            <a:endParaRPr lang="en-US" sz="1100" dirty="0"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F303C-AEEE-D62A-8465-B45F48BD26A7}"/>
              </a:ext>
            </a:extLst>
          </p:cNvPr>
          <p:cNvSpPr txBox="1"/>
          <p:nvPr/>
        </p:nvSpPr>
        <p:spPr>
          <a:xfrm>
            <a:off x="-128575" y="947874"/>
            <a:ext cx="12192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>
                <a:solidFill>
                  <a:srgbClr val="521C15"/>
                </a:solidFill>
                <a:latin typeface="+mj-lt"/>
              </a:rPr>
              <a:t>3</a:t>
            </a:r>
            <a:r>
              <a:rPr lang="pt-PT" sz="1800">
                <a:solidFill>
                  <a:srgbClr val="521C15"/>
                </a:solidFill>
                <a:latin typeface="+mj-lt"/>
              </a:rPr>
              <a:t>.Proteínas expressas na urina em pacientes resistentes ao sal (SR) </a:t>
            </a:r>
            <a:r>
              <a:rPr lang="pt-PT" i="1">
                <a:solidFill>
                  <a:srgbClr val="521C15"/>
                </a:solidFill>
                <a:latin typeface="+mj-lt"/>
              </a:rPr>
              <a:t>versus </a:t>
            </a:r>
            <a:r>
              <a:rPr lang="pt-PT" sz="1800">
                <a:solidFill>
                  <a:srgbClr val="521C15"/>
                </a:solidFill>
                <a:latin typeface="+mj-lt"/>
              </a:rPr>
              <a:t>indivíduos saudáveis e com sensibilidade ao sal (SS)</a:t>
            </a:r>
            <a:r>
              <a:rPr lang="pt-PT" sz="1800" i="1">
                <a:solidFill>
                  <a:srgbClr val="521C15"/>
                </a:solidFill>
                <a:latin typeface="+mj-lt"/>
              </a:rPr>
              <a:t> </a:t>
            </a:r>
            <a:endParaRPr lang="en-GB" sz="1800">
              <a:solidFill>
                <a:srgbClr val="521C15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216E48-7048-60BD-AE0B-174A7A37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28" y="2491990"/>
            <a:ext cx="4178773" cy="3126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311B73-12C0-A3D8-1407-C13AF4F6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572" y="2491990"/>
            <a:ext cx="4313040" cy="327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40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ackground pattern&#10;&#10;Description automatically generated">
            <a:extLst>
              <a:ext uri="{FF2B5EF4-FFF2-40B4-BE49-F238E27FC236}">
                <a16:creationId xmlns:a16="http://schemas.microsoft.com/office/drawing/2014/main" id="{27B82349-7F03-C01E-250D-D6675A1D8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4152" y="1317206"/>
            <a:ext cx="9173644" cy="4724199"/>
          </a:xfrm>
          <a:prstGeom prst="rect">
            <a:avLst/>
          </a:prstGeom>
        </p:spPr>
      </p:pic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70E7D01-90D2-EDC0-5C71-7AAFDD455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349607"/>
              </p:ext>
            </p:extLst>
          </p:nvPr>
        </p:nvGraphicFramePr>
        <p:xfrm>
          <a:off x="4376710" y="2168804"/>
          <a:ext cx="781529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420">
                  <a:extLst>
                    <a:ext uri="{9D8B030D-6E8A-4147-A177-3AD203B41FA5}">
                      <a16:colId xmlns:a16="http://schemas.microsoft.com/office/drawing/2014/main" val="460907766"/>
                    </a:ext>
                  </a:extLst>
                </a:gridCol>
                <a:gridCol w="2815391">
                  <a:extLst>
                    <a:ext uri="{9D8B030D-6E8A-4147-A177-3AD203B41FA5}">
                      <a16:colId xmlns:a16="http://schemas.microsoft.com/office/drawing/2014/main" val="4148280873"/>
                    </a:ext>
                  </a:extLst>
                </a:gridCol>
                <a:gridCol w="2405480">
                  <a:extLst>
                    <a:ext uri="{9D8B030D-6E8A-4147-A177-3AD203B41FA5}">
                      <a16:colId xmlns:a16="http://schemas.microsoft.com/office/drawing/2014/main" val="321485306"/>
                    </a:ext>
                  </a:extLst>
                </a:gridCol>
              </a:tblGrid>
              <a:tr h="315841">
                <a:tc gridSpan="3">
                  <a:txBody>
                    <a:bodyPr/>
                    <a:lstStyle/>
                    <a:p>
                      <a:pPr algn="ctr"/>
                      <a:r>
                        <a:rPr lang="pt-PT"/>
                        <a:t>Proteínas analisadas</a:t>
                      </a:r>
                      <a:endParaRPr lang="en-GB"/>
                    </a:p>
                  </a:txBody>
                  <a:tcPr>
                    <a:solidFill>
                      <a:srgbClr val="CF1E2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CF1E2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solidFill>
                      <a:srgbClr val="CF1E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263379"/>
                  </a:ext>
                </a:extLst>
              </a:tr>
              <a:tr h="1026482">
                <a:tc>
                  <a:txBody>
                    <a:bodyPr/>
                    <a:lstStyle/>
                    <a:p>
                      <a:pPr algn="ctr"/>
                      <a:r>
                        <a:rPr lang="pt-PT" b="1" err="1">
                          <a:latin typeface="+mj-lt"/>
                        </a:rPr>
                        <a:t>Apolopoprotein</a:t>
                      </a:r>
                      <a:r>
                        <a:rPr lang="pt-PT" b="1">
                          <a:latin typeface="+mj-lt"/>
                        </a:rPr>
                        <a:t> E</a:t>
                      </a:r>
                    </a:p>
                    <a:p>
                      <a:pPr algn="ctr"/>
                      <a:r>
                        <a:rPr lang="pt-PT" b="1">
                          <a:latin typeface="+mj-lt"/>
                        </a:rPr>
                        <a:t> (gene APOE)</a:t>
                      </a:r>
                      <a:endParaRPr lang="en-GB" b="1">
                        <a:latin typeface="+mj-lt"/>
                      </a:endParaRPr>
                    </a:p>
                  </a:txBody>
                  <a:tcPr>
                    <a:solidFill>
                      <a:srgbClr val="EF919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Heat shock cognate 71 protein</a:t>
                      </a:r>
                      <a:endParaRPr lang="pt-PT" b="1">
                        <a:latin typeface="+mj-lt"/>
                      </a:endParaRPr>
                    </a:p>
                    <a:p>
                      <a:pPr lvl="0" algn="ctr">
                        <a:buNone/>
                      </a:pPr>
                      <a:r>
                        <a:rPr lang="pt-PT" b="1">
                          <a:latin typeface="+mj-lt"/>
                        </a:rPr>
                        <a:t>(gene HSPA8)</a:t>
                      </a:r>
                    </a:p>
                    <a:p>
                      <a:pPr lvl="0" algn="ctr">
                        <a:buNone/>
                      </a:pPr>
                      <a:endParaRPr lang="pt-PT" b="1">
                        <a:latin typeface="+mj-lt"/>
                      </a:endParaRPr>
                    </a:p>
                  </a:txBody>
                  <a:tcPr>
                    <a:solidFill>
                      <a:srgbClr val="EF919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b="1">
                          <a:latin typeface="+mj-lt"/>
                        </a:rPr>
                        <a:t>Alfa-</a:t>
                      </a:r>
                      <a:r>
                        <a:rPr lang="pt-PT" b="1" err="1">
                          <a:latin typeface="+mj-lt"/>
                        </a:rPr>
                        <a:t>enolase</a:t>
                      </a:r>
                      <a:r>
                        <a:rPr lang="pt-PT" b="1">
                          <a:latin typeface="+mj-lt"/>
                        </a:rPr>
                        <a:t>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1">
                          <a:latin typeface="+mj-lt"/>
                        </a:rPr>
                        <a:t>(gene ENO1)</a:t>
                      </a:r>
                    </a:p>
                    <a:p>
                      <a:pPr lvl="0" algn="ctr">
                        <a:buNone/>
                      </a:pPr>
                      <a:endParaRPr lang="pt-PT" b="1">
                        <a:latin typeface="+mj-lt"/>
                      </a:endParaRPr>
                    </a:p>
                  </a:txBody>
                  <a:tcPr>
                    <a:solidFill>
                      <a:srgbClr val="EF91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41410"/>
                  </a:ext>
                </a:extLst>
              </a:tr>
              <a:tr h="1974004">
                <a:tc>
                  <a:txBody>
                    <a:bodyPr/>
                    <a:lstStyle/>
                    <a:p>
                      <a:pPr algn="just"/>
                      <a:r>
                        <a:rPr lang="pt-PT">
                          <a:latin typeface="+mj-lt"/>
                        </a:rPr>
                        <a:t>Lipoproteína polimórfica e uma das funções é transportar o colesterol no cérebro.</a:t>
                      </a:r>
                      <a:endParaRPr lang="en-GB">
                        <a:latin typeface="+mj-lt"/>
                      </a:endParaRPr>
                    </a:p>
                  </a:txBody>
                  <a:tcPr>
                    <a:solidFill>
                      <a:srgbClr val="EEE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800" b="0" i="0" u="none" strike="noStrike" noProof="0">
                          <a:latin typeface="+mj-lt"/>
                        </a:rPr>
                        <a:t>Molécula que acompanha uma variedade de processos celulares incluindo a proteção do proteoma do stress, transporte e controlo  de qualidade das proteínas.</a:t>
                      </a:r>
                    </a:p>
                  </a:txBody>
                  <a:tcPr>
                    <a:solidFill>
                      <a:srgbClr val="EEE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800" b="0" i="0" u="none" strike="noStrike" noProof="0">
                          <a:latin typeface="+mj-lt"/>
                        </a:rPr>
                        <a:t>Enzima multifuncional que, além de seu papel na glicólise, controla o crescimento, sistema fibrinolítico intravascular. Estimula a produção de imunoglobulinas.</a:t>
                      </a:r>
                    </a:p>
                  </a:txBody>
                  <a:tcPr>
                    <a:solidFill>
                      <a:srgbClr val="EE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635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6AF00B-CE69-C849-8434-3F34F124E76E}"/>
              </a:ext>
            </a:extLst>
          </p:cNvPr>
          <p:cNvSpPr txBox="1"/>
          <p:nvPr/>
        </p:nvSpPr>
        <p:spPr>
          <a:xfrm>
            <a:off x="-128575" y="947874"/>
            <a:ext cx="12192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>
                <a:solidFill>
                  <a:srgbClr val="521C15"/>
                </a:solidFill>
                <a:latin typeface="+mj-lt"/>
              </a:rPr>
              <a:t>3</a:t>
            </a:r>
            <a:r>
              <a:rPr lang="pt-PT" sz="1800">
                <a:solidFill>
                  <a:srgbClr val="521C15"/>
                </a:solidFill>
                <a:latin typeface="+mj-lt"/>
              </a:rPr>
              <a:t>.Proteínas expressas na urina em pacientes resistentes ao sal (SR) </a:t>
            </a:r>
            <a:r>
              <a:rPr lang="pt-PT" i="1">
                <a:solidFill>
                  <a:srgbClr val="521C15"/>
                </a:solidFill>
                <a:latin typeface="+mj-lt"/>
              </a:rPr>
              <a:t>versus </a:t>
            </a:r>
            <a:r>
              <a:rPr lang="pt-PT" sz="1800">
                <a:solidFill>
                  <a:srgbClr val="521C15"/>
                </a:solidFill>
                <a:latin typeface="+mj-lt"/>
              </a:rPr>
              <a:t>indivíduos saudáveis e com sensibilidade ao sal (SS)</a:t>
            </a:r>
            <a:r>
              <a:rPr lang="pt-PT" sz="1800" i="1">
                <a:solidFill>
                  <a:srgbClr val="521C15"/>
                </a:solidFill>
                <a:latin typeface="+mj-lt"/>
              </a:rPr>
              <a:t> </a:t>
            </a:r>
            <a:endParaRPr lang="en-GB" sz="1800">
              <a:solidFill>
                <a:srgbClr val="521C15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0FF9D-B444-6E11-6507-B9BA1DBA9B3F}"/>
              </a:ext>
            </a:extLst>
          </p:cNvPr>
          <p:cNvSpPr txBox="1"/>
          <p:nvPr/>
        </p:nvSpPr>
        <p:spPr>
          <a:xfrm>
            <a:off x="459659" y="239988"/>
            <a:ext cx="65237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err="1">
                <a:ln>
                  <a:noFill/>
                </a:ln>
                <a:solidFill>
                  <a:srgbClr val="EF324B"/>
                </a:solidFill>
                <a:effectLst/>
                <a:uLnTx/>
                <a:uFillTx/>
                <a:latin typeface="Alata" panose="020B0604020202020204" charset="0"/>
                <a:ea typeface="+mn-ea"/>
                <a:cs typeface="+mn-cs"/>
              </a:rPr>
              <a:t>Cytoscape</a:t>
            </a:r>
            <a:endParaRPr kumimoji="0" lang="en-GB" sz="4000" b="1" i="0" u="none" strike="noStrike" kern="1200" cap="none" spc="0" normalizeH="0" baseline="0" noProof="0">
              <a:ln>
                <a:noFill/>
              </a:ln>
              <a:solidFill>
                <a:srgbClr val="EF324B"/>
              </a:solidFill>
              <a:effectLst/>
              <a:uLnTx/>
              <a:uFillTx/>
              <a:latin typeface="Alata" panose="020B060402020202020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A6AF6-4746-1FC6-B309-7CB116D6821B}"/>
              </a:ext>
            </a:extLst>
          </p:cNvPr>
          <p:cNvSpPr txBox="1"/>
          <p:nvPr/>
        </p:nvSpPr>
        <p:spPr>
          <a:xfrm>
            <a:off x="302067" y="5870786"/>
            <a:ext cx="49538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Calibri Light"/>
                <a:cs typeface="Calibri"/>
              </a:rPr>
              <a:t>Fig. 10 – Rede de </a:t>
            </a:r>
            <a:r>
              <a:rPr lang="en-US" sz="1200" dirty="0" err="1">
                <a:latin typeface="Calibri Light"/>
                <a:cs typeface="Calibri"/>
              </a:rPr>
              <a:t>proteínas</a:t>
            </a:r>
            <a:r>
              <a:rPr lang="en-US" sz="1200" dirty="0">
                <a:latin typeface="Calibri Light"/>
                <a:cs typeface="Calibri"/>
              </a:rPr>
              <a:t> </a:t>
            </a:r>
            <a:r>
              <a:rPr lang="en-US" sz="1200" dirty="0" err="1">
                <a:latin typeface="Calibri Light"/>
                <a:cs typeface="Calibri"/>
              </a:rPr>
              <a:t>utilizando</a:t>
            </a:r>
            <a:r>
              <a:rPr lang="en-US" sz="1200" dirty="0">
                <a:latin typeface="Calibri Light"/>
                <a:cs typeface="Calibri"/>
              </a:rPr>
              <a:t> a ferramenta </a:t>
            </a:r>
            <a:r>
              <a:rPr lang="en-US" sz="1200" dirty="0" err="1">
                <a:latin typeface="Calibri Light"/>
                <a:cs typeface="Calibri"/>
              </a:rPr>
              <a:t>Cystoscape</a:t>
            </a:r>
            <a:endParaRPr lang="en-US" sz="1200" dirty="0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89290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8370-1126-4003-C3B5-76F5D790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3" y="309562"/>
            <a:ext cx="10515600" cy="1325563"/>
          </a:xfrm>
        </p:spPr>
        <p:txBody>
          <a:bodyPr>
            <a:normAutofit/>
          </a:bodyPr>
          <a:lstStyle/>
          <a:p>
            <a:r>
              <a:rPr lang="pt-PT" sz="4000">
                <a:solidFill>
                  <a:srgbClr val="EF324B"/>
                </a:solidFill>
                <a:latin typeface="Atlata"/>
              </a:rPr>
              <a:t>Discussão de resultados</a:t>
            </a:r>
            <a:endParaRPr lang="en-GB" sz="4000">
              <a:solidFill>
                <a:srgbClr val="EF324B"/>
              </a:solidFill>
              <a:latin typeface="Atlata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0E9CE3-9381-463D-7988-3E91B7D33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2206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A08C6A-9880-93CA-EBF6-1CEE8970A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just"/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A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análise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das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proteínas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sustensa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que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muitas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coincidentes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com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outras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patologias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como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demonstrado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pelo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VOSviewer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possivelmente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por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acção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de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proteínas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semelhantes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. 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Os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mecanismos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comuns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que a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hipertensão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e a diabetes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apresentam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,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um dos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exemplos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: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regulação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do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mecanismo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renina-angiotensia-aldosterona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, stress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oxidativo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e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activação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do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sistema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imunológico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. </a:t>
            </a:r>
          </a:p>
          <a:p>
            <a:pPr algn="just"/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Os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pacientes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SS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apresentam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um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proteoma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diferente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dos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pacientes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RS.</a:t>
            </a:r>
          </a:p>
          <a:p>
            <a:pPr algn="just"/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Os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pacientes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Sensíveis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Sal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apresentam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uma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rede de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proteínas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com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uma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accção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mais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directa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no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processo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homestásico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de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controlar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os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níveis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 de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sódio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.</a:t>
            </a:r>
          </a:p>
          <a:p>
            <a:pPr algn="just"/>
            <a:r>
              <a:rPr lang="en-GB" sz="2400">
                <a:solidFill>
                  <a:srgbClr val="333333"/>
                </a:solidFill>
                <a:latin typeface="+mj-lt"/>
              </a:rPr>
              <a:t>A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ligação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entre a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apolipoproteina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E (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ApoE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) e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doenças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como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hipercolesterolemia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,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doença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de Alzheimer e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hipertensão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têm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sido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cada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vez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mais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estudadas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comprovando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a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sua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 </a:t>
            </a:r>
            <a:r>
              <a:rPr lang="en-GB" sz="2400" err="1">
                <a:solidFill>
                  <a:srgbClr val="333333"/>
                </a:solidFill>
                <a:latin typeface="+mj-lt"/>
              </a:rPr>
              <a:t>interligação</a:t>
            </a:r>
            <a:r>
              <a:rPr lang="en-GB" sz="2400">
                <a:solidFill>
                  <a:srgbClr val="333333"/>
                </a:solidFill>
                <a:latin typeface="+mj-lt"/>
              </a:rPr>
              <a:t>.</a:t>
            </a:r>
            <a:endParaRPr lang="en-GB" sz="2400">
              <a:solidFill>
                <a:srgbClr val="333333"/>
              </a:solidFill>
              <a:latin typeface="+mj-lt"/>
              <a:cs typeface="Calibri Light"/>
            </a:endParaRPr>
          </a:p>
          <a:p>
            <a:pPr algn="just"/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A 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hipertensão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aumenta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o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risco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da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doença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de Alzheimer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sendo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que o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tratamento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da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hipertensão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poderá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ser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uma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medida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preventiva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no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seu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 </a:t>
            </a:r>
            <a:r>
              <a:rPr lang="en-GB" sz="2400" err="1">
                <a:solidFill>
                  <a:srgbClr val="333333"/>
                </a:solidFill>
                <a:latin typeface="+mj-lt"/>
                <a:cs typeface="Calibri Light"/>
              </a:rPr>
              <a:t>tratamento</a:t>
            </a:r>
            <a:r>
              <a:rPr lang="en-GB" sz="2400">
                <a:solidFill>
                  <a:srgbClr val="333333"/>
                </a:solidFill>
                <a:latin typeface="+mj-lt"/>
                <a:cs typeface="Calibri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361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118;p48">
            <a:extLst>
              <a:ext uri="{FF2B5EF4-FFF2-40B4-BE49-F238E27FC236}">
                <a16:creationId xmlns:a16="http://schemas.microsoft.com/office/drawing/2014/main" id="{9F0F859F-5C85-D4B8-0C0B-B90F7AAFC7B1}"/>
              </a:ext>
            </a:extLst>
          </p:cNvPr>
          <p:cNvGrpSpPr/>
          <p:nvPr/>
        </p:nvGrpSpPr>
        <p:grpSpPr>
          <a:xfrm>
            <a:off x="8593394" y="4087614"/>
            <a:ext cx="3038168" cy="2584339"/>
            <a:chOff x="4934249" y="1032609"/>
            <a:chExt cx="3398715" cy="2791698"/>
          </a:xfrm>
        </p:grpSpPr>
        <p:sp>
          <p:nvSpPr>
            <p:cNvPr id="62" name="Google Shape;1119;p48">
              <a:extLst>
                <a:ext uri="{FF2B5EF4-FFF2-40B4-BE49-F238E27FC236}">
                  <a16:creationId xmlns:a16="http://schemas.microsoft.com/office/drawing/2014/main" id="{D5771077-E13E-2388-C2AE-69CB4D2902EB}"/>
                </a:ext>
              </a:extLst>
            </p:cNvPr>
            <p:cNvSpPr/>
            <p:nvPr/>
          </p:nvSpPr>
          <p:spPr>
            <a:xfrm>
              <a:off x="4934249" y="1032609"/>
              <a:ext cx="3398715" cy="2611010"/>
            </a:xfrm>
            <a:custGeom>
              <a:avLst/>
              <a:gdLst/>
              <a:ahLst/>
              <a:cxnLst/>
              <a:rect l="l" t="t" r="r" b="b"/>
              <a:pathLst>
                <a:path w="167445" h="128637" extrusionOk="0">
                  <a:moveTo>
                    <a:pt x="47356" y="1"/>
                  </a:moveTo>
                  <a:cubicBezTo>
                    <a:pt x="42609" y="1"/>
                    <a:pt x="37602" y="709"/>
                    <a:pt x="32457" y="2370"/>
                  </a:cubicBezTo>
                  <a:cubicBezTo>
                    <a:pt x="6066" y="10916"/>
                    <a:pt x="0" y="50039"/>
                    <a:pt x="19549" y="80415"/>
                  </a:cubicBezTo>
                  <a:cubicBezTo>
                    <a:pt x="36492" y="106731"/>
                    <a:pt x="71379" y="127483"/>
                    <a:pt x="83710" y="128636"/>
                  </a:cubicBezTo>
                  <a:cubicBezTo>
                    <a:pt x="96041" y="127483"/>
                    <a:pt x="130928" y="106731"/>
                    <a:pt x="147871" y="80415"/>
                  </a:cubicBezTo>
                  <a:cubicBezTo>
                    <a:pt x="167445" y="50039"/>
                    <a:pt x="161355" y="10916"/>
                    <a:pt x="134964" y="2370"/>
                  </a:cubicBezTo>
                  <a:cubicBezTo>
                    <a:pt x="129824" y="709"/>
                    <a:pt x="124818" y="1"/>
                    <a:pt x="120072" y="1"/>
                  </a:cubicBezTo>
                  <a:cubicBezTo>
                    <a:pt x="101327" y="1"/>
                    <a:pt x="86630" y="11050"/>
                    <a:pt x="83710" y="18109"/>
                  </a:cubicBezTo>
                  <a:cubicBezTo>
                    <a:pt x="80770" y="11050"/>
                    <a:pt x="66101" y="1"/>
                    <a:pt x="47356" y="1"/>
                  </a:cubicBezTo>
                  <a:close/>
                </a:path>
              </a:pathLst>
            </a:custGeom>
            <a:solidFill>
              <a:srgbClr val="EEE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1120;p48">
              <a:extLst>
                <a:ext uri="{FF2B5EF4-FFF2-40B4-BE49-F238E27FC236}">
                  <a16:creationId xmlns:a16="http://schemas.microsoft.com/office/drawing/2014/main" id="{6845FDD4-2505-A971-51AC-1CFCAE3AD6A1}"/>
                </a:ext>
              </a:extLst>
            </p:cNvPr>
            <p:cNvSpPr/>
            <p:nvPr/>
          </p:nvSpPr>
          <p:spPr>
            <a:xfrm>
              <a:off x="5012597" y="1455021"/>
              <a:ext cx="3294934" cy="1719564"/>
            </a:xfrm>
            <a:custGeom>
              <a:avLst/>
              <a:gdLst/>
              <a:ahLst/>
              <a:cxnLst/>
              <a:rect l="l" t="t" r="r" b="b"/>
              <a:pathLst>
                <a:path w="162332" h="84718" extrusionOk="0">
                  <a:moveTo>
                    <a:pt x="98664" y="82000"/>
                  </a:moveTo>
                  <a:lnTo>
                    <a:pt x="98664" y="82000"/>
                  </a:lnTo>
                  <a:cubicBezTo>
                    <a:pt x="98657" y="82044"/>
                    <a:pt x="98651" y="82081"/>
                    <a:pt x="98647" y="82111"/>
                  </a:cubicBezTo>
                  <a:cubicBezTo>
                    <a:pt x="98655" y="82074"/>
                    <a:pt x="98660" y="82037"/>
                    <a:pt x="98664" y="82000"/>
                  </a:cubicBezTo>
                  <a:close/>
                  <a:moveTo>
                    <a:pt x="80916" y="0"/>
                  </a:moveTo>
                  <a:cubicBezTo>
                    <a:pt x="79653" y="0"/>
                    <a:pt x="78531" y="834"/>
                    <a:pt x="78171" y="2060"/>
                  </a:cubicBezTo>
                  <a:lnTo>
                    <a:pt x="67820" y="37800"/>
                  </a:lnTo>
                  <a:lnTo>
                    <a:pt x="65138" y="37800"/>
                  </a:lnTo>
                  <a:cubicBezTo>
                    <a:pt x="64487" y="37800"/>
                    <a:pt x="63835" y="38025"/>
                    <a:pt x="63359" y="38426"/>
                  </a:cubicBezTo>
                  <a:lnTo>
                    <a:pt x="60627" y="29354"/>
                  </a:lnTo>
                  <a:cubicBezTo>
                    <a:pt x="60262" y="28160"/>
                    <a:pt x="59162" y="27321"/>
                    <a:pt x="57927" y="27321"/>
                  </a:cubicBezTo>
                  <a:cubicBezTo>
                    <a:pt x="57891" y="27321"/>
                    <a:pt x="57856" y="27322"/>
                    <a:pt x="57820" y="27324"/>
                  </a:cubicBezTo>
                  <a:cubicBezTo>
                    <a:pt x="56517" y="27349"/>
                    <a:pt x="55414" y="28251"/>
                    <a:pt x="55088" y="29504"/>
                  </a:cubicBezTo>
                  <a:lnTo>
                    <a:pt x="46166" y="65795"/>
                  </a:lnTo>
                  <a:lnTo>
                    <a:pt x="36366" y="20807"/>
                  </a:lnTo>
                  <a:cubicBezTo>
                    <a:pt x="36091" y="19579"/>
                    <a:pt x="35038" y="18652"/>
                    <a:pt x="33785" y="18552"/>
                  </a:cubicBezTo>
                  <a:cubicBezTo>
                    <a:pt x="33708" y="18546"/>
                    <a:pt x="33633" y="18543"/>
                    <a:pt x="33557" y="18543"/>
                  </a:cubicBezTo>
                  <a:cubicBezTo>
                    <a:pt x="32369" y="18543"/>
                    <a:pt x="31302" y="19275"/>
                    <a:pt x="30877" y="20406"/>
                  </a:cubicBezTo>
                  <a:lnTo>
                    <a:pt x="17168" y="56146"/>
                  </a:lnTo>
                  <a:lnTo>
                    <a:pt x="0" y="56146"/>
                  </a:lnTo>
                  <a:lnTo>
                    <a:pt x="0" y="61885"/>
                  </a:lnTo>
                  <a:lnTo>
                    <a:pt x="19148" y="61885"/>
                  </a:lnTo>
                  <a:cubicBezTo>
                    <a:pt x="20326" y="61885"/>
                    <a:pt x="21404" y="61133"/>
                    <a:pt x="21830" y="60030"/>
                  </a:cubicBezTo>
                  <a:lnTo>
                    <a:pt x="32807" y="31409"/>
                  </a:lnTo>
                  <a:lnTo>
                    <a:pt x="43208" y="79103"/>
                  </a:lnTo>
                  <a:cubicBezTo>
                    <a:pt x="43484" y="80407"/>
                    <a:pt x="44637" y="81334"/>
                    <a:pt x="45965" y="81359"/>
                  </a:cubicBezTo>
                  <a:cubicBezTo>
                    <a:pt x="47294" y="81359"/>
                    <a:pt x="48472" y="80482"/>
                    <a:pt x="48797" y="79178"/>
                  </a:cubicBezTo>
                  <a:lnTo>
                    <a:pt x="58146" y="41108"/>
                  </a:lnTo>
                  <a:lnTo>
                    <a:pt x="60201" y="47950"/>
                  </a:lnTo>
                  <a:cubicBezTo>
                    <a:pt x="60552" y="49153"/>
                    <a:pt x="61655" y="49980"/>
                    <a:pt x="62908" y="50005"/>
                  </a:cubicBezTo>
                  <a:cubicBezTo>
                    <a:pt x="62927" y="50006"/>
                    <a:pt x="62946" y="50006"/>
                    <a:pt x="62965" y="50006"/>
                  </a:cubicBezTo>
                  <a:cubicBezTo>
                    <a:pt x="64194" y="50006"/>
                    <a:pt x="65270" y="49210"/>
                    <a:pt x="65665" y="48050"/>
                  </a:cubicBezTo>
                  <a:lnTo>
                    <a:pt x="67193" y="43539"/>
                  </a:lnTo>
                  <a:lnTo>
                    <a:pt x="69975" y="43539"/>
                  </a:lnTo>
                  <a:cubicBezTo>
                    <a:pt x="71254" y="43539"/>
                    <a:pt x="72381" y="42687"/>
                    <a:pt x="72732" y="41484"/>
                  </a:cubicBezTo>
                  <a:lnTo>
                    <a:pt x="80376" y="15143"/>
                  </a:lnTo>
                  <a:cubicBezTo>
                    <a:pt x="85940" y="44391"/>
                    <a:pt x="92707" y="80081"/>
                    <a:pt x="92958" y="82086"/>
                  </a:cubicBezTo>
                  <a:cubicBezTo>
                    <a:pt x="92933" y="81810"/>
                    <a:pt x="92933" y="81509"/>
                    <a:pt x="93008" y="81209"/>
                  </a:cubicBezTo>
                  <a:lnTo>
                    <a:pt x="93008" y="81209"/>
                  </a:lnTo>
                  <a:cubicBezTo>
                    <a:pt x="92858" y="82487"/>
                    <a:pt x="93008" y="83264"/>
                    <a:pt x="93986" y="84066"/>
                  </a:cubicBezTo>
                  <a:cubicBezTo>
                    <a:pt x="94519" y="84489"/>
                    <a:pt x="95161" y="84716"/>
                    <a:pt x="95812" y="84716"/>
                  </a:cubicBezTo>
                  <a:cubicBezTo>
                    <a:pt x="96201" y="84716"/>
                    <a:pt x="96593" y="84635"/>
                    <a:pt x="96968" y="84467"/>
                  </a:cubicBezTo>
                  <a:cubicBezTo>
                    <a:pt x="98572" y="83765"/>
                    <a:pt x="98722" y="82361"/>
                    <a:pt x="98622" y="81284"/>
                  </a:cubicBezTo>
                  <a:lnTo>
                    <a:pt x="98622" y="81284"/>
                  </a:lnTo>
                  <a:cubicBezTo>
                    <a:pt x="98665" y="81541"/>
                    <a:pt x="98690" y="81779"/>
                    <a:pt x="98664" y="82000"/>
                  </a:cubicBezTo>
                  <a:lnTo>
                    <a:pt x="98664" y="82000"/>
                  </a:lnTo>
                  <a:cubicBezTo>
                    <a:pt x="99050" y="79670"/>
                    <a:pt x="103724" y="57626"/>
                    <a:pt x="107118" y="41810"/>
                  </a:cubicBezTo>
                  <a:lnTo>
                    <a:pt x="112181" y="41810"/>
                  </a:lnTo>
                  <a:cubicBezTo>
                    <a:pt x="113484" y="41810"/>
                    <a:pt x="114612" y="40933"/>
                    <a:pt x="114963" y="39679"/>
                  </a:cubicBezTo>
                  <a:lnTo>
                    <a:pt x="119575" y="22286"/>
                  </a:lnTo>
                  <a:lnTo>
                    <a:pt x="134412" y="82537"/>
                  </a:lnTo>
                  <a:cubicBezTo>
                    <a:pt x="134738" y="83815"/>
                    <a:pt x="135865" y="84717"/>
                    <a:pt x="137194" y="84717"/>
                  </a:cubicBezTo>
                  <a:cubicBezTo>
                    <a:pt x="138497" y="84717"/>
                    <a:pt x="139650" y="83840"/>
                    <a:pt x="139976" y="82562"/>
                  </a:cubicBezTo>
                  <a:lnTo>
                    <a:pt x="150377" y="42512"/>
                  </a:lnTo>
                  <a:lnTo>
                    <a:pt x="162332" y="42512"/>
                  </a:lnTo>
                  <a:lnTo>
                    <a:pt x="162332" y="36772"/>
                  </a:lnTo>
                  <a:lnTo>
                    <a:pt x="148146" y="36772"/>
                  </a:lnTo>
                  <a:cubicBezTo>
                    <a:pt x="146843" y="36772"/>
                    <a:pt x="145690" y="37649"/>
                    <a:pt x="145364" y="38928"/>
                  </a:cubicBezTo>
                  <a:lnTo>
                    <a:pt x="137269" y="70131"/>
                  </a:lnTo>
                  <a:lnTo>
                    <a:pt x="122457" y="10005"/>
                  </a:lnTo>
                  <a:cubicBezTo>
                    <a:pt x="122156" y="8752"/>
                    <a:pt x="121003" y="7850"/>
                    <a:pt x="119700" y="7825"/>
                  </a:cubicBezTo>
                  <a:lnTo>
                    <a:pt x="119675" y="7825"/>
                  </a:lnTo>
                  <a:cubicBezTo>
                    <a:pt x="118372" y="7825"/>
                    <a:pt x="117244" y="8702"/>
                    <a:pt x="116893" y="9955"/>
                  </a:cubicBezTo>
                  <a:lnTo>
                    <a:pt x="109976" y="36070"/>
                  </a:lnTo>
                  <a:lnTo>
                    <a:pt x="104813" y="36070"/>
                  </a:lnTo>
                  <a:cubicBezTo>
                    <a:pt x="103459" y="36070"/>
                    <a:pt x="102281" y="37023"/>
                    <a:pt x="102006" y="38351"/>
                  </a:cubicBezTo>
                  <a:cubicBezTo>
                    <a:pt x="102006" y="38351"/>
                    <a:pt x="99700" y="49028"/>
                    <a:pt x="97444" y="59755"/>
                  </a:cubicBezTo>
                  <a:cubicBezTo>
                    <a:pt x="96893" y="62261"/>
                    <a:pt x="96417" y="64542"/>
                    <a:pt x="95966" y="66647"/>
                  </a:cubicBezTo>
                  <a:cubicBezTo>
                    <a:pt x="94788" y="60306"/>
                    <a:pt x="93209" y="51960"/>
                    <a:pt x="91279" y="41785"/>
                  </a:cubicBezTo>
                  <a:cubicBezTo>
                    <a:pt x="87569" y="22261"/>
                    <a:pt x="83785" y="2511"/>
                    <a:pt x="83760" y="2311"/>
                  </a:cubicBezTo>
                  <a:cubicBezTo>
                    <a:pt x="83509" y="1008"/>
                    <a:pt x="82407" y="55"/>
                    <a:pt x="81078" y="5"/>
                  </a:cubicBezTo>
                  <a:cubicBezTo>
                    <a:pt x="81024" y="2"/>
                    <a:pt x="80970" y="0"/>
                    <a:pt x="80916" y="0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1121;p48">
              <a:extLst>
                <a:ext uri="{FF2B5EF4-FFF2-40B4-BE49-F238E27FC236}">
                  <a16:creationId xmlns:a16="http://schemas.microsoft.com/office/drawing/2014/main" id="{E47C0889-7B4D-A252-5717-D8BDE44D66BE}"/>
                </a:ext>
              </a:extLst>
            </p:cNvPr>
            <p:cNvSpPr/>
            <p:nvPr/>
          </p:nvSpPr>
          <p:spPr>
            <a:xfrm>
              <a:off x="5671880" y="2859161"/>
              <a:ext cx="279294" cy="245722"/>
            </a:xfrm>
            <a:custGeom>
              <a:avLst/>
              <a:gdLst/>
              <a:ahLst/>
              <a:cxnLst/>
              <a:rect l="l" t="t" r="r" b="b"/>
              <a:pathLst>
                <a:path w="13760" h="12106" extrusionOk="0">
                  <a:moveTo>
                    <a:pt x="11730" y="0"/>
                  </a:moveTo>
                  <a:lnTo>
                    <a:pt x="0" y="9675"/>
                  </a:lnTo>
                  <a:lnTo>
                    <a:pt x="2006" y="12106"/>
                  </a:lnTo>
                  <a:lnTo>
                    <a:pt x="13760" y="2457"/>
                  </a:lnTo>
                  <a:lnTo>
                    <a:pt x="11730" y="0"/>
                  </a:lnTo>
                  <a:close/>
                </a:path>
              </a:pathLst>
            </a:custGeom>
            <a:solidFill>
              <a:srgbClr val="41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1122;p48">
              <a:extLst>
                <a:ext uri="{FF2B5EF4-FFF2-40B4-BE49-F238E27FC236}">
                  <a16:creationId xmlns:a16="http://schemas.microsoft.com/office/drawing/2014/main" id="{EB15CF61-9019-F2BE-C257-080059AF038E}"/>
                </a:ext>
              </a:extLst>
            </p:cNvPr>
            <p:cNvSpPr/>
            <p:nvPr/>
          </p:nvSpPr>
          <p:spPr>
            <a:xfrm>
              <a:off x="5634736" y="2685678"/>
              <a:ext cx="94647" cy="80398"/>
            </a:xfrm>
            <a:custGeom>
              <a:avLst/>
              <a:gdLst/>
              <a:ahLst/>
              <a:cxnLst/>
              <a:rect l="l" t="t" r="r" b="b"/>
              <a:pathLst>
                <a:path w="4663" h="3961" extrusionOk="0">
                  <a:moveTo>
                    <a:pt x="4312" y="1"/>
                  </a:moveTo>
                  <a:lnTo>
                    <a:pt x="1" y="3535"/>
                  </a:lnTo>
                  <a:lnTo>
                    <a:pt x="352" y="3961"/>
                  </a:lnTo>
                  <a:lnTo>
                    <a:pt x="4663" y="427"/>
                  </a:lnTo>
                  <a:lnTo>
                    <a:pt x="4312" y="1"/>
                  </a:lnTo>
                  <a:close/>
                </a:path>
              </a:pathLst>
            </a:custGeom>
            <a:solidFill>
              <a:srgbClr val="106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1123;p48">
              <a:extLst>
                <a:ext uri="{FF2B5EF4-FFF2-40B4-BE49-F238E27FC236}">
                  <a16:creationId xmlns:a16="http://schemas.microsoft.com/office/drawing/2014/main" id="{6D1DE3FD-2192-ECC5-6C30-D59B26182D06}"/>
                </a:ext>
              </a:extLst>
            </p:cNvPr>
            <p:cNvSpPr/>
            <p:nvPr/>
          </p:nvSpPr>
          <p:spPr>
            <a:xfrm>
              <a:off x="5641353" y="2665340"/>
              <a:ext cx="70737" cy="61055"/>
            </a:xfrm>
            <a:custGeom>
              <a:avLst/>
              <a:gdLst/>
              <a:ahLst/>
              <a:cxnLst/>
              <a:rect l="l" t="t" r="r" b="b"/>
              <a:pathLst>
                <a:path w="3485" h="3008" extrusionOk="0">
                  <a:moveTo>
                    <a:pt x="3134" y="0"/>
                  </a:moveTo>
                  <a:lnTo>
                    <a:pt x="1" y="2582"/>
                  </a:lnTo>
                  <a:lnTo>
                    <a:pt x="352" y="3008"/>
                  </a:lnTo>
                  <a:lnTo>
                    <a:pt x="3484" y="427"/>
                  </a:lnTo>
                  <a:lnTo>
                    <a:pt x="3134" y="0"/>
                  </a:lnTo>
                  <a:close/>
                </a:path>
              </a:pathLst>
            </a:custGeom>
            <a:solidFill>
              <a:srgbClr val="106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1124;p48">
              <a:extLst>
                <a:ext uri="{FF2B5EF4-FFF2-40B4-BE49-F238E27FC236}">
                  <a16:creationId xmlns:a16="http://schemas.microsoft.com/office/drawing/2014/main" id="{7107A6CA-0533-6907-B60B-D5B6BCC351D8}"/>
                </a:ext>
              </a:extLst>
            </p:cNvPr>
            <p:cNvSpPr/>
            <p:nvPr/>
          </p:nvSpPr>
          <p:spPr>
            <a:xfrm>
              <a:off x="5624059" y="2644474"/>
              <a:ext cx="71244" cy="61075"/>
            </a:xfrm>
            <a:custGeom>
              <a:avLst/>
              <a:gdLst/>
              <a:ahLst/>
              <a:cxnLst/>
              <a:rect l="l" t="t" r="r" b="b"/>
              <a:pathLst>
                <a:path w="3510" h="3009" extrusionOk="0">
                  <a:moveTo>
                    <a:pt x="3158" y="1"/>
                  </a:moveTo>
                  <a:lnTo>
                    <a:pt x="1" y="2582"/>
                  </a:lnTo>
                  <a:lnTo>
                    <a:pt x="351" y="3008"/>
                  </a:lnTo>
                  <a:lnTo>
                    <a:pt x="3509" y="427"/>
                  </a:lnTo>
                  <a:lnTo>
                    <a:pt x="3158" y="1"/>
                  </a:lnTo>
                  <a:close/>
                </a:path>
              </a:pathLst>
            </a:custGeom>
            <a:solidFill>
              <a:srgbClr val="106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" name="Google Shape;1125;p48">
              <a:extLst>
                <a:ext uri="{FF2B5EF4-FFF2-40B4-BE49-F238E27FC236}">
                  <a16:creationId xmlns:a16="http://schemas.microsoft.com/office/drawing/2014/main" id="{6AB02036-9EAE-0D86-ED57-B303DE2E1B3F}"/>
                </a:ext>
              </a:extLst>
            </p:cNvPr>
            <p:cNvSpPr/>
            <p:nvPr/>
          </p:nvSpPr>
          <p:spPr>
            <a:xfrm>
              <a:off x="5607273" y="2623629"/>
              <a:ext cx="71244" cy="61562"/>
            </a:xfrm>
            <a:custGeom>
              <a:avLst/>
              <a:gdLst/>
              <a:ahLst/>
              <a:cxnLst/>
              <a:rect l="l" t="t" r="r" b="b"/>
              <a:pathLst>
                <a:path w="3510" h="3033" extrusionOk="0">
                  <a:moveTo>
                    <a:pt x="3158" y="0"/>
                  </a:moveTo>
                  <a:lnTo>
                    <a:pt x="1" y="2607"/>
                  </a:lnTo>
                  <a:lnTo>
                    <a:pt x="351" y="3033"/>
                  </a:lnTo>
                  <a:lnTo>
                    <a:pt x="3509" y="426"/>
                  </a:lnTo>
                  <a:lnTo>
                    <a:pt x="3158" y="0"/>
                  </a:lnTo>
                  <a:close/>
                </a:path>
              </a:pathLst>
            </a:custGeom>
            <a:solidFill>
              <a:srgbClr val="106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1126;p48">
              <a:extLst>
                <a:ext uri="{FF2B5EF4-FFF2-40B4-BE49-F238E27FC236}">
                  <a16:creationId xmlns:a16="http://schemas.microsoft.com/office/drawing/2014/main" id="{C821029A-981A-44ED-B5D0-17C8EA7EEC15}"/>
                </a:ext>
              </a:extLst>
            </p:cNvPr>
            <p:cNvSpPr/>
            <p:nvPr/>
          </p:nvSpPr>
          <p:spPr>
            <a:xfrm>
              <a:off x="5589980" y="2603270"/>
              <a:ext cx="71244" cy="61075"/>
            </a:xfrm>
            <a:custGeom>
              <a:avLst/>
              <a:gdLst/>
              <a:ahLst/>
              <a:cxnLst/>
              <a:rect l="l" t="t" r="r" b="b"/>
              <a:pathLst>
                <a:path w="3510" h="3009" extrusionOk="0">
                  <a:moveTo>
                    <a:pt x="3158" y="1"/>
                  </a:moveTo>
                  <a:lnTo>
                    <a:pt x="0" y="2582"/>
                  </a:lnTo>
                  <a:lnTo>
                    <a:pt x="351" y="3008"/>
                  </a:lnTo>
                  <a:lnTo>
                    <a:pt x="3509" y="427"/>
                  </a:lnTo>
                  <a:lnTo>
                    <a:pt x="3158" y="1"/>
                  </a:lnTo>
                  <a:close/>
                </a:path>
              </a:pathLst>
            </a:custGeom>
            <a:solidFill>
              <a:srgbClr val="106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1127;p48">
              <a:extLst>
                <a:ext uri="{FF2B5EF4-FFF2-40B4-BE49-F238E27FC236}">
                  <a16:creationId xmlns:a16="http://schemas.microsoft.com/office/drawing/2014/main" id="{196028A9-22B1-7926-0A61-4BF08940CC2A}"/>
                </a:ext>
              </a:extLst>
            </p:cNvPr>
            <p:cNvSpPr/>
            <p:nvPr/>
          </p:nvSpPr>
          <p:spPr>
            <a:xfrm>
              <a:off x="5514664" y="1880479"/>
              <a:ext cx="2322278" cy="1819955"/>
            </a:xfrm>
            <a:custGeom>
              <a:avLst/>
              <a:gdLst/>
              <a:ahLst/>
              <a:cxnLst/>
              <a:rect l="l" t="t" r="r" b="b"/>
              <a:pathLst>
                <a:path w="114412" h="89664" extrusionOk="0">
                  <a:moveTo>
                    <a:pt x="81043" y="0"/>
                  </a:moveTo>
                  <a:cubicBezTo>
                    <a:pt x="69526" y="0"/>
                    <a:pt x="58683" y="5871"/>
                    <a:pt x="55339" y="12696"/>
                  </a:cubicBezTo>
                  <a:cubicBezTo>
                    <a:pt x="51976" y="5872"/>
                    <a:pt x="41139" y="6"/>
                    <a:pt x="29628" y="6"/>
                  </a:cubicBezTo>
                  <a:cubicBezTo>
                    <a:pt x="23465" y="6"/>
                    <a:pt x="17110" y="1687"/>
                    <a:pt x="11604" y="5803"/>
                  </a:cubicBezTo>
                  <a:cubicBezTo>
                    <a:pt x="1454" y="13372"/>
                    <a:pt x="0" y="27483"/>
                    <a:pt x="3058" y="40189"/>
                  </a:cubicBezTo>
                  <a:cubicBezTo>
                    <a:pt x="4637" y="46706"/>
                    <a:pt x="7368" y="52846"/>
                    <a:pt x="10727" y="57583"/>
                  </a:cubicBezTo>
                  <a:cubicBezTo>
                    <a:pt x="21003" y="72019"/>
                    <a:pt x="43835" y="87383"/>
                    <a:pt x="55339" y="89663"/>
                  </a:cubicBezTo>
                  <a:cubicBezTo>
                    <a:pt x="66817" y="87383"/>
                    <a:pt x="89650" y="72019"/>
                    <a:pt x="99925" y="57583"/>
                  </a:cubicBezTo>
                  <a:cubicBezTo>
                    <a:pt x="109850" y="43623"/>
                    <a:pt x="114412" y="17257"/>
                    <a:pt x="99073" y="5803"/>
                  </a:cubicBezTo>
                  <a:cubicBezTo>
                    <a:pt x="98472" y="5352"/>
                    <a:pt x="97845" y="4926"/>
                    <a:pt x="97219" y="4525"/>
                  </a:cubicBezTo>
                  <a:cubicBezTo>
                    <a:pt x="92165" y="1331"/>
                    <a:pt x="86528" y="0"/>
                    <a:pt x="81043" y="0"/>
                  </a:cubicBezTo>
                  <a:close/>
                </a:path>
              </a:pathLst>
            </a:custGeom>
            <a:solidFill>
              <a:srgbClr val="D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" name="Google Shape;1128;p48">
              <a:extLst>
                <a:ext uri="{FF2B5EF4-FFF2-40B4-BE49-F238E27FC236}">
                  <a16:creationId xmlns:a16="http://schemas.microsoft.com/office/drawing/2014/main" id="{15F1A56D-11BE-7815-EDD6-90EA5F9BE5E1}"/>
                </a:ext>
              </a:extLst>
            </p:cNvPr>
            <p:cNvSpPr/>
            <p:nvPr/>
          </p:nvSpPr>
          <p:spPr>
            <a:xfrm>
              <a:off x="5576238" y="2697390"/>
              <a:ext cx="2050" cy="8160"/>
            </a:xfrm>
            <a:custGeom>
              <a:avLst/>
              <a:gdLst/>
              <a:ahLst/>
              <a:cxnLst/>
              <a:rect l="l" t="t" r="r" b="b"/>
              <a:pathLst>
                <a:path w="101" h="402" extrusionOk="0">
                  <a:moveTo>
                    <a:pt x="101" y="401"/>
                  </a:moveTo>
                  <a:cubicBezTo>
                    <a:pt x="76" y="276"/>
                    <a:pt x="26" y="126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ubicBezTo>
                    <a:pt x="26" y="126"/>
                    <a:pt x="76" y="276"/>
                    <a:pt x="101" y="401"/>
                  </a:cubicBezTo>
                  <a:close/>
                </a:path>
              </a:pathLst>
            </a:custGeom>
            <a:solidFill>
              <a:srgbClr val="B2B9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1129;p48">
              <a:extLst>
                <a:ext uri="{FF2B5EF4-FFF2-40B4-BE49-F238E27FC236}">
                  <a16:creationId xmlns:a16="http://schemas.microsoft.com/office/drawing/2014/main" id="{BD093950-C8A8-1C7E-C0FC-C4C166158BD4}"/>
                </a:ext>
              </a:extLst>
            </p:cNvPr>
            <p:cNvSpPr/>
            <p:nvPr/>
          </p:nvSpPr>
          <p:spPr>
            <a:xfrm>
              <a:off x="5576238" y="2697390"/>
              <a:ext cx="1593821" cy="719343"/>
            </a:xfrm>
            <a:custGeom>
              <a:avLst/>
              <a:gdLst/>
              <a:ahLst/>
              <a:cxnLst/>
              <a:rect l="l" t="t" r="r" b="b"/>
              <a:pathLst>
                <a:path w="78523" h="35440" extrusionOk="0">
                  <a:moveTo>
                    <a:pt x="1" y="0"/>
                  </a:moveTo>
                  <a:lnTo>
                    <a:pt x="1" y="0"/>
                  </a:lnTo>
                  <a:cubicBezTo>
                    <a:pt x="26" y="126"/>
                    <a:pt x="76" y="276"/>
                    <a:pt x="101" y="401"/>
                  </a:cubicBezTo>
                  <a:cubicBezTo>
                    <a:pt x="1229" y="4963"/>
                    <a:pt x="2958" y="9324"/>
                    <a:pt x="5038" y="13133"/>
                  </a:cubicBezTo>
                  <a:cubicBezTo>
                    <a:pt x="7269" y="13760"/>
                    <a:pt x="9399" y="14762"/>
                    <a:pt x="11379" y="16191"/>
                  </a:cubicBezTo>
                  <a:cubicBezTo>
                    <a:pt x="16066" y="19600"/>
                    <a:pt x="18798" y="24662"/>
                    <a:pt x="19374" y="29976"/>
                  </a:cubicBezTo>
                  <a:cubicBezTo>
                    <a:pt x="21129" y="31554"/>
                    <a:pt x="22983" y="33083"/>
                    <a:pt x="24863" y="34537"/>
                  </a:cubicBezTo>
                  <a:cubicBezTo>
                    <a:pt x="28798" y="35138"/>
                    <a:pt x="32758" y="35439"/>
                    <a:pt x="36743" y="35439"/>
                  </a:cubicBezTo>
                  <a:cubicBezTo>
                    <a:pt x="45765" y="35439"/>
                    <a:pt x="54763" y="33910"/>
                    <a:pt x="63284" y="30953"/>
                  </a:cubicBezTo>
                  <a:cubicBezTo>
                    <a:pt x="69600" y="25965"/>
                    <a:pt x="74738" y="19950"/>
                    <a:pt x="78522" y="13083"/>
                  </a:cubicBezTo>
                  <a:lnTo>
                    <a:pt x="78522" y="13083"/>
                  </a:lnTo>
                  <a:cubicBezTo>
                    <a:pt x="74312" y="15514"/>
                    <a:pt x="69750" y="17369"/>
                    <a:pt x="65089" y="18772"/>
                  </a:cubicBezTo>
                  <a:cubicBezTo>
                    <a:pt x="58096" y="20878"/>
                    <a:pt x="50703" y="22081"/>
                    <a:pt x="43384" y="22081"/>
                  </a:cubicBezTo>
                  <a:cubicBezTo>
                    <a:pt x="35565" y="22081"/>
                    <a:pt x="27820" y="20727"/>
                    <a:pt x="20652" y="17620"/>
                  </a:cubicBezTo>
                  <a:cubicBezTo>
                    <a:pt x="12231" y="13985"/>
                    <a:pt x="4838" y="7720"/>
                    <a:pt x="1" y="0"/>
                  </a:cubicBezTo>
                  <a:close/>
                </a:path>
              </a:pathLst>
            </a:custGeom>
            <a:solidFill>
              <a:srgbClr val="D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Google Shape;1130;p48">
              <a:extLst>
                <a:ext uri="{FF2B5EF4-FFF2-40B4-BE49-F238E27FC236}">
                  <a16:creationId xmlns:a16="http://schemas.microsoft.com/office/drawing/2014/main" id="{BE4E05D2-9E7B-E4AB-A5CB-B3094D7AEDFF}"/>
                </a:ext>
              </a:extLst>
            </p:cNvPr>
            <p:cNvSpPr/>
            <p:nvPr/>
          </p:nvSpPr>
          <p:spPr>
            <a:xfrm>
              <a:off x="7487471" y="1973500"/>
              <a:ext cx="85493" cy="67164"/>
            </a:xfrm>
            <a:custGeom>
              <a:avLst/>
              <a:gdLst/>
              <a:ahLst/>
              <a:cxnLst/>
              <a:rect l="l" t="t" r="r" b="b"/>
              <a:pathLst>
                <a:path w="4212" h="3309" extrusionOk="0">
                  <a:moveTo>
                    <a:pt x="4211" y="3308"/>
                  </a:moveTo>
                  <a:cubicBezTo>
                    <a:pt x="3484" y="2582"/>
                    <a:pt x="2707" y="1905"/>
                    <a:pt x="1855" y="1278"/>
                  </a:cubicBezTo>
                  <a:cubicBezTo>
                    <a:pt x="1805" y="1228"/>
                    <a:pt x="1730" y="1203"/>
                    <a:pt x="1680" y="1153"/>
                  </a:cubicBezTo>
                  <a:cubicBezTo>
                    <a:pt x="1730" y="1203"/>
                    <a:pt x="1805" y="1228"/>
                    <a:pt x="1855" y="1278"/>
                  </a:cubicBezTo>
                  <a:cubicBezTo>
                    <a:pt x="2707" y="1905"/>
                    <a:pt x="3484" y="2582"/>
                    <a:pt x="4211" y="3308"/>
                  </a:cubicBezTo>
                  <a:close/>
                  <a:moveTo>
                    <a:pt x="427" y="276"/>
                  </a:moveTo>
                  <a:cubicBezTo>
                    <a:pt x="301" y="201"/>
                    <a:pt x="151" y="10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51" y="100"/>
                    <a:pt x="301" y="201"/>
                    <a:pt x="427" y="276"/>
                  </a:cubicBezTo>
                  <a:close/>
                </a:path>
              </a:pathLst>
            </a:custGeom>
            <a:solidFill>
              <a:srgbClr val="F9B1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" name="Google Shape;1131;p48">
              <a:extLst>
                <a:ext uri="{FF2B5EF4-FFF2-40B4-BE49-F238E27FC236}">
                  <a16:creationId xmlns:a16="http://schemas.microsoft.com/office/drawing/2014/main" id="{F939D607-5205-23C8-874B-218A718BED1C}"/>
                </a:ext>
              </a:extLst>
            </p:cNvPr>
            <p:cNvSpPr/>
            <p:nvPr/>
          </p:nvSpPr>
          <p:spPr>
            <a:xfrm>
              <a:off x="7171053" y="1973500"/>
              <a:ext cx="539264" cy="1205144"/>
            </a:xfrm>
            <a:custGeom>
              <a:avLst/>
              <a:gdLst/>
              <a:ahLst/>
              <a:cxnLst/>
              <a:rect l="l" t="t" r="r" b="b"/>
              <a:pathLst>
                <a:path w="26568" h="59374" extrusionOk="0">
                  <a:moveTo>
                    <a:pt x="15590" y="0"/>
                  </a:moveTo>
                  <a:lnTo>
                    <a:pt x="15590" y="0"/>
                  </a:lnTo>
                  <a:cubicBezTo>
                    <a:pt x="18547" y="6040"/>
                    <a:pt x="19850" y="12882"/>
                    <a:pt x="19249" y="19549"/>
                  </a:cubicBezTo>
                  <a:cubicBezTo>
                    <a:pt x="18522" y="27494"/>
                    <a:pt x="15113" y="35163"/>
                    <a:pt x="9725" y="41028"/>
                  </a:cubicBezTo>
                  <a:cubicBezTo>
                    <a:pt x="7494" y="47695"/>
                    <a:pt x="4261" y="53810"/>
                    <a:pt x="1" y="59374"/>
                  </a:cubicBezTo>
                  <a:cubicBezTo>
                    <a:pt x="9424" y="53559"/>
                    <a:pt x="17670" y="45514"/>
                    <a:pt x="22106" y="35389"/>
                  </a:cubicBezTo>
                  <a:cubicBezTo>
                    <a:pt x="26016" y="26491"/>
                    <a:pt x="26567" y="15865"/>
                    <a:pt x="22808" y="6993"/>
                  </a:cubicBezTo>
                  <a:cubicBezTo>
                    <a:pt x="21956" y="5689"/>
                    <a:pt x="20953" y="4436"/>
                    <a:pt x="19800" y="3308"/>
                  </a:cubicBezTo>
                  <a:cubicBezTo>
                    <a:pt x="19073" y="2582"/>
                    <a:pt x="18296" y="1905"/>
                    <a:pt x="17444" y="1278"/>
                  </a:cubicBezTo>
                  <a:cubicBezTo>
                    <a:pt x="17394" y="1228"/>
                    <a:pt x="17319" y="1203"/>
                    <a:pt x="17269" y="1153"/>
                  </a:cubicBezTo>
                  <a:cubicBezTo>
                    <a:pt x="16868" y="852"/>
                    <a:pt x="16442" y="551"/>
                    <a:pt x="16016" y="276"/>
                  </a:cubicBezTo>
                  <a:cubicBezTo>
                    <a:pt x="15890" y="201"/>
                    <a:pt x="15740" y="100"/>
                    <a:pt x="15590" y="0"/>
                  </a:cubicBezTo>
                  <a:close/>
                </a:path>
              </a:pathLst>
            </a:custGeom>
            <a:solidFill>
              <a:srgbClr val="DD30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5" name="Google Shape;1132;p48">
              <a:extLst>
                <a:ext uri="{FF2B5EF4-FFF2-40B4-BE49-F238E27FC236}">
                  <a16:creationId xmlns:a16="http://schemas.microsoft.com/office/drawing/2014/main" id="{F2C2E98A-50EC-99A8-F2B3-FB69291C1FE2}"/>
                </a:ext>
              </a:extLst>
            </p:cNvPr>
            <p:cNvSpPr/>
            <p:nvPr/>
          </p:nvSpPr>
          <p:spPr>
            <a:xfrm>
              <a:off x="5582855" y="1953649"/>
              <a:ext cx="808876" cy="713741"/>
            </a:xfrm>
            <a:custGeom>
              <a:avLst/>
              <a:gdLst/>
              <a:ahLst/>
              <a:cxnLst/>
              <a:rect l="l" t="t" r="r" b="b"/>
              <a:pathLst>
                <a:path w="39851" h="35164" extrusionOk="0">
                  <a:moveTo>
                    <a:pt x="25364" y="1"/>
                  </a:moveTo>
                  <a:cubicBezTo>
                    <a:pt x="20176" y="1"/>
                    <a:pt x="14311" y="2507"/>
                    <a:pt x="9574" y="7244"/>
                  </a:cubicBezTo>
                  <a:cubicBezTo>
                    <a:pt x="1730" y="15088"/>
                    <a:pt x="0" y="26091"/>
                    <a:pt x="5690" y="31805"/>
                  </a:cubicBezTo>
                  <a:cubicBezTo>
                    <a:pt x="7970" y="34086"/>
                    <a:pt x="11078" y="35164"/>
                    <a:pt x="14487" y="35164"/>
                  </a:cubicBezTo>
                  <a:cubicBezTo>
                    <a:pt x="19675" y="35164"/>
                    <a:pt x="25539" y="32657"/>
                    <a:pt x="30276" y="27921"/>
                  </a:cubicBezTo>
                  <a:cubicBezTo>
                    <a:pt x="38121" y="20076"/>
                    <a:pt x="39850" y="9073"/>
                    <a:pt x="34161" y="3359"/>
                  </a:cubicBezTo>
                  <a:cubicBezTo>
                    <a:pt x="31880" y="1078"/>
                    <a:pt x="28773" y="1"/>
                    <a:pt x="25364" y="1"/>
                  </a:cubicBez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6" name="Google Shape;1133;p48">
              <a:extLst>
                <a:ext uri="{FF2B5EF4-FFF2-40B4-BE49-F238E27FC236}">
                  <a16:creationId xmlns:a16="http://schemas.microsoft.com/office/drawing/2014/main" id="{93407FB8-3131-718D-60A4-C626A0819647}"/>
                </a:ext>
              </a:extLst>
            </p:cNvPr>
            <p:cNvSpPr/>
            <p:nvPr/>
          </p:nvSpPr>
          <p:spPr>
            <a:xfrm>
              <a:off x="6593671" y="3690384"/>
              <a:ext cx="82428" cy="11225"/>
            </a:xfrm>
            <a:custGeom>
              <a:avLst/>
              <a:gdLst/>
              <a:ahLst/>
              <a:cxnLst/>
              <a:rect l="l" t="t" r="r" b="b"/>
              <a:pathLst>
                <a:path w="4061" h="553" extrusionOk="0">
                  <a:moveTo>
                    <a:pt x="2156" y="552"/>
                  </a:moveTo>
                  <a:cubicBezTo>
                    <a:pt x="1479" y="402"/>
                    <a:pt x="752" y="227"/>
                    <a:pt x="0" y="1"/>
                  </a:cubicBezTo>
                  <a:cubicBezTo>
                    <a:pt x="752" y="227"/>
                    <a:pt x="1479" y="402"/>
                    <a:pt x="2156" y="552"/>
                  </a:cubicBezTo>
                  <a:cubicBezTo>
                    <a:pt x="2757" y="427"/>
                    <a:pt x="3409" y="252"/>
                    <a:pt x="4060" y="76"/>
                  </a:cubicBezTo>
                  <a:cubicBezTo>
                    <a:pt x="3409" y="252"/>
                    <a:pt x="2757" y="427"/>
                    <a:pt x="2156" y="552"/>
                  </a:cubicBezTo>
                  <a:close/>
                </a:path>
              </a:pathLst>
            </a:custGeom>
            <a:solidFill>
              <a:srgbClr val="F46C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7" name="Google Shape;1134;p48">
              <a:extLst>
                <a:ext uri="{FF2B5EF4-FFF2-40B4-BE49-F238E27FC236}">
                  <a16:creationId xmlns:a16="http://schemas.microsoft.com/office/drawing/2014/main" id="{DDDBA8FC-0D59-4CD8-4197-F82946B6741B}"/>
                </a:ext>
              </a:extLst>
            </p:cNvPr>
            <p:cNvSpPr/>
            <p:nvPr/>
          </p:nvSpPr>
          <p:spPr>
            <a:xfrm>
              <a:off x="7557173" y="2995012"/>
              <a:ext cx="21373" cy="33572"/>
            </a:xfrm>
            <a:custGeom>
              <a:avLst/>
              <a:gdLst/>
              <a:ahLst/>
              <a:cxnLst/>
              <a:rect l="l" t="t" r="r" b="b"/>
              <a:pathLst>
                <a:path w="1053" h="1654" extrusionOk="0">
                  <a:moveTo>
                    <a:pt x="1052" y="0"/>
                  </a:moveTo>
                  <a:cubicBezTo>
                    <a:pt x="702" y="551"/>
                    <a:pt x="376" y="1102"/>
                    <a:pt x="0" y="1653"/>
                  </a:cubicBezTo>
                  <a:cubicBezTo>
                    <a:pt x="376" y="1127"/>
                    <a:pt x="702" y="551"/>
                    <a:pt x="1052" y="0"/>
                  </a:cubicBezTo>
                  <a:close/>
                </a:path>
              </a:pathLst>
            </a:custGeom>
            <a:solidFill>
              <a:srgbClr val="F25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" name="Google Shape;1135;p48">
              <a:extLst>
                <a:ext uri="{FF2B5EF4-FFF2-40B4-BE49-F238E27FC236}">
                  <a16:creationId xmlns:a16="http://schemas.microsoft.com/office/drawing/2014/main" id="{DBD265E1-7ED0-3024-86D5-C3A4B014C017}"/>
                </a:ext>
              </a:extLst>
            </p:cNvPr>
            <p:cNvSpPr/>
            <p:nvPr/>
          </p:nvSpPr>
          <p:spPr>
            <a:xfrm>
              <a:off x="7641103" y="2700435"/>
              <a:ext cx="56488" cy="169931"/>
            </a:xfrm>
            <a:custGeom>
              <a:avLst/>
              <a:gdLst/>
              <a:ahLst/>
              <a:cxnLst/>
              <a:rect l="l" t="t" r="r" b="b"/>
              <a:pathLst>
                <a:path w="2783" h="8372" extrusionOk="0">
                  <a:moveTo>
                    <a:pt x="2783" y="1"/>
                  </a:moveTo>
                  <a:cubicBezTo>
                    <a:pt x="2081" y="2883"/>
                    <a:pt x="1128" y="5715"/>
                    <a:pt x="1" y="8372"/>
                  </a:cubicBezTo>
                  <a:cubicBezTo>
                    <a:pt x="1128" y="5715"/>
                    <a:pt x="2081" y="2908"/>
                    <a:pt x="2783" y="1"/>
                  </a:cubicBezTo>
                  <a:close/>
                </a:path>
              </a:pathLst>
            </a:custGeom>
            <a:solidFill>
              <a:srgbClr val="5272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1136;p48">
              <a:extLst>
                <a:ext uri="{FF2B5EF4-FFF2-40B4-BE49-F238E27FC236}">
                  <a16:creationId xmlns:a16="http://schemas.microsoft.com/office/drawing/2014/main" id="{B34C312D-B0CD-DC8D-78F1-9541CD7585D0}"/>
                </a:ext>
              </a:extLst>
            </p:cNvPr>
            <p:cNvSpPr/>
            <p:nvPr/>
          </p:nvSpPr>
          <p:spPr>
            <a:xfrm>
              <a:off x="7714357" y="2583947"/>
              <a:ext cx="4608" cy="33085"/>
            </a:xfrm>
            <a:custGeom>
              <a:avLst/>
              <a:gdLst/>
              <a:ahLst/>
              <a:cxnLst/>
              <a:rect l="l" t="t" r="r" b="b"/>
              <a:pathLst>
                <a:path w="227" h="1630" extrusionOk="0">
                  <a:moveTo>
                    <a:pt x="1" y="1629"/>
                  </a:moveTo>
                  <a:lnTo>
                    <a:pt x="1" y="1629"/>
                  </a:lnTo>
                  <a:cubicBezTo>
                    <a:pt x="76" y="1103"/>
                    <a:pt x="151" y="552"/>
                    <a:pt x="226" y="25"/>
                  </a:cubicBezTo>
                  <a:cubicBezTo>
                    <a:pt x="151" y="552"/>
                    <a:pt x="76" y="1103"/>
                    <a:pt x="1" y="1629"/>
                  </a:cubicBezTo>
                  <a:close/>
                  <a:moveTo>
                    <a:pt x="226" y="25"/>
                  </a:moveTo>
                  <a:cubicBezTo>
                    <a:pt x="226" y="25"/>
                    <a:pt x="226" y="0"/>
                    <a:pt x="226" y="0"/>
                  </a:cubicBezTo>
                  <a:cubicBezTo>
                    <a:pt x="226" y="0"/>
                    <a:pt x="226" y="25"/>
                    <a:pt x="226" y="25"/>
                  </a:cubicBezTo>
                  <a:close/>
                </a:path>
              </a:pathLst>
            </a:custGeom>
            <a:solidFill>
              <a:srgbClr val="F57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" name="Google Shape;1137;p48">
              <a:extLst>
                <a:ext uri="{FF2B5EF4-FFF2-40B4-BE49-F238E27FC236}">
                  <a16:creationId xmlns:a16="http://schemas.microsoft.com/office/drawing/2014/main" id="{7275DC4A-EBD4-BA0E-4A0B-FC720B03406A}"/>
                </a:ext>
              </a:extLst>
            </p:cNvPr>
            <p:cNvSpPr/>
            <p:nvPr/>
          </p:nvSpPr>
          <p:spPr>
            <a:xfrm>
              <a:off x="7697571" y="2617012"/>
              <a:ext cx="16806" cy="83443"/>
            </a:xfrm>
            <a:custGeom>
              <a:avLst/>
              <a:gdLst/>
              <a:ahLst/>
              <a:cxnLst/>
              <a:rect l="l" t="t" r="r" b="b"/>
              <a:pathLst>
                <a:path w="828" h="4111" extrusionOk="0">
                  <a:moveTo>
                    <a:pt x="1" y="4111"/>
                  </a:moveTo>
                  <a:lnTo>
                    <a:pt x="1" y="4111"/>
                  </a:lnTo>
                  <a:cubicBezTo>
                    <a:pt x="326" y="2757"/>
                    <a:pt x="602" y="1379"/>
                    <a:pt x="828" y="0"/>
                  </a:cubicBezTo>
                  <a:lnTo>
                    <a:pt x="828" y="0"/>
                  </a:lnTo>
                  <a:cubicBezTo>
                    <a:pt x="602" y="1379"/>
                    <a:pt x="326" y="2757"/>
                    <a:pt x="1" y="4111"/>
                  </a:cubicBezTo>
                  <a:close/>
                </a:path>
              </a:pathLst>
            </a:custGeom>
            <a:solidFill>
              <a:srgbClr val="151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1138;p48">
              <a:extLst>
                <a:ext uri="{FF2B5EF4-FFF2-40B4-BE49-F238E27FC236}">
                  <a16:creationId xmlns:a16="http://schemas.microsoft.com/office/drawing/2014/main" id="{03E88305-7549-7039-744F-2493709D28B3}"/>
                </a:ext>
              </a:extLst>
            </p:cNvPr>
            <p:cNvSpPr/>
            <p:nvPr/>
          </p:nvSpPr>
          <p:spPr>
            <a:xfrm>
              <a:off x="6080875" y="2115420"/>
              <a:ext cx="1646229" cy="1586189"/>
            </a:xfrm>
            <a:custGeom>
              <a:avLst/>
              <a:gdLst/>
              <a:ahLst/>
              <a:cxnLst/>
              <a:rect l="l" t="t" r="r" b="b"/>
              <a:pathLst>
                <a:path w="81105" h="78147" extrusionOk="0">
                  <a:moveTo>
                    <a:pt x="38422" y="59625"/>
                  </a:moveTo>
                  <a:cubicBezTo>
                    <a:pt x="29901" y="62582"/>
                    <a:pt x="20903" y="64111"/>
                    <a:pt x="11881" y="64111"/>
                  </a:cubicBezTo>
                  <a:cubicBezTo>
                    <a:pt x="7896" y="64111"/>
                    <a:pt x="3936" y="63810"/>
                    <a:pt x="1" y="63209"/>
                  </a:cubicBezTo>
                  <a:lnTo>
                    <a:pt x="1" y="63209"/>
                  </a:lnTo>
                  <a:cubicBezTo>
                    <a:pt x="4312" y="66567"/>
                    <a:pt x="8798" y="69600"/>
                    <a:pt x="13084" y="72031"/>
                  </a:cubicBezTo>
                  <a:cubicBezTo>
                    <a:pt x="16392" y="71179"/>
                    <a:pt x="19801" y="70026"/>
                    <a:pt x="23259" y="68547"/>
                  </a:cubicBezTo>
                  <a:cubicBezTo>
                    <a:pt x="23284" y="68547"/>
                    <a:pt x="23309" y="68547"/>
                    <a:pt x="23309" y="68522"/>
                  </a:cubicBezTo>
                  <a:cubicBezTo>
                    <a:pt x="23334" y="68522"/>
                    <a:pt x="23359" y="68522"/>
                    <a:pt x="23385" y="68497"/>
                  </a:cubicBezTo>
                  <a:cubicBezTo>
                    <a:pt x="23410" y="68497"/>
                    <a:pt x="23410" y="68497"/>
                    <a:pt x="23435" y="68472"/>
                  </a:cubicBezTo>
                  <a:cubicBezTo>
                    <a:pt x="28974" y="66091"/>
                    <a:pt x="33986" y="63134"/>
                    <a:pt x="38422" y="59625"/>
                  </a:cubicBezTo>
                  <a:close/>
                  <a:moveTo>
                    <a:pt x="76518" y="1"/>
                  </a:moveTo>
                  <a:lnTo>
                    <a:pt x="76518" y="1"/>
                  </a:lnTo>
                  <a:cubicBezTo>
                    <a:pt x="80277" y="8873"/>
                    <a:pt x="79726" y="19499"/>
                    <a:pt x="75816" y="28397"/>
                  </a:cubicBezTo>
                  <a:cubicBezTo>
                    <a:pt x="71380" y="38522"/>
                    <a:pt x="63134" y="46567"/>
                    <a:pt x="53711" y="52382"/>
                  </a:cubicBezTo>
                  <a:cubicBezTo>
                    <a:pt x="53410" y="52783"/>
                    <a:pt x="53109" y="53159"/>
                    <a:pt x="52808" y="53535"/>
                  </a:cubicBezTo>
                  <a:cubicBezTo>
                    <a:pt x="45916" y="62156"/>
                    <a:pt x="36543" y="69149"/>
                    <a:pt x="25715" y="73810"/>
                  </a:cubicBezTo>
                  <a:cubicBezTo>
                    <a:pt x="24011" y="74562"/>
                    <a:pt x="22257" y="75214"/>
                    <a:pt x="20502" y="75841"/>
                  </a:cubicBezTo>
                  <a:cubicBezTo>
                    <a:pt x="22207" y="76567"/>
                    <a:pt x="23811" y="77169"/>
                    <a:pt x="25264" y="77595"/>
                  </a:cubicBezTo>
                  <a:cubicBezTo>
                    <a:pt x="26016" y="77821"/>
                    <a:pt x="26743" y="77996"/>
                    <a:pt x="27420" y="78146"/>
                  </a:cubicBezTo>
                  <a:cubicBezTo>
                    <a:pt x="28021" y="78021"/>
                    <a:pt x="28673" y="77846"/>
                    <a:pt x="29324" y="77670"/>
                  </a:cubicBezTo>
                  <a:cubicBezTo>
                    <a:pt x="31104" y="77144"/>
                    <a:pt x="33084" y="76392"/>
                    <a:pt x="35214" y="75440"/>
                  </a:cubicBezTo>
                  <a:cubicBezTo>
                    <a:pt x="37445" y="74387"/>
                    <a:pt x="40678" y="72633"/>
                    <a:pt x="42056" y="71856"/>
                  </a:cubicBezTo>
                  <a:cubicBezTo>
                    <a:pt x="47044" y="68973"/>
                    <a:pt x="52332" y="65314"/>
                    <a:pt x="57244" y="61254"/>
                  </a:cubicBezTo>
                  <a:cubicBezTo>
                    <a:pt x="59099" y="58622"/>
                    <a:pt x="61680" y="56216"/>
                    <a:pt x="64863" y="54387"/>
                  </a:cubicBezTo>
                  <a:cubicBezTo>
                    <a:pt x="67595" y="51655"/>
                    <a:pt x="70026" y="48823"/>
                    <a:pt x="72006" y="46066"/>
                  </a:cubicBezTo>
                  <a:cubicBezTo>
                    <a:pt x="72257" y="45715"/>
                    <a:pt x="72508" y="45364"/>
                    <a:pt x="72733" y="44988"/>
                  </a:cubicBezTo>
                  <a:cubicBezTo>
                    <a:pt x="73109" y="44437"/>
                    <a:pt x="73435" y="43886"/>
                    <a:pt x="73786" y="43334"/>
                  </a:cubicBezTo>
                  <a:cubicBezTo>
                    <a:pt x="74187" y="42632"/>
                    <a:pt x="74588" y="41956"/>
                    <a:pt x="74964" y="41229"/>
                  </a:cubicBezTo>
                  <a:cubicBezTo>
                    <a:pt x="75640" y="39951"/>
                    <a:pt x="76292" y="38597"/>
                    <a:pt x="76869" y="37194"/>
                  </a:cubicBezTo>
                  <a:cubicBezTo>
                    <a:pt x="77996" y="34537"/>
                    <a:pt x="78949" y="31705"/>
                    <a:pt x="79651" y="28823"/>
                  </a:cubicBezTo>
                  <a:cubicBezTo>
                    <a:pt x="79976" y="27469"/>
                    <a:pt x="80252" y="26091"/>
                    <a:pt x="80478" y="24712"/>
                  </a:cubicBezTo>
                  <a:cubicBezTo>
                    <a:pt x="80553" y="24186"/>
                    <a:pt x="80628" y="23635"/>
                    <a:pt x="80703" y="23108"/>
                  </a:cubicBezTo>
                  <a:cubicBezTo>
                    <a:pt x="80703" y="23108"/>
                    <a:pt x="80703" y="23083"/>
                    <a:pt x="80703" y="23083"/>
                  </a:cubicBezTo>
                  <a:cubicBezTo>
                    <a:pt x="80979" y="21103"/>
                    <a:pt x="81104" y="19123"/>
                    <a:pt x="81104" y="17169"/>
                  </a:cubicBezTo>
                  <a:cubicBezTo>
                    <a:pt x="81104" y="10903"/>
                    <a:pt x="79751" y="4888"/>
                    <a:pt x="76518" y="1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1139;p48">
              <a:extLst>
                <a:ext uri="{FF2B5EF4-FFF2-40B4-BE49-F238E27FC236}">
                  <a16:creationId xmlns:a16="http://schemas.microsoft.com/office/drawing/2014/main" id="{FEEFD9B7-D3BC-2698-6E54-54FC91FDEFEB}"/>
                </a:ext>
              </a:extLst>
            </p:cNvPr>
            <p:cNvSpPr/>
            <p:nvPr/>
          </p:nvSpPr>
          <p:spPr>
            <a:xfrm>
              <a:off x="6788506" y="3490474"/>
              <a:ext cx="755960" cy="211135"/>
            </a:xfrm>
            <a:custGeom>
              <a:avLst/>
              <a:gdLst/>
              <a:ahLst/>
              <a:cxnLst/>
              <a:rect l="l" t="t" r="r" b="b"/>
              <a:pathLst>
                <a:path w="37244" h="10402" extrusionOk="0">
                  <a:moveTo>
                    <a:pt x="33635" y="0"/>
                  </a:moveTo>
                  <a:cubicBezTo>
                    <a:pt x="29767" y="3084"/>
                    <a:pt x="24045" y="4618"/>
                    <a:pt x="17296" y="4618"/>
                  </a:cubicBezTo>
                  <a:cubicBezTo>
                    <a:pt x="14337" y="4618"/>
                    <a:pt x="11180" y="4323"/>
                    <a:pt x="7895" y="3735"/>
                  </a:cubicBezTo>
                  <a:cubicBezTo>
                    <a:pt x="7895" y="3735"/>
                    <a:pt x="2908" y="6542"/>
                    <a:pt x="0" y="7845"/>
                  </a:cubicBezTo>
                  <a:cubicBezTo>
                    <a:pt x="5690" y="9424"/>
                    <a:pt x="11279" y="10301"/>
                    <a:pt x="16492" y="10376"/>
                  </a:cubicBezTo>
                  <a:cubicBezTo>
                    <a:pt x="16767" y="10376"/>
                    <a:pt x="17043" y="10401"/>
                    <a:pt x="17319" y="10401"/>
                  </a:cubicBezTo>
                  <a:cubicBezTo>
                    <a:pt x="25539" y="10401"/>
                    <a:pt x="32432" y="8371"/>
                    <a:pt x="37244" y="4537"/>
                  </a:cubicBezTo>
                  <a:lnTo>
                    <a:pt x="33635" y="0"/>
                  </a:ln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1140;p48">
              <a:extLst>
                <a:ext uri="{FF2B5EF4-FFF2-40B4-BE49-F238E27FC236}">
                  <a16:creationId xmlns:a16="http://schemas.microsoft.com/office/drawing/2014/main" id="{3BB941AB-E28F-BD09-5FD4-FE6CE0A428BD}"/>
                </a:ext>
              </a:extLst>
            </p:cNvPr>
            <p:cNvSpPr/>
            <p:nvPr/>
          </p:nvSpPr>
          <p:spPr>
            <a:xfrm>
              <a:off x="5594547" y="1476353"/>
              <a:ext cx="1872607" cy="2260350"/>
            </a:xfrm>
            <a:custGeom>
              <a:avLst/>
              <a:gdLst/>
              <a:ahLst/>
              <a:cxnLst/>
              <a:rect l="l" t="t" r="r" b="b"/>
              <a:pathLst>
                <a:path w="92258" h="111361" extrusionOk="0">
                  <a:moveTo>
                    <a:pt x="50851" y="1"/>
                  </a:moveTo>
                  <a:cubicBezTo>
                    <a:pt x="44458" y="1"/>
                    <a:pt x="37994" y="1419"/>
                    <a:pt x="32081" y="4292"/>
                  </a:cubicBezTo>
                  <a:cubicBezTo>
                    <a:pt x="23961" y="8252"/>
                    <a:pt x="17645" y="14493"/>
                    <a:pt x="13610" y="22338"/>
                  </a:cubicBezTo>
                  <a:lnTo>
                    <a:pt x="13610" y="22338"/>
                  </a:lnTo>
                  <a:cubicBezTo>
                    <a:pt x="14888" y="21811"/>
                    <a:pt x="16191" y="21360"/>
                    <a:pt x="17520" y="21009"/>
                  </a:cubicBezTo>
                  <a:cubicBezTo>
                    <a:pt x="18923" y="20633"/>
                    <a:pt x="20352" y="20383"/>
                    <a:pt x="21755" y="20207"/>
                  </a:cubicBezTo>
                  <a:cubicBezTo>
                    <a:pt x="25064" y="15696"/>
                    <a:pt x="29425" y="12037"/>
                    <a:pt x="34613" y="9506"/>
                  </a:cubicBezTo>
                  <a:cubicBezTo>
                    <a:pt x="39745" y="7017"/>
                    <a:pt x="45346" y="5788"/>
                    <a:pt x="50873" y="5788"/>
                  </a:cubicBezTo>
                  <a:cubicBezTo>
                    <a:pt x="57869" y="5788"/>
                    <a:pt x="64746" y="7757"/>
                    <a:pt x="70402" y="11636"/>
                  </a:cubicBezTo>
                  <a:cubicBezTo>
                    <a:pt x="81129" y="19004"/>
                    <a:pt x="86317" y="32087"/>
                    <a:pt x="84939" y="48528"/>
                  </a:cubicBezTo>
                  <a:cubicBezTo>
                    <a:pt x="83009" y="71787"/>
                    <a:pt x="69325" y="90534"/>
                    <a:pt x="47395" y="99957"/>
                  </a:cubicBezTo>
                  <a:cubicBezTo>
                    <a:pt x="38176" y="103925"/>
                    <a:pt x="29249" y="105579"/>
                    <a:pt x="21697" y="105579"/>
                  </a:cubicBezTo>
                  <a:cubicBezTo>
                    <a:pt x="13891" y="105579"/>
                    <a:pt x="7554" y="103812"/>
                    <a:pt x="3886" y="101010"/>
                  </a:cubicBezTo>
                  <a:cubicBezTo>
                    <a:pt x="3810" y="100935"/>
                    <a:pt x="3710" y="100884"/>
                    <a:pt x="3635" y="100809"/>
                  </a:cubicBezTo>
                  <a:lnTo>
                    <a:pt x="1" y="105346"/>
                  </a:lnTo>
                  <a:cubicBezTo>
                    <a:pt x="5013" y="109356"/>
                    <a:pt x="12733" y="111361"/>
                    <a:pt x="21530" y="111361"/>
                  </a:cubicBezTo>
                  <a:cubicBezTo>
                    <a:pt x="30352" y="111361"/>
                    <a:pt x="40277" y="109331"/>
                    <a:pt x="49675" y="105295"/>
                  </a:cubicBezTo>
                  <a:cubicBezTo>
                    <a:pt x="60503" y="100634"/>
                    <a:pt x="69876" y="93641"/>
                    <a:pt x="76768" y="85020"/>
                  </a:cubicBezTo>
                  <a:cubicBezTo>
                    <a:pt x="84889" y="74894"/>
                    <a:pt x="89575" y="62789"/>
                    <a:pt x="90728" y="49030"/>
                  </a:cubicBezTo>
                  <a:cubicBezTo>
                    <a:pt x="92257" y="30408"/>
                    <a:pt x="86217" y="15445"/>
                    <a:pt x="73686" y="6849"/>
                  </a:cubicBezTo>
                  <a:cubicBezTo>
                    <a:pt x="67053" y="2310"/>
                    <a:pt x="59010" y="1"/>
                    <a:pt x="50851" y="1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1141;p48">
              <a:extLst>
                <a:ext uri="{FF2B5EF4-FFF2-40B4-BE49-F238E27FC236}">
                  <a16:creationId xmlns:a16="http://schemas.microsoft.com/office/drawing/2014/main" id="{E9AFA5F3-5A5C-9567-4B9E-B1238D1FE705}"/>
                </a:ext>
              </a:extLst>
            </p:cNvPr>
            <p:cNvSpPr/>
            <p:nvPr/>
          </p:nvSpPr>
          <p:spPr>
            <a:xfrm>
              <a:off x="5876885" y="3605947"/>
              <a:ext cx="158239" cy="13254"/>
            </a:xfrm>
            <a:custGeom>
              <a:avLst/>
              <a:gdLst/>
              <a:ahLst/>
              <a:cxnLst/>
              <a:rect l="l" t="t" r="r" b="b"/>
              <a:pathLst>
                <a:path w="7796" h="653" extrusionOk="0">
                  <a:moveTo>
                    <a:pt x="7795" y="652"/>
                  </a:moveTo>
                  <a:lnTo>
                    <a:pt x="7795" y="652"/>
                  </a:lnTo>
                  <a:lnTo>
                    <a:pt x="7795" y="652"/>
                  </a:lnTo>
                  <a:lnTo>
                    <a:pt x="7795" y="652"/>
                  </a:lnTo>
                  <a:close/>
                  <a:moveTo>
                    <a:pt x="7795" y="652"/>
                  </a:moveTo>
                  <a:cubicBezTo>
                    <a:pt x="4988" y="652"/>
                    <a:pt x="2382" y="427"/>
                    <a:pt x="1" y="1"/>
                  </a:cubicBezTo>
                  <a:lnTo>
                    <a:pt x="1" y="1"/>
                  </a:lnTo>
                  <a:cubicBezTo>
                    <a:pt x="2382" y="427"/>
                    <a:pt x="4988" y="652"/>
                    <a:pt x="7795" y="652"/>
                  </a:cubicBezTo>
                  <a:close/>
                </a:path>
              </a:pathLst>
            </a:custGeom>
            <a:solidFill>
              <a:srgbClr val="87D6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1142;p48">
              <a:extLst>
                <a:ext uri="{FF2B5EF4-FFF2-40B4-BE49-F238E27FC236}">
                  <a16:creationId xmlns:a16="http://schemas.microsoft.com/office/drawing/2014/main" id="{5597676D-F690-B206-1CE4-F75725384EA9}"/>
                </a:ext>
              </a:extLst>
            </p:cNvPr>
            <p:cNvSpPr/>
            <p:nvPr/>
          </p:nvSpPr>
          <p:spPr>
            <a:xfrm>
              <a:off x="6298606" y="1601122"/>
              <a:ext cx="723423" cy="110398"/>
            </a:xfrm>
            <a:custGeom>
              <a:avLst/>
              <a:gdLst/>
              <a:ahLst/>
              <a:cxnLst/>
              <a:rect l="l" t="t" r="r" b="b"/>
              <a:pathLst>
                <a:path w="35641" h="5439" extrusionOk="0">
                  <a:moveTo>
                    <a:pt x="35640" y="5439"/>
                  </a:moveTo>
                  <a:cubicBezTo>
                    <a:pt x="31405" y="2556"/>
                    <a:pt x="26467" y="727"/>
                    <a:pt x="21329" y="0"/>
                  </a:cubicBezTo>
                  <a:lnTo>
                    <a:pt x="21329" y="0"/>
                  </a:lnTo>
                  <a:cubicBezTo>
                    <a:pt x="26467" y="727"/>
                    <a:pt x="31405" y="2556"/>
                    <a:pt x="35640" y="5439"/>
                  </a:cubicBezTo>
                  <a:close/>
                  <a:moveTo>
                    <a:pt x="1" y="3333"/>
                  </a:moveTo>
                  <a:cubicBezTo>
                    <a:pt x="26" y="3333"/>
                    <a:pt x="26" y="3308"/>
                    <a:pt x="51" y="3308"/>
                  </a:cubicBezTo>
                  <a:cubicBezTo>
                    <a:pt x="26" y="3308"/>
                    <a:pt x="26" y="3333"/>
                    <a:pt x="1" y="3333"/>
                  </a:cubicBezTo>
                  <a:close/>
                  <a:moveTo>
                    <a:pt x="76" y="3283"/>
                  </a:moveTo>
                  <a:cubicBezTo>
                    <a:pt x="76" y="3283"/>
                    <a:pt x="76" y="3283"/>
                    <a:pt x="76" y="3283"/>
                  </a:cubicBezTo>
                  <a:cubicBezTo>
                    <a:pt x="76" y="3283"/>
                    <a:pt x="76" y="3283"/>
                    <a:pt x="76" y="3283"/>
                  </a:cubicBezTo>
                  <a:close/>
                </a:path>
              </a:pathLst>
            </a:custGeom>
            <a:solidFill>
              <a:srgbClr val="90B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1143;p48">
              <a:extLst>
                <a:ext uri="{FF2B5EF4-FFF2-40B4-BE49-F238E27FC236}">
                  <a16:creationId xmlns:a16="http://schemas.microsoft.com/office/drawing/2014/main" id="{69F23334-0B7D-C3BE-934E-88D069164047}"/>
                </a:ext>
              </a:extLst>
            </p:cNvPr>
            <p:cNvSpPr/>
            <p:nvPr/>
          </p:nvSpPr>
          <p:spPr>
            <a:xfrm>
              <a:off x="6626735" y="1593998"/>
              <a:ext cx="104816" cy="7145"/>
            </a:xfrm>
            <a:custGeom>
              <a:avLst/>
              <a:gdLst/>
              <a:ahLst/>
              <a:cxnLst/>
              <a:rect l="l" t="t" r="r" b="b"/>
              <a:pathLst>
                <a:path w="5164" h="352" extrusionOk="0">
                  <a:moveTo>
                    <a:pt x="5163" y="351"/>
                  </a:moveTo>
                  <a:cubicBezTo>
                    <a:pt x="3459" y="126"/>
                    <a:pt x="1730" y="0"/>
                    <a:pt x="0" y="0"/>
                  </a:cubicBezTo>
                  <a:cubicBezTo>
                    <a:pt x="1730" y="0"/>
                    <a:pt x="3459" y="126"/>
                    <a:pt x="5163" y="351"/>
                  </a:cubicBezTo>
                  <a:lnTo>
                    <a:pt x="5163" y="351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D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1144;p48">
              <a:extLst>
                <a:ext uri="{FF2B5EF4-FFF2-40B4-BE49-F238E27FC236}">
                  <a16:creationId xmlns:a16="http://schemas.microsoft.com/office/drawing/2014/main" id="{CB1F131B-B4B8-5C00-4E25-51FC78A7B24A}"/>
                </a:ext>
              </a:extLst>
            </p:cNvPr>
            <p:cNvSpPr/>
            <p:nvPr/>
          </p:nvSpPr>
          <p:spPr>
            <a:xfrm>
              <a:off x="5832636" y="1555838"/>
              <a:ext cx="1569403" cy="2120845"/>
            </a:xfrm>
            <a:custGeom>
              <a:avLst/>
              <a:gdLst/>
              <a:ahLst/>
              <a:cxnLst/>
              <a:rect l="l" t="t" r="r" b="b"/>
              <a:pathLst>
                <a:path w="77320" h="104488" extrusionOk="0">
                  <a:moveTo>
                    <a:pt x="38447" y="1"/>
                  </a:moveTo>
                  <a:cubicBezTo>
                    <a:pt x="32457" y="1"/>
                    <a:pt x="26391" y="1329"/>
                    <a:pt x="20853" y="4011"/>
                  </a:cubicBezTo>
                  <a:cubicBezTo>
                    <a:pt x="14612" y="7043"/>
                    <a:pt x="9524" y="11529"/>
                    <a:pt x="5790" y="17093"/>
                  </a:cubicBezTo>
                  <a:cubicBezTo>
                    <a:pt x="7193" y="16717"/>
                    <a:pt x="8622" y="16467"/>
                    <a:pt x="10025" y="16291"/>
                  </a:cubicBezTo>
                  <a:cubicBezTo>
                    <a:pt x="13334" y="11780"/>
                    <a:pt x="17695" y="8121"/>
                    <a:pt x="22883" y="5590"/>
                  </a:cubicBezTo>
                  <a:cubicBezTo>
                    <a:pt x="22908" y="5590"/>
                    <a:pt x="22933" y="5564"/>
                    <a:pt x="22958" y="5564"/>
                  </a:cubicBezTo>
                  <a:cubicBezTo>
                    <a:pt x="22983" y="5564"/>
                    <a:pt x="22983" y="5539"/>
                    <a:pt x="23008" y="5539"/>
                  </a:cubicBezTo>
                  <a:cubicBezTo>
                    <a:pt x="23008" y="5539"/>
                    <a:pt x="23033" y="5539"/>
                    <a:pt x="23033" y="5514"/>
                  </a:cubicBezTo>
                  <a:cubicBezTo>
                    <a:pt x="28121" y="3083"/>
                    <a:pt x="33660" y="1880"/>
                    <a:pt x="39123" y="1880"/>
                  </a:cubicBezTo>
                  <a:cubicBezTo>
                    <a:pt x="40853" y="1880"/>
                    <a:pt x="42582" y="2006"/>
                    <a:pt x="44286" y="2231"/>
                  </a:cubicBezTo>
                  <a:cubicBezTo>
                    <a:pt x="49424" y="2958"/>
                    <a:pt x="54362" y="4787"/>
                    <a:pt x="58597" y="7670"/>
                  </a:cubicBezTo>
                  <a:cubicBezTo>
                    <a:pt x="58622" y="7695"/>
                    <a:pt x="58647" y="7695"/>
                    <a:pt x="58672" y="7720"/>
                  </a:cubicBezTo>
                  <a:cubicBezTo>
                    <a:pt x="68271" y="14311"/>
                    <a:pt x="73434" y="25489"/>
                    <a:pt x="73434" y="39525"/>
                  </a:cubicBezTo>
                  <a:cubicBezTo>
                    <a:pt x="73434" y="41204"/>
                    <a:pt x="73359" y="42883"/>
                    <a:pt x="73209" y="44612"/>
                  </a:cubicBezTo>
                  <a:cubicBezTo>
                    <a:pt x="71279" y="67871"/>
                    <a:pt x="57595" y="86618"/>
                    <a:pt x="35665" y="96041"/>
                  </a:cubicBezTo>
                  <a:cubicBezTo>
                    <a:pt x="35640" y="96066"/>
                    <a:pt x="35640" y="96066"/>
                    <a:pt x="35615" y="96066"/>
                  </a:cubicBezTo>
                  <a:cubicBezTo>
                    <a:pt x="35589" y="96091"/>
                    <a:pt x="35564" y="96091"/>
                    <a:pt x="35539" y="96091"/>
                  </a:cubicBezTo>
                  <a:cubicBezTo>
                    <a:pt x="35539" y="96116"/>
                    <a:pt x="35514" y="96116"/>
                    <a:pt x="35489" y="96116"/>
                  </a:cubicBezTo>
                  <a:cubicBezTo>
                    <a:pt x="26341" y="100026"/>
                    <a:pt x="17494" y="101655"/>
                    <a:pt x="9975" y="101655"/>
                  </a:cubicBezTo>
                  <a:cubicBezTo>
                    <a:pt x="7168" y="101655"/>
                    <a:pt x="4562" y="101430"/>
                    <a:pt x="2181" y="101004"/>
                  </a:cubicBezTo>
                  <a:cubicBezTo>
                    <a:pt x="1504" y="101806"/>
                    <a:pt x="777" y="102532"/>
                    <a:pt x="0" y="103209"/>
                  </a:cubicBezTo>
                  <a:cubicBezTo>
                    <a:pt x="3309" y="104061"/>
                    <a:pt x="6993" y="104487"/>
                    <a:pt x="10928" y="104487"/>
                  </a:cubicBezTo>
                  <a:cubicBezTo>
                    <a:pt x="19223" y="104487"/>
                    <a:pt x="28547" y="102583"/>
                    <a:pt x="37369" y="98798"/>
                  </a:cubicBezTo>
                  <a:cubicBezTo>
                    <a:pt x="47519" y="94437"/>
                    <a:pt x="56316" y="87846"/>
                    <a:pt x="62783" y="79775"/>
                  </a:cubicBezTo>
                  <a:cubicBezTo>
                    <a:pt x="70402" y="70277"/>
                    <a:pt x="74813" y="58898"/>
                    <a:pt x="75865" y="45991"/>
                  </a:cubicBezTo>
                  <a:cubicBezTo>
                    <a:pt x="77319" y="28522"/>
                    <a:pt x="71630" y="14462"/>
                    <a:pt x="59875" y="6417"/>
                  </a:cubicBezTo>
                  <a:cubicBezTo>
                    <a:pt x="53660" y="2156"/>
                    <a:pt x="46116" y="1"/>
                    <a:pt x="38447" y="1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1145;p48">
              <a:extLst>
                <a:ext uri="{FF2B5EF4-FFF2-40B4-BE49-F238E27FC236}">
                  <a16:creationId xmlns:a16="http://schemas.microsoft.com/office/drawing/2014/main" id="{A9A62603-33A8-99A9-3670-FC9FBD47EE16}"/>
                </a:ext>
              </a:extLst>
            </p:cNvPr>
            <p:cNvSpPr/>
            <p:nvPr/>
          </p:nvSpPr>
          <p:spPr>
            <a:xfrm>
              <a:off x="5122467" y="2950074"/>
              <a:ext cx="902488" cy="796230"/>
            </a:xfrm>
            <a:custGeom>
              <a:avLst/>
              <a:gdLst/>
              <a:ahLst/>
              <a:cxnLst/>
              <a:rect l="l" t="t" r="r" b="b"/>
              <a:pathLst>
                <a:path w="44463" h="39228" extrusionOk="0">
                  <a:moveTo>
                    <a:pt x="22245" y="0"/>
                  </a:moveTo>
                  <a:cubicBezTo>
                    <a:pt x="16174" y="0"/>
                    <a:pt x="10182" y="2811"/>
                    <a:pt x="6342" y="8103"/>
                  </a:cubicBezTo>
                  <a:cubicBezTo>
                    <a:pt x="1" y="16850"/>
                    <a:pt x="1930" y="29131"/>
                    <a:pt x="10702" y="35497"/>
                  </a:cubicBezTo>
                  <a:cubicBezTo>
                    <a:pt x="14184" y="38013"/>
                    <a:pt x="18215" y="39227"/>
                    <a:pt x="22209" y="39227"/>
                  </a:cubicBezTo>
                  <a:cubicBezTo>
                    <a:pt x="28276" y="39227"/>
                    <a:pt x="34257" y="36426"/>
                    <a:pt x="38096" y="31136"/>
                  </a:cubicBezTo>
                  <a:cubicBezTo>
                    <a:pt x="44462" y="22364"/>
                    <a:pt x="42507" y="10108"/>
                    <a:pt x="33735" y="3742"/>
                  </a:cubicBezTo>
                  <a:cubicBezTo>
                    <a:pt x="30265" y="1216"/>
                    <a:pt x="26238" y="0"/>
                    <a:pt x="22245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1146;p48">
              <a:extLst>
                <a:ext uri="{FF2B5EF4-FFF2-40B4-BE49-F238E27FC236}">
                  <a16:creationId xmlns:a16="http://schemas.microsoft.com/office/drawing/2014/main" id="{ACF2136E-570A-B5E7-5680-E1FF7400F216}"/>
                </a:ext>
              </a:extLst>
            </p:cNvPr>
            <p:cNvSpPr/>
            <p:nvPr/>
          </p:nvSpPr>
          <p:spPr>
            <a:xfrm>
              <a:off x="5194706" y="3014153"/>
              <a:ext cx="757503" cy="668133"/>
            </a:xfrm>
            <a:custGeom>
              <a:avLst/>
              <a:gdLst/>
              <a:ahLst/>
              <a:cxnLst/>
              <a:rect l="l" t="t" r="r" b="b"/>
              <a:pathLst>
                <a:path w="37320" h="32917" extrusionOk="0">
                  <a:moveTo>
                    <a:pt x="18673" y="1"/>
                  </a:moveTo>
                  <a:cubicBezTo>
                    <a:pt x="13582" y="1"/>
                    <a:pt x="8558" y="2357"/>
                    <a:pt x="5339" y="6801"/>
                  </a:cubicBezTo>
                  <a:cubicBezTo>
                    <a:pt x="1" y="14144"/>
                    <a:pt x="1655" y="24445"/>
                    <a:pt x="8998" y="29783"/>
                  </a:cubicBezTo>
                  <a:cubicBezTo>
                    <a:pt x="11909" y="31899"/>
                    <a:pt x="15284" y="32916"/>
                    <a:pt x="18631" y="32916"/>
                  </a:cubicBezTo>
                  <a:cubicBezTo>
                    <a:pt x="23728" y="32916"/>
                    <a:pt x="28758" y="30557"/>
                    <a:pt x="31981" y="26124"/>
                  </a:cubicBezTo>
                  <a:cubicBezTo>
                    <a:pt x="37319" y="18781"/>
                    <a:pt x="35690" y="8480"/>
                    <a:pt x="28322" y="3141"/>
                  </a:cubicBezTo>
                  <a:cubicBezTo>
                    <a:pt x="25406" y="1022"/>
                    <a:pt x="22025" y="1"/>
                    <a:pt x="18673" y="1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1147;p48">
              <a:extLst>
                <a:ext uri="{FF2B5EF4-FFF2-40B4-BE49-F238E27FC236}">
                  <a16:creationId xmlns:a16="http://schemas.microsoft.com/office/drawing/2014/main" id="{EC5392C7-E880-C487-38A4-B77796EBE1FA}"/>
                </a:ext>
              </a:extLst>
            </p:cNvPr>
            <p:cNvSpPr/>
            <p:nvPr/>
          </p:nvSpPr>
          <p:spPr>
            <a:xfrm>
              <a:off x="5775661" y="3082474"/>
              <a:ext cx="528" cy="528"/>
            </a:xfrm>
            <a:custGeom>
              <a:avLst/>
              <a:gdLst/>
              <a:ahLst/>
              <a:cxnLst/>
              <a:rect l="l" t="t" r="r" b="b"/>
              <a:pathLst>
                <a:path w="26" h="26" extrusionOk="0">
                  <a:moveTo>
                    <a:pt x="0" y="1"/>
                  </a:moveTo>
                  <a:cubicBezTo>
                    <a:pt x="0" y="1"/>
                    <a:pt x="25" y="1"/>
                    <a:pt x="25" y="26"/>
                  </a:cubicBezTo>
                  <a:cubicBezTo>
                    <a:pt x="25" y="1"/>
                    <a:pt x="25" y="1"/>
                    <a:pt x="0" y="1"/>
                  </a:cubicBezTo>
                  <a:close/>
                </a:path>
              </a:pathLst>
            </a:custGeom>
            <a:solidFill>
              <a:srgbClr val="105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1148;p48">
              <a:extLst>
                <a:ext uri="{FF2B5EF4-FFF2-40B4-BE49-F238E27FC236}">
                  <a16:creationId xmlns:a16="http://schemas.microsoft.com/office/drawing/2014/main" id="{68785388-C0AA-8A08-2889-8DBFBD6AD7CF}"/>
                </a:ext>
              </a:extLst>
            </p:cNvPr>
            <p:cNvSpPr/>
            <p:nvPr/>
          </p:nvSpPr>
          <p:spPr>
            <a:xfrm>
              <a:off x="5246587" y="3014315"/>
              <a:ext cx="693911" cy="486856"/>
            </a:xfrm>
            <a:custGeom>
              <a:avLst/>
              <a:gdLst/>
              <a:ahLst/>
              <a:cxnLst/>
              <a:rect l="l" t="t" r="r" b="b"/>
              <a:pathLst>
                <a:path w="34187" h="23986" extrusionOk="0">
                  <a:moveTo>
                    <a:pt x="16116" y="1"/>
                  </a:moveTo>
                  <a:cubicBezTo>
                    <a:pt x="11029" y="1"/>
                    <a:pt x="6016" y="2356"/>
                    <a:pt x="2783" y="6793"/>
                  </a:cubicBezTo>
                  <a:cubicBezTo>
                    <a:pt x="2783" y="6793"/>
                    <a:pt x="2783" y="6793"/>
                    <a:pt x="2783" y="6818"/>
                  </a:cubicBezTo>
                  <a:cubicBezTo>
                    <a:pt x="2783" y="6818"/>
                    <a:pt x="2758" y="6818"/>
                    <a:pt x="2758" y="6843"/>
                  </a:cubicBezTo>
                  <a:cubicBezTo>
                    <a:pt x="1354" y="8798"/>
                    <a:pt x="452" y="10953"/>
                    <a:pt x="1" y="13158"/>
                  </a:cubicBezTo>
                  <a:cubicBezTo>
                    <a:pt x="377" y="12432"/>
                    <a:pt x="803" y="11705"/>
                    <a:pt x="1304" y="11003"/>
                  </a:cubicBezTo>
                  <a:cubicBezTo>
                    <a:pt x="1956" y="10126"/>
                    <a:pt x="2683" y="9299"/>
                    <a:pt x="3460" y="8572"/>
                  </a:cubicBezTo>
                  <a:cubicBezTo>
                    <a:pt x="3660" y="8296"/>
                    <a:pt x="3861" y="7996"/>
                    <a:pt x="4061" y="7695"/>
                  </a:cubicBezTo>
                  <a:cubicBezTo>
                    <a:pt x="6868" y="3860"/>
                    <a:pt x="11279" y="1780"/>
                    <a:pt x="15740" y="1780"/>
                  </a:cubicBezTo>
                  <a:cubicBezTo>
                    <a:pt x="18372" y="1780"/>
                    <a:pt x="21004" y="2482"/>
                    <a:pt x="23360" y="3960"/>
                  </a:cubicBezTo>
                  <a:cubicBezTo>
                    <a:pt x="23710" y="4186"/>
                    <a:pt x="23811" y="4637"/>
                    <a:pt x="23585" y="4988"/>
                  </a:cubicBezTo>
                  <a:lnTo>
                    <a:pt x="23560" y="5038"/>
                  </a:lnTo>
                  <a:cubicBezTo>
                    <a:pt x="23410" y="5239"/>
                    <a:pt x="23184" y="5364"/>
                    <a:pt x="22959" y="5364"/>
                  </a:cubicBezTo>
                  <a:cubicBezTo>
                    <a:pt x="22808" y="5364"/>
                    <a:pt x="22683" y="5314"/>
                    <a:pt x="22557" y="5239"/>
                  </a:cubicBezTo>
                  <a:cubicBezTo>
                    <a:pt x="20452" y="3910"/>
                    <a:pt x="18071" y="3284"/>
                    <a:pt x="15740" y="3284"/>
                  </a:cubicBezTo>
                  <a:cubicBezTo>
                    <a:pt x="13309" y="3284"/>
                    <a:pt x="10878" y="3986"/>
                    <a:pt x="8798" y="5289"/>
                  </a:cubicBezTo>
                  <a:cubicBezTo>
                    <a:pt x="10653" y="4587"/>
                    <a:pt x="12633" y="4236"/>
                    <a:pt x="14638" y="4236"/>
                  </a:cubicBezTo>
                  <a:cubicBezTo>
                    <a:pt x="17996" y="4236"/>
                    <a:pt x="21380" y="5239"/>
                    <a:pt x="24287" y="7369"/>
                  </a:cubicBezTo>
                  <a:cubicBezTo>
                    <a:pt x="25891" y="8522"/>
                    <a:pt x="27219" y="9925"/>
                    <a:pt x="28272" y="11479"/>
                  </a:cubicBezTo>
                  <a:cubicBezTo>
                    <a:pt x="27495" y="9750"/>
                    <a:pt x="26317" y="8146"/>
                    <a:pt x="24763" y="6843"/>
                  </a:cubicBezTo>
                  <a:cubicBezTo>
                    <a:pt x="24462" y="6592"/>
                    <a:pt x="24412" y="6141"/>
                    <a:pt x="24638" y="5840"/>
                  </a:cubicBezTo>
                  <a:lnTo>
                    <a:pt x="24688" y="5790"/>
                  </a:lnTo>
                  <a:cubicBezTo>
                    <a:pt x="24838" y="5615"/>
                    <a:pt x="25039" y="5514"/>
                    <a:pt x="25264" y="5514"/>
                  </a:cubicBezTo>
                  <a:cubicBezTo>
                    <a:pt x="25440" y="5514"/>
                    <a:pt x="25615" y="5564"/>
                    <a:pt x="25740" y="5690"/>
                  </a:cubicBezTo>
                  <a:cubicBezTo>
                    <a:pt x="29450" y="8798"/>
                    <a:pt x="31204" y="13409"/>
                    <a:pt x="30853" y="17945"/>
                  </a:cubicBezTo>
                  <a:cubicBezTo>
                    <a:pt x="31179" y="19925"/>
                    <a:pt x="31154" y="21981"/>
                    <a:pt x="30728" y="23986"/>
                  </a:cubicBezTo>
                  <a:cubicBezTo>
                    <a:pt x="34187" y="17294"/>
                    <a:pt x="32633" y="8998"/>
                    <a:pt x="26868" y="4011"/>
                  </a:cubicBezTo>
                  <a:cubicBezTo>
                    <a:pt x="26818" y="3960"/>
                    <a:pt x="26768" y="3910"/>
                    <a:pt x="26718" y="3885"/>
                  </a:cubicBezTo>
                  <a:cubicBezTo>
                    <a:pt x="26718" y="3860"/>
                    <a:pt x="26693" y="3860"/>
                    <a:pt x="26693" y="3860"/>
                  </a:cubicBezTo>
                  <a:cubicBezTo>
                    <a:pt x="26693" y="3860"/>
                    <a:pt x="26693" y="3860"/>
                    <a:pt x="26668" y="3835"/>
                  </a:cubicBezTo>
                  <a:cubicBezTo>
                    <a:pt x="26643" y="3835"/>
                    <a:pt x="26643" y="3810"/>
                    <a:pt x="26643" y="3810"/>
                  </a:cubicBezTo>
                  <a:cubicBezTo>
                    <a:pt x="26593" y="3785"/>
                    <a:pt x="26568" y="3760"/>
                    <a:pt x="26542" y="3735"/>
                  </a:cubicBezTo>
                  <a:cubicBezTo>
                    <a:pt x="26517" y="3710"/>
                    <a:pt x="26517" y="3710"/>
                    <a:pt x="26517" y="3710"/>
                  </a:cubicBezTo>
                  <a:cubicBezTo>
                    <a:pt x="26517" y="3710"/>
                    <a:pt x="26492" y="3710"/>
                    <a:pt x="26492" y="3685"/>
                  </a:cubicBezTo>
                  <a:lnTo>
                    <a:pt x="26467" y="3685"/>
                  </a:lnTo>
                  <a:cubicBezTo>
                    <a:pt x="26467" y="3685"/>
                    <a:pt x="26467" y="3660"/>
                    <a:pt x="26467" y="3660"/>
                  </a:cubicBezTo>
                  <a:lnTo>
                    <a:pt x="26442" y="3660"/>
                  </a:lnTo>
                  <a:cubicBezTo>
                    <a:pt x="26442" y="3660"/>
                    <a:pt x="26442" y="3660"/>
                    <a:pt x="26442" y="3635"/>
                  </a:cubicBezTo>
                  <a:lnTo>
                    <a:pt x="26417" y="3635"/>
                  </a:lnTo>
                  <a:cubicBezTo>
                    <a:pt x="26392" y="3610"/>
                    <a:pt x="26367" y="3585"/>
                    <a:pt x="26342" y="3585"/>
                  </a:cubicBezTo>
                  <a:cubicBezTo>
                    <a:pt x="26342" y="3559"/>
                    <a:pt x="26342" y="3559"/>
                    <a:pt x="26342" y="3559"/>
                  </a:cubicBezTo>
                  <a:lnTo>
                    <a:pt x="26317" y="3559"/>
                  </a:lnTo>
                  <a:cubicBezTo>
                    <a:pt x="26317" y="3534"/>
                    <a:pt x="26317" y="3534"/>
                    <a:pt x="26317" y="3534"/>
                  </a:cubicBezTo>
                  <a:lnTo>
                    <a:pt x="26292" y="3534"/>
                  </a:lnTo>
                  <a:cubicBezTo>
                    <a:pt x="26292" y="3534"/>
                    <a:pt x="26267" y="3509"/>
                    <a:pt x="26267" y="3509"/>
                  </a:cubicBezTo>
                  <a:lnTo>
                    <a:pt x="26242" y="3509"/>
                  </a:lnTo>
                  <a:cubicBezTo>
                    <a:pt x="26242" y="3484"/>
                    <a:pt x="26242" y="3484"/>
                    <a:pt x="26242" y="3484"/>
                  </a:cubicBezTo>
                  <a:lnTo>
                    <a:pt x="26217" y="3484"/>
                  </a:lnTo>
                  <a:cubicBezTo>
                    <a:pt x="26217" y="3484"/>
                    <a:pt x="26217" y="3484"/>
                    <a:pt x="26217" y="3459"/>
                  </a:cubicBezTo>
                  <a:cubicBezTo>
                    <a:pt x="26192" y="3459"/>
                    <a:pt x="26167" y="3434"/>
                    <a:pt x="26167" y="3434"/>
                  </a:cubicBezTo>
                  <a:cubicBezTo>
                    <a:pt x="26141" y="3434"/>
                    <a:pt x="26141" y="3409"/>
                    <a:pt x="26141" y="3409"/>
                  </a:cubicBezTo>
                  <a:lnTo>
                    <a:pt x="26116" y="3409"/>
                  </a:lnTo>
                  <a:cubicBezTo>
                    <a:pt x="26116" y="3409"/>
                    <a:pt x="26116" y="3409"/>
                    <a:pt x="26116" y="3384"/>
                  </a:cubicBezTo>
                  <a:lnTo>
                    <a:pt x="26091" y="3384"/>
                  </a:lnTo>
                  <a:cubicBezTo>
                    <a:pt x="26091" y="3359"/>
                    <a:pt x="26066" y="3359"/>
                    <a:pt x="26066" y="3359"/>
                  </a:cubicBezTo>
                  <a:cubicBezTo>
                    <a:pt x="26041" y="3359"/>
                    <a:pt x="26041" y="3334"/>
                    <a:pt x="26041" y="3334"/>
                  </a:cubicBezTo>
                  <a:lnTo>
                    <a:pt x="26016" y="3334"/>
                  </a:lnTo>
                  <a:cubicBezTo>
                    <a:pt x="26016" y="3334"/>
                    <a:pt x="26016" y="3334"/>
                    <a:pt x="26016" y="3309"/>
                  </a:cubicBezTo>
                  <a:lnTo>
                    <a:pt x="25991" y="3309"/>
                  </a:lnTo>
                  <a:cubicBezTo>
                    <a:pt x="25966" y="3284"/>
                    <a:pt x="25966" y="3284"/>
                    <a:pt x="25966" y="3284"/>
                  </a:cubicBezTo>
                  <a:cubicBezTo>
                    <a:pt x="25941" y="3284"/>
                    <a:pt x="25941" y="3259"/>
                    <a:pt x="25941" y="3259"/>
                  </a:cubicBezTo>
                  <a:lnTo>
                    <a:pt x="25916" y="3259"/>
                  </a:lnTo>
                  <a:cubicBezTo>
                    <a:pt x="25916" y="3259"/>
                    <a:pt x="25916" y="3259"/>
                    <a:pt x="25916" y="3234"/>
                  </a:cubicBezTo>
                  <a:lnTo>
                    <a:pt x="25891" y="3234"/>
                  </a:lnTo>
                  <a:cubicBezTo>
                    <a:pt x="25891" y="3234"/>
                    <a:pt x="25891" y="3234"/>
                    <a:pt x="25891" y="3209"/>
                  </a:cubicBezTo>
                  <a:lnTo>
                    <a:pt x="25866" y="3209"/>
                  </a:lnTo>
                  <a:cubicBezTo>
                    <a:pt x="25841" y="3209"/>
                    <a:pt x="25841" y="3184"/>
                    <a:pt x="25841" y="3184"/>
                  </a:cubicBezTo>
                  <a:lnTo>
                    <a:pt x="25816" y="3184"/>
                  </a:lnTo>
                  <a:cubicBezTo>
                    <a:pt x="25816" y="3184"/>
                    <a:pt x="25816" y="3158"/>
                    <a:pt x="25816" y="3158"/>
                  </a:cubicBezTo>
                  <a:lnTo>
                    <a:pt x="25791" y="3158"/>
                  </a:lnTo>
                  <a:cubicBezTo>
                    <a:pt x="25791" y="3158"/>
                    <a:pt x="25791" y="3133"/>
                    <a:pt x="25766" y="3133"/>
                  </a:cubicBezTo>
                  <a:cubicBezTo>
                    <a:pt x="22858" y="1028"/>
                    <a:pt x="19475" y="1"/>
                    <a:pt x="16116" y="1"/>
                  </a:cubicBezTo>
                  <a:close/>
                </a:path>
              </a:pathLst>
            </a:custGeom>
            <a:solidFill>
              <a:srgbClr val="EEE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1149;p48">
              <a:extLst>
                <a:ext uri="{FF2B5EF4-FFF2-40B4-BE49-F238E27FC236}">
                  <a16:creationId xmlns:a16="http://schemas.microsoft.com/office/drawing/2014/main" id="{ADFA4E0D-739D-BA11-B4FF-A365B947D7B8}"/>
                </a:ext>
              </a:extLst>
            </p:cNvPr>
            <p:cNvSpPr/>
            <p:nvPr/>
          </p:nvSpPr>
          <p:spPr>
            <a:xfrm>
              <a:off x="5238975" y="3050303"/>
              <a:ext cx="490915" cy="519920"/>
            </a:xfrm>
            <a:custGeom>
              <a:avLst/>
              <a:gdLst/>
              <a:ahLst/>
              <a:cxnLst/>
              <a:rect l="l" t="t" r="r" b="b"/>
              <a:pathLst>
                <a:path w="24186" h="25615" extrusionOk="0">
                  <a:moveTo>
                    <a:pt x="16123" y="0"/>
                  </a:moveTo>
                  <a:cubicBezTo>
                    <a:pt x="11645" y="0"/>
                    <a:pt x="7237" y="2077"/>
                    <a:pt x="4436" y="5922"/>
                  </a:cubicBezTo>
                  <a:cubicBezTo>
                    <a:pt x="0" y="12037"/>
                    <a:pt x="1053" y="20609"/>
                    <a:pt x="6842" y="25446"/>
                  </a:cubicBezTo>
                  <a:cubicBezTo>
                    <a:pt x="6987" y="25557"/>
                    <a:pt x="7162" y="25614"/>
                    <a:pt x="7336" y="25614"/>
                  </a:cubicBezTo>
                  <a:cubicBezTo>
                    <a:pt x="7553" y="25614"/>
                    <a:pt x="7767" y="25526"/>
                    <a:pt x="7920" y="25345"/>
                  </a:cubicBezTo>
                  <a:cubicBezTo>
                    <a:pt x="8171" y="25020"/>
                    <a:pt x="8145" y="24543"/>
                    <a:pt x="7820" y="24268"/>
                  </a:cubicBezTo>
                  <a:cubicBezTo>
                    <a:pt x="2632" y="19957"/>
                    <a:pt x="1679" y="12288"/>
                    <a:pt x="5664" y="6824"/>
                  </a:cubicBezTo>
                  <a:cubicBezTo>
                    <a:pt x="8165" y="3373"/>
                    <a:pt x="12116" y="1512"/>
                    <a:pt x="16127" y="1512"/>
                  </a:cubicBezTo>
                  <a:cubicBezTo>
                    <a:pt x="18467" y="1512"/>
                    <a:pt x="20827" y="2145"/>
                    <a:pt x="22932" y="3466"/>
                  </a:cubicBezTo>
                  <a:cubicBezTo>
                    <a:pt x="23053" y="3540"/>
                    <a:pt x="23191" y="3576"/>
                    <a:pt x="23328" y="3576"/>
                  </a:cubicBezTo>
                  <a:cubicBezTo>
                    <a:pt x="23561" y="3576"/>
                    <a:pt x="23793" y="3470"/>
                    <a:pt x="23935" y="3265"/>
                  </a:cubicBezTo>
                  <a:lnTo>
                    <a:pt x="23960" y="3215"/>
                  </a:lnTo>
                  <a:cubicBezTo>
                    <a:pt x="24186" y="2864"/>
                    <a:pt x="24085" y="2413"/>
                    <a:pt x="23735" y="2187"/>
                  </a:cubicBezTo>
                  <a:cubicBezTo>
                    <a:pt x="21378" y="709"/>
                    <a:pt x="18739" y="0"/>
                    <a:pt x="16123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1150;p48">
              <a:extLst>
                <a:ext uri="{FF2B5EF4-FFF2-40B4-BE49-F238E27FC236}">
                  <a16:creationId xmlns:a16="http://schemas.microsoft.com/office/drawing/2014/main" id="{10127144-7CD1-D3D3-07B5-B0E4C43945A1}"/>
                </a:ext>
              </a:extLst>
            </p:cNvPr>
            <p:cNvSpPr/>
            <p:nvPr/>
          </p:nvSpPr>
          <p:spPr>
            <a:xfrm>
              <a:off x="5417025" y="3126154"/>
              <a:ext cx="490915" cy="520103"/>
            </a:xfrm>
            <a:custGeom>
              <a:avLst/>
              <a:gdLst/>
              <a:ahLst/>
              <a:cxnLst/>
              <a:rect l="l" t="t" r="r" b="b"/>
              <a:pathLst>
                <a:path w="24186" h="25624" extrusionOk="0">
                  <a:moveTo>
                    <a:pt x="16861" y="1"/>
                  </a:moveTo>
                  <a:cubicBezTo>
                    <a:pt x="16644" y="1"/>
                    <a:pt x="16432" y="97"/>
                    <a:pt x="16291" y="280"/>
                  </a:cubicBezTo>
                  <a:lnTo>
                    <a:pt x="16241" y="330"/>
                  </a:lnTo>
                  <a:cubicBezTo>
                    <a:pt x="16015" y="631"/>
                    <a:pt x="16065" y="1082"/>
                    <a:pt x="16366" y="1333"/>
                  </a:cubicBezTo>
                  <a:cubicBezTo>
                    <a:pt x="21554" y="5669"/>
                    <a:pt x="22506" y="13338"/>
                    <a:pt x="18521" y="18801"/>
                  </a:cubicBezTo>
                  <a:cubicBezTo>
                    <a:pt x="16020" y="22252"/>
                    <a:pt x="12080" y="24113"/>
                    <a:pt x="8069" y="24113"/>
                  </a:cubicBezTo>
                  <a:cubicBezTo>
                    <a:pt x="5730" y="24113"/>
                    <a:pt x="3368" y="23480"/>
                    <a:pt x="1253" y="22160"/>
                  </a:cubicBezTo>
                  <a:cubicBezTo>
                    <a:pt x="1126" y="22078"/>
                    <a:pt x="987" y="22039"/>
                    <a:pt x="849" y="22039"/>
                  </a:cubicBezTo>
                  <a:cubicBezTo>
                    <a:pt x="606" y="22039"/>
                    <a:pt x="370" y="22161"/>
                    <a:pt x="226" y="22385"/>
                  </a:cubicBezTo>
                  <a:cubicBezTo>
                    <a:pt x="0" y="22761"/>
                    <a:pt x="100" y="23212"/>
                    <a:pt x="451" y="23438"/>
                  </a:cubicBezTo>
                  <a:cubicBezTo>
                    <a:pt x="2806" y="24915"/>
                    <a:pt x="5442" y="25624"/>
                    <a:pt x="8056" y="25624"/>
                  </a:cubicBezTo>
                  <a:cubicBezTo>
                    <a:pt x="12536" y="25624"/>
                    <a:pt x="16948" y="23541"/>
                    <a:pt x="19749" y="19679"/>
                  </a:cubicBezTo>
                  <a:cubicBezTo>
                    <a:pt x="24186" y="13588"/>
                    <a:pt x="23133" y="5017"/>
                    <a:pt x="17343" y="180"/>
                  </a:cubicBezTo>
                  <a:cubicBezTo>
                    <a:pt x="17201" y="59"/>
                    <a:pt x="17029" y="1"/>
                    <a:pt x="16861" y="1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1151;p48">
              <a:extLst>
                <a:ext uri="{FF2B5EF4-FFF2-40B4-BE49-F238E27FC236}">
                  <a16:creationId xmlns:a16="http://schemas.microsoft.com/office/drawing/2014/main" id="{91CEB0C7-8ADE-8F1B-C628-0FD4AA9DC94A}"/>
                </a:ext>
              </a:extLst>
            </p:cNvPr>
            <p:cNvSpPr/>
            <p:nvPr/>
          </p:nvSpPr>
          <p:spPr>
            <a:xfrm>
              <a:off x="5520278" y="3301586"/>
              <a:ext cx="106339" cy="93348"/>
            </a:xfrm>
            <a:custGeom>
              <a:avLst/>
              <a:gdLst/>
              <a:ahLst/>
              <a:cxnLst/>
              <a:rect l="l" t="t" r="r" b="b"/>
              <a:pathLst>
                <a:path w="5239" h="4599" extrusionOk="0">
                  <a:moveTo>
                    <a:pt x="2636" y="0"/>
                  </a:moveTo>
                  <a:cubicBezTo>
                    <a:pt x="2315" y="0"/>
                    <a:pt x="1989" y="67"/>
                    <a:pt x="1680" y="209"/>
                  </a:cubicBezTo>
                  <a:cubicBezTo>
                    <a:pt x="527" y="710"/>
                    <a:pt x="1" y="2088"/>
                    <a:pt x="527" y="3241"/>
                  </a:cubicBezTo>
                  <a:cubicBezTo>
                    <a:pt x="914" y="4089"/>
                    <a:pt x="1750" y="4599"/>
                    <a:pt x="2623" y="4599"/>
                  </a:cubicBezTo>
                  <a:cubicBezTo>
                    <a:pt x="2937" y="4599"/>
                    <a:pt x="3255" y="4533"/>
                    <a:pt x="3560" y="4394"/>
                  </a:cubicBezTo>
                  <a:cubicBezTo>
                    <a:pt x="4738" y="3868"/>
                    <a:pt x="5239" y="2514"/>
                    <a:pt x="4713" y="1361"/>
                  </a:cubicBezTo>
                  <a:cubicBezTo>
                    <a:pt x="4346" y="500"/>
                    <a:pt x="3510" y="0"/>
                    <a:pt x="2636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" name="Google Shape;1152;p48">
              <a:extLst>
                <a:ext uri="{FF2B5EF4-FFF2-40B4-BE49-F238E27FC236}">
                  <a16:creationId xmlns:a16="http://schemas.microsoft.com/office/drawing/2014/main" id="{4F255C86-F161-7CF3-FEA4-74A5578C39BF}"/>
                </a:ext>
              </a:extLst>
            </p:cNvPr>
            <p:cNvSpPr/>
            <p:nvPr/>
          </p:nvSpPr>
          <p:spPr>
            <a:xfrm>
              <a:off x="5482139" y="3145051"/>
              <a:ext cx="139911" cy="279314"/>
            </a:xfrm>
            <a:custGeom>
              <a:avLst/>
              <a:gdLst/>
              <a:ahLst/>
              <a:cxnLst/>
              <a:rect l="l" t="t" r="r" b="b"/>
              <a:pathLst>
                <a:path w="6893" h="13761" extrusionOk="0">
                  <a:moveTo>
                    <a:pt x="0" y="1"/>
                  </a:moveTo>
                  <a:lnTo>
                    <a:pt x="5138" y="13760"/>
                  </a:lnTo>
                  <a:lnTo>
                    <a:pt x="6892" y="129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1153;p48">
              <a:extLst>
                <a:ext uri="{FF2B5EF4-FFF2-40B4-BE49-F238E27FC236}">
                  <a16:creationId xmlns:a16="http://schemas.microsoft.com/office/drawing/2014/main" id="{72F6D5EE-36EC-2236-5E2D-BE6FBE4544AC}"/>
                </a:ext>
              </a:extLst>
            </p:cNvPr>
            <p:cNvSpPr/>
            <p:nvPr/>
          </p:nvSpPr>
          <p:spPr>
            <a:xfrm>
              <a:off x="7903083" y="3245382"/>
              <a:ext cx="153652" cy="185580"/>
            </a:xfrm>
            <a:custGeom>
              <a:avLst/>
              <a:gdLst/>
              <a:ahLst/>
              <a:cxnLst/>
              <a:rect l="l" t="t" r="r" b="b"/>
              <a:pathLst>
                <a:path w="7570" h="9143" extrusionOk="0">
                  <a:moveTo>
                    <a:pt x="3689" y="1"/>
                  </a:moveTo>
                  <a:cubicBezTo>
                    <a:pt x="3438" y="1"/>
                    <a:pt x="3182" y="47"/>
                    <a:pt x="2933" y="145"/>
                  </a:cubicBezTo>
                  <a:lnTo>
                    <a:pt x="1" y="1273"/>
                  </a:lnTo>
                  <a:lnTo>
                    <a:pt x="3033" y="9143"/>
                  </a:lnTo>
                  <a:lnTo>
                    <a:pt x="5966" y="8015"/>
                  </a:lnTo>
                  <a:cubicBezTo>
                    <a:pt x="7044" y="7589"/>
                    <a:pt x="7570" y="6386"/>
                    <a:pt x="7144" y="5308"/>
                  </a:cubicBezTo>
                  <a:lnTo>
                    <a:pt x="5615" y="1323"/>
                  </a:lnTo>
                  <a:cubicBezTo>
                    <a:pt x="5307" y="514"/>
                    <a:pt x="4524" y="1"/>
                    <a:pt x="3689" y="1"/>
                  </a:cubicBezTo>
                  <a:close/>
                </a:path>
              </a:pathLst>
            </a:custGeom>
            <a:solidFill>
              <a:srgbClr val="7942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1154;p48">
              <a:extLst>
                <a:ext uri="{FF2B5EF4-FFF2-40B4-BE49-F238E27FC236}">
                  <a16:creationId xmlns:a16="http://schemas.microsoft.com/office/drawing/2014/main" id="{D1382371-AB64-8AC1-B10F-E11054F7489A}"/>
                </a:ext>
              </a:extLst>
            </p:cNvPr>
            <p:cNvSpPr/>
            <p:nvPr/>
          </p:nvSpPr>
          <p:spPr>
            <a:xfrm>
              <a:off x="7133402" y="3514892"/>
              <a:ext cx="153145" cy="220857"/>
            </a:xfrm>
            <a:custGeom>
              <a:avLst/>
              <a:gdLst/>
              <a:ahLst/>
              <a:cxnLst/>
              <a:rect l="l" t="t" r="r" b="b"/>
              <a:pathLst>
                <a:path w="7545" h="10881" extrusionOk="0">
                  <a:moveTo>
                    <a:pt x="3685" y="0"/>
                  </a:moveTo>
                  <a:lnTo>
                    <a:pt x="1780" y="727"/>
                  </a:lnTo>
                  <a:cubicBezTo>
                    <a:pt x="577" y="1178"/>
                    <a:pt x="1" y="2532"/>
                    <a:pt x="452" y="3735"/>
                  </a:cubicBezTo>
                  <a:lnTo>
                    <a:pt x="2632" y="9399"/>
                  </a:lnTo>
                  <a:cubicBezTo>
                    <a:pt x="2999" y="10325"/>
                    <a:pt x="3886" y="10880"/>
                    <a:pt x="4824" y="10880"/>
                  </a:cubicBezTo>
                  <a:cubicBezTo>
                    <a:pt x="5104" y="10880"/>
                    <a:pt x="5389" y="10831"/>
                    <a:pt x="5665" y="10727"/>
                  </a:cubicBezTo>
                  <a:lnTo>
                    <a:pt x="7545" y="10000"/>
                  </a:lnTo>
                  <a:lnTo>
                    <a:pt x="3685" y="0"/>
                  </a:lnTo>
                  <a:close/>
                </a:path>
              </a:pathLst>
            </a:custGeom>
            <a:solidFill>
              <a:srgbClr val="7942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1155;p48">
              <a:extLst>
                <a:ext uri="{FF2B5EF4-FFF2-40B4-BE49-F238E27FC236}">
                  <a16:creationId xmlns:a16="http://schemas.microsoft.com/office/drawing/2014/main" id="{7433AD76-E308-BC72-405F-30C64D6AC1B5}"/>
                </a:ext>
              </a:extLst>
            </p:cNvPr>
            <p:cNvSpPr/>
            <p:nvPr/>
          </p:nvSpPr>
          <p:spPr>
            <a:xfrm>
              <a:off x="7133402" y="3146513"/>
              <a:ext cx="914179" cy="674466"/>
            </a:xfrm>
            <a:custGeom>
              <a:avLst/>
              <a:gdLst/>
              <a:ahLst/>
              <a:cxnLst/>
              <a:rect l="l" t="t" r="r" b="b"/>
              <a:pathLst>
                <a:path w="45039" h="33229" extrusionOk="0">
                  <a:moveTo>
                    <a:pt x="26092" y="0"/>
                  </a:moveTo>
                  <a:cubicBezTo>
                    <a:pt x="23089" y="0"/>
                    <a:pt x="19917" y="573"/>
                    <a:pt x="16793" y="1783"/>
                  </a:cubicBezTo>
                  <a:cubicBezTo>
                    <a:pt x="6116" y="5919"/>
                    <a:pt x="1" y="15894"/>
                    <a:pt x="3159" y="24089"/>
                  </a:cubicBezTo>
                  <a:cubicBezTo>
                    <a:pt x="5411" y="29889"/>
                    <a:pt x="11693" y="33229"/>
                    <a:pt x="18957" y="33229"/>
                  </a:cubicBezTo>
                  <a:cubicBezTo>
                    <a:pt x="21958" y="33229"/>
                    <a:pt x="25126" y="32659"/>
                    <a:pt x="28247" y="31458"/>
                  </a:cubicBezTo>
                  <a:cubicBezTo>
                    <a:pt x="38948" y="27322"/>
                    <a:pt x="45039" y="17322"/>
                    <a:pt x="41881" y="9127"/>
                  </a:cubicBezTo>
                  <a:cubicBezTo>
                    <a:pt x="39629" y="3347"/>
                    <a:pt x="33352" y="0"/>
                    <a:pt x="26092" y="0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1156;p48">
              <a:extLst>
                <a:ext uri="{FF2B5EF4-FFF2-40B4-BE49-F238E27FC236}">
                  <a16:creationId xmlns:a16="http://schemas.microsoft.com/office/drawing/2014/main" id="{179AB2DF-9369-40C1-F40F-EC435FBBAF58}"/>
                </a:ext>
              </a:extLst>
            </p:cNvPr>
            <p:cNvSpPr/>
            <p:nvPr/>
          </p:nvSpPr>
          <p:spPr>
            <a:xfrm>
              <a:off x="7517491" y="3176594"/>
              <a:ext cx="396816" cy="254368"/>
            </a:xfrm>
            <a:custGeom>
              <a:avLst/>
              <a:gdLst/>
              <a:ahLst/>
              <a:cxnLst/>
              <a:rect l="l" t="t" r="r" b="b"/>
              <a:pathLst>
                <a:path w="19550" h="12532" extrusionOk="0">
                  <a:moveTo>
                    <a:pt x="9073" y="1"/>
                  </a:moveTo>
                  <a:cubicBezTo>
                    <a:pt x="4386" y="1"/>
                    <a:pt x="577" y="2281"/>
                    <a:pt x="301" y="5439"/>
                  </a:cubicBezTo>
                  <a:cubicBezTo>
                    <a:pt x="0" y="8873"/>
                    <a:pt x="4010" y="12031"/>
                    <a:pt x="9248" y="12482"/>
                  </a:cubicBezTo>
                  <a:cubicBezTo>
                    <a:pt x="9675" y="12507"/>
                    <a:pt x="10076" y="12532"/>
                    <a:pt x="10502" y="12532"/>
                  </a:cubicBezTo>
                  <a:cubicBezTo>
                    <a:pt x="15163" y="12532"/>
                    <a:pt x="18973" y="10226"/>
                    <a:pt x="19249" y="7068"/>
                  </a:cubicBezTo>
                  <a:cubicBezTo>
                    <a:pt x="19549" y="3635"/>
                    <a:pt x="15539" y="502"/>
                    <a:pt x="10301" y="51"/>
                  </a:cubicBezTo>
                  <a:cubicBezTo>
                    <a:pt x="9900" y="1"/>
                    <a:pt x="9474" y="1"/>
                    <a:pt x="9073" y="1"/>
                  </a:cubicBezTo>
                  <a:close/>
                </a:path>
              </a:pathLst>
            </a:custGeom>
            <a:solidFill>
              <a:srgbClr val="7942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" name="Google Shape;1157;p48">
              <a:extLst>
                <a:ext uri="{FF2B5EF4-FFF2-40B4-BE49-F238E27FC236}">
                  <a16:creationId xmlns:a16="http://schemas.microsoft.com/office/drawing/2014/main" id="{CDA0A06C-44B6-31F3-34B1-498EB24DAA96}"/>
                </a:ext>
              </a:extLst>
            </p:cNvPr>
            <p:cNvSpPr/>
            <p:nvPr/>
          </p:nvSpPr>
          <p:spPr>
            <a:xfrm>
              <a:off x="7517999" y="3748395"/>
              <a:ext cx="265572" cy="72767"/>
            </a:xfrm>
            <a:custGeom>
              <a:avLst/>
              <a:gdLst/>
              <a:ahLst/>
              <a:cxnLst/>
              <a:rect l="l" t="t" r="r" b="b"/>
              <a:pathLst>
                <a:path w="13084" h="3585" extrusionOk="0">
                  <a:moveTo>
                    <a:pt x="0" y="3584"/>
                  </a:moveTo>
                  <a:lnTo>
                    <a:pt x="0" y="3584"/>
                  </a:lnTo>
                  <a:lnTo>
                    <a:pt x="0" y="3584"/>
                  </a:lnTo>
                  <a:lnTo>
                    <a:pt x="0" y="3584"/>
                  </a:lnTo>
                  <a:close/>
                  <a:moveTo>
                    <a:pt x="0" y="3584"/>
                  </a:moveTo>
                  <a:cubicBezTo>
                    <a:pt x="3008" y="3584"/>
                    <a:pt x="6166" y="3008"/>
                    <a:pt x="9299" y="1805"/>
                  </a:cubicBezTo>
                  <a:lnTo>
                    <a:pt x="9299" y="1805"/>
                  </a:lnTo>
                  <a:lnTo>
                    <a:pt x="9299" y="1805"/>
                  </a:lnTo>
                  <a:cubicBezTo>
                    <a:pt x="6166" y="3008"/>
                    <a:pt x="3008" y="3584"/>
                    <a:pt x="0" y="3584"/>
                  </a:cubicBezTo>
                  <a:close/>
                  <a:moveTo>
                    <a:pt x="9324" y="1780"/>
                  </a:moveTo>
                  <a:cubicBezTo>
                    <a:pt x="9324" y="1780"/>
                    <a:pt x="9324" y="1780"/>
                    <a:pt x="9324" y="1780"/>
                  </a:cubicBezTo>
                  <a:cubicBezTo>
                    <a:pt x="9324" y="1780"/>
                    <a:pt x="9324" y="1780"/>
                    <a:pt x="9324" y="1780"/>
                  </a:cubicBezTo>
                  <a:close/>
                  <a:moveTo>
                    <a:pt x="9349" y="1780"/>
                  </a:moveTo>
                  <a:cubicBezTo>
                    <a:pt x="9349" y="1780"/>
                    <a:pt x="9349" y="1780"/>
                    <a:pt x="9349" y="1780"/>
                  </a:cubicBezTo>
                  <a:cubicBezTo>
                    <a:pt x="9349" y="1780"/>
                    <a:pt x="9349" y="1780"/>
                    <a:pt x="9349" y="1780"/>
                  </a:cubicBezTo>
                  <a:close/>
                  <a:moveTo>
                    <a:pt x="9374" y="1755"/>
                  </a:moveTo>
                  <a:cubicBezTo>
                    <a:pt x="9374" y="1755"/>
                    <a:pt x="9374" y="1755"/>
                    <a:pt x="9374" y="1755"/>
                  </a:cubicBezTo>
                  <a:cubicBezTo>
                    <a:pt x="9374" y="1755"/>
                    <a:pt x="9374" y="1755"/>
                    <a:pt x="9374" y="1755"/>
                  </a:cubicBezTo>
                  <a:close/>
                  <a:moveTo>
                    <a:pt x="9374" y="1755"/>
                  </a:moveTo>
                  <a:cubicBezTo>
                    <a:pt x="9399" y="1755"/>
                    <a:pt x="9399" y="1755"/>
                    <a:pt x="9399" y="1755"/>
                  </a:cubicBezTo>
                  <a:cubicBezTo>
                    <a:pt x="9399" y="1755"/>
                    <a:pt x="9399" y="1755"/>
                    <a:pt x="9374" y="1755"/>
                  </a:cubicBezTo>
                  <a:close/>
                  <a:moveTo>
                    <a:pt x="9424" y="1755"/>
                  </a:moveTo>
                  <a:cubicBezTo>
                    <a:pt x="10677" y="1253"/>
                    <a:pt x="11855" y="677"/>
                    <a:pt x="12983" y="50"/>
                  </a:cubicBezTo>
                  <a:cubicBezTo>
                    <a:pt x="11855" y="677"/>
                    <a:pt x="10677" y="1253"/>
                    <a:pt x="9424" y="1755"/>
                  </a:cubicBezTo>
                  <a:close/>
                  <a:moveTo>
                    <a:pt x="12983" y="50"/>
                  </a:moveTo>
                  <a:cubicBezTo>
                    <a:pt x="12983" y="50"/>
                    <a:pt x="12983" y="50"/>
                    <a:pt x="13008" y="25"/>
                  </a:cubicBezTo>
                  <a:cubicBezTo>
                    <a:pt x="12983" y="50"/>
                    <a:pt x="12983" y="50"/>
                    <a:pt x="12983" y="50"/>
                  </a:cubicBezTo>
                  <a:close/>
                  <a:moveTo>
                    <a:pt x="13008" y="25"/>
                  </a:moveTo>
                  <a:cubicBezTo>
                    <a:pt x="13008" y="25"/>
                    <a:pt x="13008" y="25"/>
                    <a:pt x="13008" y="25"/>
                  </a:cubicBezTo>
                  <a:cubicBezTo>
                    <a:pt x="13008" y="25"/>
                    <a:pt x="13008" y="25"/>
                    <a:pt x="13008" y="25"/>
                  </a:cubicBezTo>
                  <a:close/>
                  <a:moveTo>
                    <a:pt x="13033" y="25"/>
                  </a:moveTo>
                  <a:cubicBezTo>
                    <a:pt x="13033" y="25"/>
                    <a:pt x="13033" y="25"/>
                    <a:pt x="13033" y="0"/>
                  </a:cubicBezTo>
                  <a:cubicBezTo>
                    <a:pt x="13033" y="25"/>
                    <a:pt x="13033" y="25"/>
                    <a:pt x="13033" y="25"/>
                  </a:cubicBezTo>
                  <a:close/>
                  <a:moveTo>
                    <a:pt x="13058" y="0"/>
                  </a:moveTo>
                  <a:cubicBezTo>
                    <a:pt x="13058" y="0"/>
                    <a:pt x="13058" y="0"/>
                    <a:pt x="13058" y="0"/>
                  </a:cubicBezTo>
                  <a:cubicBezTo>
                    <a:pt x="13058" y="0"/>
                    <a:pt x="13058" y="0"/>
                    <a:pt x="13058" y="0"/>
                  </a:cubicBezTo>
                  <a:close/>
                  <a:moveTo>
                    <a:pt x="13083" y="0"/>
                  </a:moveTo>
                  <a:cubicBezTo>
                    <a:pt x="13083" y="0"/>
                    <a:pt x="13083" y="0"/>
                    <a:pt x="13083" y="0"/>
                  </a:cubicBezTo>
                  <a:cubicBezTo>
                    <a:pt x="13083" y="0"/>
                    <a:pt x="13083" y="0"/>
                    <a:pt x="13083" y="0"/>
                  </a:cubicBezTo>
                  <a:close/>
                </a:path>
              </a:pathLst>
            </a:custGeom>
            <a:solidFill>
              <a:srgbClr val="87D6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" name="Google Shape;1158;p48">
              <a:extLst>
                <a:ext uri="{FF2B5EF4-FFF2-40B4-BE49-F238E27FC236}">
                  <a16:creationId xmlns:a16="http://schemas.microsoft.com/office/drawing/2014/main" id="{61AF95FD-F226-0EE8-7991-877ECFBC6C15}"/>
                </a:ext>
              </a:extLst>
            </p:cNvPr>
            <p:cNvSpPr/>
            <p:nvPr/>
          </p:nvSpPr>
          <p:spPr>
            <a:xfrm>
              <a:off x="7196994" y="3633937"/>
              <a:ext cx="1543" cy="3572"/>
            </a:xfrm>
            <a:custGeom>
              <a:avLst/>
              <a:gdLst/>
              <a:ahLst/>
              <a:cxnLst/>
              <a:rect l="l" t="t" r="r" b="b"/>
              <a:pathLst>
                <a:path w="76" h="176" extrusionOk="0">
                  <a:moveTo>
                    <a:pt x="76" y="175"/>
                  </a:moveTo>
                  <a:cubicBezTo>
                    <a:pt x="76" y="150"/>
                    <a:pt x="51" y="150"/>
                    <a:pt x="51" y="125"/>
                  </a:cubicBezTo>
                  <a:cubicBezTo>
                    <a:pt x="51" y="150"/>
                    <a:pt x="76" y="150"/>
                    <a:pt x="76" y="175"/>
                  </a:cubicBezTo>
                  <a:close/>
                  <a:moveTo>
                    <a:pt x="51" y="125"/>
                  </a:moveTo>
                  <a:cubicBezTo>
                    <a:pt x="51" y="125"/>
                    <a:pt x="51" y="100"/>
                    <a:pt x="51" y="100"/>
                  </a:cubicBezTo>
                  <a:cubicBezTo>
                    <a:pt x="51" y="100"/>
                    <a:pt x="51" y="125"/>
                    <a:pt x="51" y="125"/>
                  </a:cubicBezTo>
                  <a:close/>
                  <a:moveTo>
                    <a:pt x="26" y="50"/>
                  </a:move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50"/>
                    <a:pt x="26" y="50"/>
                  </a:cubicBezTo>
                  <a:close/>
                  <a:moveTo>
                    <a:pt x="26" y="25"/>
                  </a:move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4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" name="Google Shape;1159;p48">
              <a:extLst>
                <a:ext uri="{FF2B5EF4-FFF2-40B4-BE49-F238E27FC236}">
                  <a16:creationId xmlns:a16="http://schemas.microsoft.com/office/drawing/2014/main" id="{A2C5939A-FBEC-D2BD-1CCC-18FD1285F98B}"/>
                </a:ext>
              </a:extLst>
            </p:cNvPr>
            <p:cNvSpPr/>
            <p:nvPr/>
          </p:nvSpPr>
          <p:spPr>
            <a:xfrm>
              <a:off x="7169024" y="3403987"/>
              <a:ext cx="830229" cy="417175"/>
            </a:xfrm>
            <a:custGeom>
              <a:avLst/>
              <a:gdLst/>
              <a:ahLst/>
              <a:cxnLst/>
              <a:rect l="l" t="t" r="r" b="b"/>
              <a:pathLst>
                <a:path w="40903" h="20553" extrusionOk="0">
                  <a:moveTo>
                    <a:pt x="2331" y="1"/>
                  </a:moveTo>
                  <a:cubicBezTo>
                    <a:pt x="451" y="3685"/>
                    <a:pt x="0" y="7695"/>
                    <a:pt x="1379" y="11329"/>
                  </a:cubicBezTo>
                  <a:cubicBezTo>
                    <a:pt x="1404" y="11354"/>
                    <a:pt x="1404" y="11354"/>
                    <a:pt x="1404" y="11354"/>
                  </a:cubicBezTo>
                  <a:cubicBezTo>
                    <a:pt x="1404" y="11379"/>
                    <a:pt x="1404" y="11379"/>
                    <a:pt x="1404" y="11379"/>
                  </a:cubicBezTo>
                  <a:cubicBezTo>
                    <a:pt x="1404" y="11379"/>
                    <a:pt x="1404" y="11404"/>
                    <a:pt x="1404" y="11404"/>
                  </a:cubicBezTo>
                  <a:cubicBezTo>
                    <a:pt x="1429" y="11404"/>
                    <a:pt x="1429" y="11429"/>
                    <a:pt x="1429" y="11429"/>
                  </a:cubicBezTo>
                  <a:cubicBezTo>
                    <a:pt x="1429" y="11429"/>
                    <a:pt x="1429" y="11454"/>
                    <a:pt x="1429" y="11454"/>
                  </a:cubicBezTo>
                  <a:cubicBezTo>
                    <a:pt x="1429" y="11479"/>
                    <a:pt x="1454" y="11479"/>
                    <a:pt x="1454" y="11504"/>
                  </a:cubicBezTo>
                  <a:cubicBezTo>
                    <a:pt x="3735" y="17244"/>
                    <a:pt x="9975" y="20552"/>
                    <a:pt x="17193" y="20552"/>
                  </a:cubicBezTo>
                  <a:cubicBezTo>
                    <a:pt x="20201" y="20552"/>
                    <a:pt x="23359" y="19976"/>
                    <a:pt x="26492" y="18773"/>
                  </a:cubicBezTo>
                  <a:cubicBezTo>
                    <a:pt x="26492" y="18748"/>
                    <a:pt x="26517" y="18748"/>
                    <a:pt x="26517" y="18748"/>
                  </a:cubicBezTo>
                  <a:lnTo>
                    <a:pt x="26542" y="18748"/>
                  </a:lnTo>
                  <a:cubicBezTo>
                    <a:pt x="26567" y="18748"/>
                    <a:pt x="26567" y="18748"/>
                    <a:pt x="26567" y="18723"/>
                  </a:cubicBezTo>
                  <a:lnTo>
                    <a:pt x="26617" y="18723"/>
                  </a:lnTo>
                  <a:cubicBezTo>
                    <a:pt x="27870" y="18221"/>
                    <a:pt x="29048" y="17645"/>
                    <a:pt x="30176" y="17018"/>
                  </a:cubicBezTo>
                  <a:cubicBezTo>
                    <a:pt x="30176" y="17018"/>
                    <a:pt x="30176" y="17018"/>
                    <a:pt x="30201" y="16993"/>
                  </a:cubicBezTo>
                  <a:lnTo>
                    <a:pt x="30226" y="16993"/>
                  </a:lnTo>
                  <a:cubicBezTo>
                    <a:pt x="30226" y="16993"/>
                    <a:pt x="30226" y="16993"/>
                    <a:pt x="30226" y="16968"/>
                  </a:cubicBezTo>
                  <a:lnTo>
                    <a:pt x="30276" y="16968"/>
                  </a:lnTo>
                  <a:cubicBezTo>
                    <a:pt x="36467" y="13384"/>
                    <a:pt x="40452" y="7720"/>
                    <a:pt x="40903" y="2081"/>
                  </a:cubicBezTo>
                  <a:lnTo>
                    <a:pt x="40903" y="2081"/>
                  </a:lnTo>
                  <a:cubicBezTo>
                    <a:pt x="38597" y="6642"/>
                    <a:pt x="34086" y="10702"/>
                    <a:pt x="28196" y="12983"/>
                  </a:cubicBezTo>
                  <a:cubicBezTo>
                    <a:pt x="25063" y="14211"/>
                    <a:pt x="21880" y="14763"/>
                    <a:pt x="18898" y="14763"/>
                  </a:cubicBezTo>
                  <a:cubicBezTo>
                    <a:pt x="11629" y="14763"/>
                    <a:pt x="5339" y="11429"/>
                    <a:pt x="3108" y="5640"/>
                  </a:cubicBezTo>
                  <a:cubicBezTo>
                    <a:pt x="2406" y="3810"/>
                    <a:pt x="2156" y="1905"/>
                    <a:pt x="2331" y="1"/>
                  </a:cubicBezTo>
                  <a:close/>
                </a:path>
              </a:pathLst>
            </a:custGeom>
            <a:solidFill>
              <a:srgbClr val="521C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" name="Google Shape;1160;p48">
              <a:extLst>
                <a:ext uri="{FF2B5EF4-FFF2-40B4-BE49-F238E27FC236}">
                  <a16:creationId xmlns:a16="http://schemas.microsoft.com/office/drawing/2014/main" id="{CF12CD3F-739A-075D-2D03-DD76CD1B2E7B}"/>
                </a:ext>
              </a:extLst>
            </p:cNvPr>
            <p:cNvSpPr/>
            <p:nvPr/>
          </p:nvSpPr>
          <p:spPr>
            <a:xfrm>
              <a:off x="7438128" y="3143488"/>
              <a:ext cx="322142" cy="680819"/>
            </a:xfrm>
            <a:custGeom>
              <a:avLst/>
              <a:gdLst/>
              <a:ahLst/>
              <a:cxnLst/>
              <a:rect l="l" t="t" r="r" b="b"/>
              <a:pathLst>
                <a:path w="15871" h="33542" extrusionOk="0">
                  <a:moveTo>
                    <a:pt x="2243" y="1"/>
                  </a:moveTo>
                  <a:cubicBezTo>
                    <a:pt x="1178" y="1"/>
                    <a:pt x="1" y="1030"/>
                    <a:pt x="401" y="2409"/>
                  </a:cubicBezTo>
                  <a:cubicBezTo>
                    <a:pt x="3384" y="12759"/>
                    <a:pt x="7269" y="22835"/>
                    <a:pt x="12006" y="32534"/>
                  </a:cubicBezTo>
                  <a:cubicBezTo>
                    <a:pt x="12351" y="33243"/>
                    <a:pt x="12979" y="33541"/>
                    <a:pt x="13602" y="33541"/>
                  </a:cubicBezTo>
                  <a:cubicBezTo>
                    <a:pt x="14743" y="33541"/>
                    <a:pt x="15871" y="32543"/>
                    <a:pt x="15239" y="31231"/>
                  </a:cubicBezTo>
                  <a:cubicBezTo>
                    <a:pt x="10477" y="21556"/>
                    <a:pt x="6617" y="11481"/>
                    <a:pt x="3635" y="1105"/>
                  </a:cubicBezTo>
                  <a:cubicBezTo>
                    <a:pt x="3409" y="328"/>
                    <a:pt x="2844" y="1"/>
                    <a:pt x="2243" y="1"/>
                  </a:cubicBezTo>
                  <a:close/>
                </a:path>
              </a:pathLst>
            </a:custGeom>
            <a:solidFill>
              <a:srgbClr val="7942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" name="Google Shape;1161;p48">
              <a:extLst>
                <a:ext uri="{FF2B5EF4-FFF2-40B4-BE49-F238E27FC236}">
                  <a16:creationId xmlns:a16="http://schemas.microsoft.com/office/drawing/2014/main" id="{5832FA97-B99F-711C-38F1-814A13034BE1}"/>
                </a:ext>
              </a:extLst>
            </p:cNvPr>
            <p:cNvSpPr/>
            <p:nvPr/>
          </p:nvSpPr>
          <p:spPr>
            <a:xfrm>
              <a:off x="7362337" y="1212262"/>
              <a:ext cx="190269" cy="181318"/>
            </a:xfrm>
            <a:custGeom>
              <a:avLst/>
              <a:gdLst/>
              <a:ahLst/>
              <a:cxnLst/>
              <a:rect l="l" t="t" r="r" b="b"/>
              <a:pathLst>
                <a:path w="9374" h="8933" extrusionOk="0">
                  <a:moveTo>
                    <a:pt x="5221" y="0"/>
                  </a:moveTo>
                  <a:cubicBezTo>
                    <a:pt x="4185" y="0"/>
                    <a:pt x="3158" y="438"/>
                    <a:pt x="2431" y="1288"/>
                  </a:cubicBezTo>
                  <a:lnTo>
                    <a:pt x="0" y="4095"/>
                  </a:lnTo>
                  <a:lnTo>
                    <a:pt x="5614" y="8932"/>
                  </a:lnTo>
                  <a:lnTo>
                    <a:pt x="8020" y="6125"/>
                  </a:lnTo>
                  <a:cubicBezTo>
                    <a:pt x="9374" y="4572"/>
                    <a:pt x="9198" y="2241"/>
                    <a:pt x="7644" y="912"/>
                  </a:cubicBezTo>
                  <a:cubicBezTo>
                    <a:pt x="6941" y="300"/>
                    <a:pt x="6078" y="0"/>
                    <a:pt x="5221" y="0"/>
                  </a:cubicBez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" name="Google Shape;1162;p48">
              <a:extLst>
                <a:ext uri="{FF2B5EF4-FFF2-40B4-BE49-F238E27FC236}">
                  <a16:creationId xmlns:a16="http://schemas.microsoft.com/office/drawing/2014/main" id="{029340AC-61A6-7D17-4005-DE7FE87B6AAD}"/>
                </a:ext>
              </a:extLst>
            </p:cNvPr>
            <p:cNvSpPr/>
            <p:nvPr/>
          </p:nvSpPr>
          <p:spPr>
            <a:xfrm>
              <a:off x="7286018" y="1295381"/>
              <a:ext cx="190289" cy="181115"/>
            </a:xfrm>
            <a:custGeom>
              <a:avLst/>
              <a:gdLst/>
              <a:ahLst/>
              <a:cxnLst/>
              <a:rect l="l" t="t" r="r" b="b"/>
              <a:pathLst>
                <a:path w="9375" h="8923" extrusionOk="0">
                  <a:moveTo>
                    <a:pt x="3760" y="0"/>
                  </a:moveTo>
                  <a:lnTo>
                    <a:pt x="1329" y="2807"/>
                  </a:lnTo>
                  <a:cubicBezTo>
                    <a:pt x="1" y="4336"/>
                    <a:pt x="176" y="6692"/>
                    <a:pt x="1705" y="8020"/>
                  </a:cubicBezTo>
                  <a:cubicBezTo>
                    <a:pt x="2411" y="8624"/>
                    <a:pt x="3283" y="8922"/>
                    <a:pt x="4148" y="8922"/>
                  </a:cubicBezTo>
                  <a:cubicBezTo>
                    <a:pt x="5188" y="8922"/>
                    <a:pt x="6218" y="8492"/>
                    <a:pt x="6943" y="7645"/>
                  </a:cubicBezTo>
                  <a:lnTo>
                    <a:pt x="9374" y="4837"/>
                  </a:lnTo>
                  <a:lnTo>
                    <a:pt x="3760" y="0"/>
                  </a:ln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1163;p48">
              <a:extLst>
                <a:ext uri="{FF2B5EF4-FFF2-40B4-BE49-F238E27FC236}">
                  <a16:creationId xmlns:a16="http://schemas.microsoft.com/office/drawing/2014/main" id="{1EB14511-4ACE-F775-D012-B1C792D01988}"/>
                </a:ext>
              </a:extLst>
            </p:cNvPr>
            <p:cNvSpPr/>
            <p:nvPr/>
          </p:nvSpPr>
          <p:spPr>
            <a:xfrm>
              <a:off x="7369969" y="1287241"/>
              <a:ext cx="173483" cy="189254"/>
            </a:xfrm>
            <a:custGeom>
              <a:avLst/>
              <a:gdLst/>
              <a:ahLst/>
              <a:cxnLst/>
              <a:rect l="l" t="t" r="r" b="b"/>
              <a:pathLst>
                <a:path w="8547" h="9324" extrusionOk="0">
                  <a:moveTo>
                    <a:pt x="0" y="9324"/>
                  </a:moveTo>
                  <a:lnTo>
                    <a:pt x="0" y="9324"/>
                  </a:lnTo>
                  <a:lnTo>
                    <a:pt x="0" y="9324"/>
                  </a:lnTo>
                  <a:lnTo>
                    <a:pt x="0" y="9324"/>
                  </a:lnTo>
                  <a:close/>
                  <a:moveTo>
                    <a:pt x="0" y="9324"/>
                  </a:moveTo>
                  <a:cubicBezTo>
                    <a:pt x="1053" y="9324"/>
                    <a:pt x="2080" y="8898"/>
                    <a:pt x="2807" y="8046"/>
                  </a:cubicBezTo>
                  <a:lnTo>
                    <a:pt x="5238" y="5238"/>
                  </a:lnTo>
                  <a:lnTo>
                    <a:pt x="4211" y="4361"/>
                  </a:lnTo>
                  <a:lnTo>
                    <a:pt x="5238" y="5238"/>
                  </a:lnTo>
                  <a:lnTo>
                    <a:pt x="7644" y="2431"/>
                  </a:lnTo>
                  <a:cubicBezTo>
                    <a:pt x="8246" y="1730"/>
                    <a:pt x="8546" y="878"/>
                    <a:pt x="8546" y="0"/>
                  </a:cubicBezTo>
                  <a:cubicBezTo>
                    <a:pt x="8546" y="878"/>
                    <a:pt x="8246" y="1730"/>
                    <a:pt x="7644" y="2431"/>
                  </a:cubicBezTo>
                  <a:lnTo>
                    <a:pt x="5238" y="5238"/>
                  </a:lnTo>
                  <a:lnTo>
                    <a:pt x="2807" y="8046"/>
                  </a:lnTo>
                  <a:cubicBezTo>
                    <a:pt x="2080" y="8898"/>
                    <a:pt x="1053" y="9324"/>
                    <a:pt x="0" y="9324"/>
                  </a:cubicBezTo>
                  <a:close/>
                </a:path>
              </a:pathLst>
            </a:custGeom>
            <a:solidFill>
              <a:srgbClr val="90BE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1164;p48">
              <a:extLst>
                <a:ext uri="{FF2B5EF4-FFF2-40B4-BE49-F238E27FC236}">
                  <a16:creationId xmlns:a16="http://schemas.microsoft.com/office/drawing/2014/main" id="{7D6C5602-4BC0-DF8D-75B7-40B41CB1278E}"/>
                </a:ext>
              </a:extLst>
            </p:cNvPr>
            <p:cNvSpPr/>
            <p:nvPr/>
          </p:nvSpPr>
          <p:spPr>
            <a:xfrm>
              <a:off x="5339691" y="1827500"/>
              <a:ext cx="226906" cy="217894"/>
            </a:xfrm>
            <a:custGeom>
              <a:avLst/>
              <a:gdLst/>
              <a:ahLst/>
              <a:cxnLst/>
              <a:rect l="l" t="t" r="r" b="b"/>
              <a:pathLst>
                <a:path w="11179" h="10735" extrusionOk="0">
                  <a:moveTo>
                    <a:pt x="6417" y="0"/>
                  </a:moveTo>
                  <a:lnTo>
                    <a:pt x="0" y="6165"/>
                  </a:lnTo>
                  <a:lnTo>
                    <a:pt x="3083" y="9374"/>
                  </a:lnTo>
                  <a:cubicBezTo>
                    <a:pt x="3947" y="10276"/>
                    <a:pt x="5116" y="10734"/>
                    <a:pt x="6287" y="10734"/>
                  </a:cubicBezTo>
                  <a:cubicBezTo>
                    <a:pt x="7391" y="10734"/>
                    <a:pt x="8497" y="10326"/>
                    <a:pt x="9349" y="9499"/>
                  </a:cubicBezTo>
                  <a:cubicBezTo>
                    <a:pt x="11128" y="7795"/>
                    <a:pt x="11178" y="4988"/>
                    <a:pt x="9474" y="3208"/>
                  </a:cubicBezTo>
                  <a:lnTo>
                    <a:pt x="6417" y="0"/>
                  </a:ln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165;p48">
              <a:extLst>
                <a:ext uri="{FF2B5EF4-FFF2-40B4-BE49-F238E27FC236}">
                  <a16:creationId xmlns:a16="http://schemas.microsoft.com/office/drawing/2014/main" id="{85C5917C-0B3B-D9C6-04E5-D5DDE69827F9}"/>
                </a:ext>
              </a:extLst>
            </p:cNvPr>
            <p:cNvSpPr/>
            <p:nvPr/>
          </p:nvSpPr>
          <p:spPr>
            <a:xfrm>
              <a:off x="5242527" y="1734761"/>
              <a:ext cx="227413" cy="217894"/>
            </a:xfrm>
            <a:custGeom>
              <a:avLst/>
              <a:gdLst/>
              <a:ahLst/>
              <a:cxnLst/>
              <a:rect l="l" t="t" r="r" b="b"/>
              <a:pathLst>
                <a:path w="11204" h="10735" extrusionOk="0">
                  <a:moveTo>
                    <a:pt x="4905" y="0"/>
                  </a:moveTo>
                  <a:cubicBezTo>
                    <a:pt x="3800" y="0"/>
                    <a:pt x="2694" y="408"/>
                    <a:pt x="1830" y="1236"/>
                  </a:cubicBezTo>
                  <a:cubicBezTo>
                    <a:pt x="76" y="2940"/>
                    <a:pt x="0" y="5747"/>
                    <a:pt x="1705" y="7526"/>
                  </a:cubicBezTo>
                  <a:lnTo>
                    <a:pt x="4787" y="10734"/>
                  </a:lnTo>
                  <a:lnTo>
                    <a:pt x="11204" y="4569"/>
                  </a:lnTo>
                  <a:lnTo>
                    <a:pt x="8121" y="1361"/>
                  </a:lnTo>
                  <a:cubicBezTo>
                    <a:pt x="7244" y="458"/>
                    <a:pt x="6075" y="0"/>
                    <a:pt x="4905" y="0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1166;p48">
              <a:extLst>
                <a:ext uri="{FF2B5EF4-FFF2-40B4-BE49-F238E27FC236}">
                  <a16:creationId xmlns:a16="http://schemas.microsoft.com/office/drawing/2014/main" id="{ACC5A1A3-F1A9-B262-056F-F6F82DCBA3D4}"/>
                </a:ext>
              </a:extLst>
            </p:cNvPr>
            <p:cNvSpPr/>
            <p:nvPr/>
          </p:nvSpPr>
          <p:spPr>
            <a:xfrm>
              <a:off x="7557173" y="1513254"/>
              <a:ext cx="502627" cy="412445"/>
            </a:xfrm>
            <a:custGeom>
              <a:avLst/>
              <a:gdLst/>
              <a:ahLst/>
              <a:cxnLst/>
              <a:rect l="l" t="t" r="r" b="b"/>
              <a:pathLst>
                <a:path w="24763" h="20320" extrusionOk="0">
                  <a:moveTo>
                    <a:pt x="7006" y="1"/>
                  </a:moveTo>
                  <a:cubicBezTo>
                    <a:pt x="6837" y="1"/>
                    <a:pt x="6665" y="6"/>
                    <a:pt x="6491" y="18"/>
                  </a:cubicBezTo>
                  <a:cubicBezTo>
                    <a:pt x="2331" y="294"/>
                    <a:pt x="0" y="5758"/>
                    <a:pt x="1730" y="10896"/>
                  </a:cubicBezTo>
                  <a:cubicBezTo>
                    <a:pt x="2005" y="11698"/>
                    <a:pt x="2356" y="12474"/>
                    <a:pt x="2782" y="13251"/>
                  </a:cubicBezTo>
                  <a:cubicBezTo>
                    <a:pt x="4562" y="16510"/>
                    <a:pt x="7394" y="19292"/>
                    <a:pt x="8948" y="20119"/>
                  </a:cubicBezTo>
                  <a:cubicBezTo>
                    <a:pt x="9198" y="20244"/>
                    <a:pt x="9449" y="20294"/>
                    <a:pt x="9725" y="20319"/>
                  </a:cubicBezTo>
                  <a:cubicBezTo>
                    <a:pt x="9740" y="20319"/>
                    <a:pt x="9756" y="20319"/>
                    <a:pt x="9771" y="20319"/>
                  </a:cubicBezTo>
                  <a:cubicBezTo>
                    <a:pt x="11956" y="20319"/>
                    <a:pt x="17241" y="18593"/>
                    <a:pt x="20426" y="15607"/>
                  </a:cubicBezTo>
                  <a:cubicBezTo>
                    <a:pt x="23910" y="12349"/>
                    <a:pt x="24762" y="7387"/>
                    <a:pt x="22507" y="4730"/>
                  </a:cubicBezTo>
                  <a:cubicBezTo>
                    <a:pt x="22206" y="4354"/>
                    <a:pt x="21830" y="4053"/>
                    <a:pt x="21404" y="3778"/>
                  </a:cubicBezTo>
                  <a:cubicBezTo>
                    <a:pt x="20116" y="2967"/>
                    <a:pt x="18770" y="2664"/>
                    <a:pt x="17549" y="2664"/>
                  </a:cubicBezTo>
                  <a:cubicBezTo>
                    <a:pt x="15564" y="2664"/>
                    <a:pt x="13911" y="3465"/>
                    <a:pt x="13384" y="4179"/>
                  </a:cubicBezTo>
                  <a:cubicBezTo>
                    <a:pt x="13168" y="2812"/>
                    <a:pt x="10727" y="1"/>
                    <a:pt x="7006" y="1"/>
                  </a:cubicBez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" name="Google Shape;1167;p48">
              <a:extLst>
                <a:ext uri="{FF2B5EF4-FFF2-40B4-BE49-F238E27FC236}">
                  <a16:creationId xmlns:a16="http://schemas.microsoft.com/office/drawing/2014/main" id="{80372BE8-3CF6-D4FC-4D06-0171C20EDCEE}"/>
                </a:ext>
              </a:extLst>
            </p:cNvPr>
            <p:cNvSpPr/>
            <p:nvPr/>
          </p:nvSpPr>
          <p:spPr>
            <a:xfrm>
              <a:off x="7613640" y="1609261"/>
              <a:ext cx="425801" cy="316438"/>
            </a:xfrm>
            <a:custGeom>
              <a:avLst/>
              <a:gdLst/>
              <a:ahLst/>
              <a:cxnLst/>
              <a:rect l="l" t="t" r="r" b="b"/>
              <a:pathLst>
                <a:path w="20978" h="15590" extrusionOk="0">
                  <a:moveTo>
                    <a:pt x="19725" y="0"/>
                  </a:moveTo>
                  <a:cubicBezTo>
                    <a:pt x="19800" y="251"/>
                    <a:pt x="19875" y="501"/>
                    <a:pt x="19900" y="752"/>
                  </a:cubicBezTo>
                  <a:cubicBezTo>
                    <a:pt x="20000" y="1679"/>
                    <a:pt x="19875" y="2632"/>
                    <a:pt x="19574" y="3509"/>
                  </a:cubicBezTo>
                  <a:cubicBezTo>
                    <a:pt x="19073" y="5063"/>
                    <a:pt x="18020" y="6416"/>
                    <a:pt x="16792" y="7494"/>
                  </a:cubicBezTo>
                  <a:cubicBezTo>
                    <a:pt x="14762" y="9273"/>
                    <a:pt x="12231" y="10426"/>
                    <a:pt x="9574" y="10802"/>
                  </a:cubicBezTo>
                  <a:cubicBezTo>
                    <a:pt x="9499" y="10927"/>
                    <a:pt x="9374" y="11003"/>
                    <a:pt x="9223" y="11003"/>
                  </a:cubicBezTo>
                  <a:cubicBezTo>
                    <a:pt x="9198" y="11003"/>
                    <a:pt x="9173" y="11003"/>
                    <a:pt x="9123" y="10978"/>
                  </a:cubicBezTo>
                  <a:lnTo>
                    <a:pt x="8722" y="10877"/>
                  </a:lnTo>
                  <a:cubicBezTo>
                    <a:pt x="8396" y="10902"/>
                    <a:pt x="8045" y="10927"/>
                    <a:pt x="7694" y="10927"/>
                  </a:cubicBezTo>
                  <a:cubicBezTo>
                    <a:pt x="7469" y="10927"/>
                    <a:pt x="7243" y="10927"/>
                    <a:pt x="6993" y="10902"/>
                  </a:cubicBezTo>
                  <a:cubicBezTo>
                    <a:pt x="4511" y="10777"/>
                    <a:pt x="2055" y="9925"/>
                    <a:pt x="0" y="8521"/>
                  </a:cubicBezTo>
                  <a:lnTo>
                    <a:pt x="0" y="8521"/>
                  </a:lnTo>
                  <a:cubicBezTo>
                    <a:pt x="1780" y="11780"/>
                    <a:pt x="4612" y="14562"/>
                    <a:pt x="6166" y="15389"/>
                  </a:cubicBezTo>
                  <a:cubicBezTo>
                    <a:pt x="6416" y="15514"/>
                    <a:pt x="6667" y="15564"/>
                    <a:pt x="6943" y="15589"/>
                  </a:cubicBezTo>
                  <a:lnTo>
                    <a:pt x="6993" y="15589"/>
                  </a:lnTo>
                  <a:cubicBezTo>
                    <a:pt x="9198" y="15589"/>
                    <a:pt x="14461" y="13860"/>
                    <a:pt x="17644" y="10877"/>
                  </a:cubicBezTo>
                  <a:cubicBezTo>
                    <a:pt x="19825" y="8847"/>
                    <a:pt x="20978" y="6115"/>
                    <a:pt x="20978" y="3734"/>
                  </a:cubicBezTo>
                  <a:cubicBezTo>
                    <a:pt x="20978" y="2306"/>
                    <a:pt x="20577" y="1003"/>
                    <a:pt x="19725" y="0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" name="Google Shape;1168;p48">
              <a:extLst>
                <a:ext uri="{FF2B5EF4-FFF2-40B4-BE49-F238E27FC236}">
                  <a16:creationId xmlns:a16="http://schemas.microsoft.com/office/drawing/2014/main" id="{F99202B2-8C79-8898-6EE7-097D1BFB3F02}"/>
                </a:ext>
              </a:extLst>
            </p:cNvPr>
            <p:cNvSpPr/>
            <p:nvPr/>
          </p:nvSpPr>
          <p:spPr>
            <a:xfrm>
              <a:off x="7695541" y="1636501"/>
              <a:ext cx="197393" cy="195993"/>
            </a:xfrm>
            <a:custGeom>
              <a:avLst/>
              <a:gdLst/>
              <a:ahLst/>
              <a:cxnLst/>
              <a:rect l="l" t="t" r="r" b="b"/>
              <a:pathLst>
                <a:path w="9725" h="9656" extrusionOk="0">
                  <a:moveTo>
                    <a:pt x="4538" y="1"/>
                  </a:moveTo>
                  <a:cubicBezTo>
                    <a:pt x="4349" y="1"/>
                    <a:pt x="4178" y="120"/>
                    <a:pt x="4136" y="312"/>
                  </a:cubicBezTo>
                  <a:lnTo>
                    <a:pt x="3559" y="2643"/>
                  </a:lnTo>
                  <a:lnTo>
                    <a:pt x="1228" y="2042"/>
                  </a:lnTo>
                  <a:cubicBezTo>
                    <a:pt x="1195" y="2034"/>
                    <a:pt x="1162" y="2031"/>
                    <a:pt x="1129" y="2031"/>
                  </a:cubicBezTo>
                  <a:cubicBezTo>
                    <a:pt x="940" y="2031"/>
                    <a:pt x="770" y="2150"/>
                    <a:pt x="727" y="2342"/>
                  </a:cubicBezTo>
                  <a:lnTo>
                    <a:pt x="50" y="5074"/>
                  </a:lnTo>
                  <a:cubicBezTo>
                    <a:pt x="0" y="5275"/>
                    <a:pt x="126" y="5500"/>
                    <a:pt x="326" y="5550"/>
                  </a:cubicBezTo>
                  <a:lnTo>
                    <a:pt x="2657" y="6152"/>
                  </a:lnTo>
                  <a:lnTo>
                    <a:pt x="2080" y="8483"/>
                  </a:lnTo>
                  <a:cubicBezTo>
                    <a:pt x="2030" y="8683"/>
                    <a:pt x="2156" y="8909"/>
                    <a:pt x="2381" y="8959"/>
                  </a:cubicBezTo>
                  <a:lnTo>
                    <a:pt x="5088" y="9636"/>
                  </a:lnTo>
                  <a:cubicBezTo>
                    <a:pt x="5128" y="9649"/>
                    <a:pt x="5169" y="9655"/>
                    <a:pt x="5208" y="9655"/>
                  </a:cubicBezTo>
                  <a:cubicBezTo>
                    <a:pt x="5389" y="9655"/>
                    <a:pt x="5548" y="9524"/>
                    <a:pt x="5589" y="9360"/>
                  </a:cubicBezTo>
                  <a:lnTo>
                    <a:pt x="6166" y="7029"/>
                  </a:lnTo>
                  <a:lnTo>
                    <a:pt x="8497" y="7606"/>
                  </a:lnTo>
                  <a:cubicBezTo>
                    <a:pt x="8530" y="7613"/>
                    <a:pt x="8564" y="7617"/>
                    <a:pt x="8597" y="7617"/>
                  </a:cubicBezTo>
                  <a:cubicBezTo>
                    <a:pt x="8786" y="7617"/>
                    <a:pt x="8955" y="7500"/>
                    <a:pt x="8998" y="7330"/>
                  </a:cubicBezTo>
                  <a:lnTo>
                    <a:pt x="9675" y="4598"/>
                  </a:lnTo>
                  <a:cubicBezTo>
                    <a:pt x="9725" y="4372"/>
                    <a:pt x="9599" y="4172"/>
                    <a:pt x="9374" y="4097"/>
                  </a:cubicBezTo>
                  <a:lnTo>
                    <a:pt x="7043" y="3520"/>
                  </a:lnTo>
                  <a:lnTo>
                    <a:pt x="7644" y="1189"/>
                  </a:lnTo>
                  <a:cubicBezTo>
                    <a:pt x="7695" y="964"/>
                    <a:pt x="7569" y="763"/>
                    <a:pt x="7344" y="713"/>
                  </a:cubicBezTo>
                  <a:lnTo>
                    <a:pt x="4637" y="11"/>
                  </a:lnTo>
                  <a:cubicBezTo>
                    <a:pt x="4604" y="4"/>
                    <a:pt x="4570" y="1"/>
                    <a:pt x="4538" y="1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1169;p48">
              <a:extLst>
                <a:ext uri="{FF2B5EF4-FFF2-40B4-BE49-F238E27FC236}">
                  <a16:creationId xmlns:a16="http://schemas.microsoft.com/office/drawing/2014/main" id="{FC8DCCCB-2F4B-8021-2AE0-71BB4658082F}"/>
                </a:ext>
              </a:extLst>
            </p:cNvPr>
            <p:cNvSpPr/>
            <p:nvPr/>
          </p:nvSpPr>
          <p:spPr>
            <a:xfrm>
              <a:off x="7695541" y="1677928"/>
              <a:ext cx="40209" cy="71752"/>
            </a:xfrm>
            <a:custGeom>
              <a:avLst/>
              <a:gdLst/>
              <a:ahLst/>
              <a:cxnLst/>
              <a:rect l="l" t="t" r="r" b="b"/>
              <a:pathLst>
                <a:path w="1981" h="3535" extrusionOk="0">
                  <a:moveTo>
                    <a:pt x="1128" y="1"/>
                  </a:moveTo>
                  <a:cubicBezTo>
                    <a:pt x="953" y="1"/>
                    <a:pt x="777" y="126"/>
                    <a:pt x="727" y="301"/>
                  </a:cubicBezTo>
                  <a:lnTo>
                    <a:pt x="50" y="3033"/>
                  </a:lnTo>
                  <a:cubicBezTo>
                    <a:pt x="0" y="3234"/>
                    <a:pt x="126" y="3459"/>
                    <a:pt x="326" y="3509"/>
                  </a:cubicBezTo>
                  <a:lnTo>
                    <a:pt x="426" y="3534"/>
                  </a:lnTo>
                  <a:cubicBezTo>
                    <a:pt x="1203" y="2858"/>
                    <a:pt x="1780" y="1655"/>
                    <a:pt x="1980" y="201"/>
                  </a:cubicBezTo>
                  <a:lnTo>
                    <a:pt x="12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1170;p48">
              <a:extLst>
                <a:ext uri="{FF2B5EF4-FFF2-40B4-BE49-F238E27FC236}">
                  <a16:creationId xmlns:a16="http://schemas.microsoft.com/office/drawing/2014/main" id="{94A7A8BC-1E04-8899-B6BC-09A0A2725140}"/>
                </a:ext>
              </a:extLst>
            </p:cNvPr>
            <p:cNvSpPr/>
            <p:nvPr/>
          </p:nvSpPr>
          <p:spPr>
            <a:xfrm>
              <a:off x="5579811" y="1349616"/>
              <a:ext cx="393751" cy="331824"/>
            </a:xfrm>
            <a:custGeom>
              <a:avLst/>
              <a:gdLst/>
              <a:ahLst/>
              <a:cxnLst/>
              <a:rect l="l" t="t" r="r" b="b"/>
              <a:pathLst>
                <a:path w="19399" h="16348" extrusionOk="0">
                  <a:moveTo>
                    <a:pt x="14006" y="1"/>
                  </a:moveTo>
                  <a:cubicBezTo>
                    <a:pt x="13908" y="1"/>
                    <a:pt x="13810" y="4"/>
                    <a:pt x="13709" y="10"/>
                  </a:cubicBezTo>
                  <a:cubicBezTo>
                    <a:pt x="10526" y="286"/>
                    <a:pt x="8822" y="2993"/>
                    <a:pt x="8822" y="4120"/>
                  </a:cubicBezTo>
                  <a:cubicBezTo>
                    <a:pt x="8426" y="3725"/>
                    <a:pt x="7463" y="3378"/>
                    <a:pt x="6300" y="3378"/>
                  </a:cubicBezTo>
                  <a:cubicBezTo>
                    <a:pt x="5105" y="3378"/>
                    <a:pt x="3700" y="3743"/>
                    <a:pt x="2481" y="4797"/>
                  </a:cubicBezTo>
                  <a:cubicBezTo>
                    <a:pt x="0" y="6952"/>
                    <a:pt x="1153" y="11514"/>
                    <a:pt x="4712" y="13945"/>
                  </a:cubicBezTo>
                  <a:cubicBezTo>
                    <a:pt x="5263" y="14296"/>
                    <a:pt x="5865" y="14622"/>
                    <a:pt x="6491" y="14922"/>
                  </a:cubicBezTo>
                  <a:cubicBezTo>
                    <a:pt x="8668" y="15899"/>
                    <a:pt x="11143" y="16347"/>
                    <a:pt x="12734" y="16347"/>
                  </a:cubicBezTo>
                  <a:cubicBezTo>
                    <a:pt x="13103" y="16347"/>
                    <a:pt x="13425" y="16323"/>
                    <a:pt x="13684" y="16276"/>
                  </a:cubicBezTo>
                  <a:cubicBezTo>
                    <a:pt x="13885" y="16251"/>
                    <a:pt x="14085" y="16176"/>
                    <a:pt x="14261" y="16050"/>
                  </a:cubicBezTo>
                  <a:cubicBezTo>
                    <a:pt x="15639" y="15023"/>
                    <a:pt x="18171" y="11389"/>
                    <a:pt x="18747" y="7955"/>
                  </a:cubicBezTo>
                  <a:cubicBezTo>
                    <a:pt x="19399" y="4221"/>
                    <a:pt x="17544" y="687"/>
                    <a:pt x="14862" y="85"/>
                  </a:cubicBezTo>
                  <a:cubicBezTo>
                    <a:pt x="14580" y="29"/>
                    <a:pt x="14298" y="1"/>
                    <a:pt x="14006" y="1"/>
                  </a:cubicBezTo>
                  <a:close/>
                </a:path>
              </a:pathLst>
            </a:custGeom>
            <a:solidFill>
              <a:srgbClr val="EF32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1171;p48">
              <a:extLst>
                <a:ext uri="{FF2B5EF4-FFF2-40B4-BE49-F238E27FC236}">
                  <a16:creationId xmlns:a16="http://schemas.microsoft.com/office/drawing/2014/main" id="{78054227-DA6C-F404-3C67-953F8716F8AE}"/>
                </a:ext>
              </a:extLst>
            </p:cNvPr>
            <p:cNvSpPr/>
            <p:nvPr/>
          </p:nvSpPr>
          <p:spPr>
            <a:xfrm>
              <a:off x="5711562" y="1351341"/>
              <a:ext cx="251324" cy="330179"/>
            </a:xfrm>
            <a:custGeom>
              <a:avLst/>
              <a:gdLst/>
              <a:ahLst/>
              <a:cxnLst/>
              <a:rect l="l" t="t" r="r" b="b"/>
              <a:pathLst>
                <a:path w="12382" h="16267" extrusionOk="0">
                  <a:moveTo>
                    <a:pt x="8371" y="0"/>
                  </a:moveTo>
                  <a:lnTo>
                    <a:pt x="8371" y="0"/>
                  </a:lnTo>
                  <a:cubicBezTo>
                    <a:pt x="8522" y="126"/>
                    <a:pt x="8697" y="251"/>
                    <a:pt x="8848" y="401"/>
                  </a:cubicBezTo>
                  <a:cubicBezTo>
                    <a:pt x="9349" y="928"/>
                    <a:pt x="9725" y="1579"/>
                    <a:pt x="9950" y="2281"/>
                  </a:cubicBezTo>
                  <a:cubicBezTo>
                    <a:pt x="10376" y="3509"/>
                    <a:pt x="10351" y="4862"/>
                    <a:pt x="10101" y="6141"/>
                  </a:cubicBezTo>
                  <a:cubicBezTo>
                    <a:pt x="9675" y="8221"/>
                    <a:pt x="8622" y="10176"/>
                    <a:pt x="7143" y="11680"/>
                  </a:cubicBezTo>
                  <a:cubicBezTo>
                    <a:pt x="7168" y="11805"/>
                    <a:pt x="7093" y="11955"/>
                    <a:pt x="6943" y="12005"/>
                  </a:cubicBezTo>
                  <a:lnTo>
                    <a:pt x="6642" y="12131"/>
                  </a:lnTo>
                  <a:cubicBezTo>
                    <a:pt x="6316" y="12431"/>
                    <a:pt x="5940" y="12732"/>
                    <a:pt x="5564" y="12983"/>
                  </a:cubicBezTo>
                  <a:cubicBezTo>
                    <a:pt x="3935" y="14086"/>
                    <a:pt x="1980" y="14737"/>
                    <a:pt x="0" y="14837"/>
                  </a:cubicBezTo>
                  <a:cubicBezTo>
                    <a:pt x="2206" y="15815"/>
                    <a:pt x="4712" y="16266"/>
                    <a:pt x="6291" y="16266"/>
                  </a:cubicBezTo>
                  <a:cubicBezTo>
                    <a:pt x="6642" y="16266"/>
                    <a:pt x="6943" y="16241"/>
                    <a:pt x="7193" y="16191"/>
                  </a:cubicBezTo>
                  <a:cubicBezTo>
                    <a:pt x="7394" y="16166"/>
                    <a:pt x="7594" y="16091"/>
                    <a:pt x="7770" y="15965"/>
                  </a:cubicBezTo>
                  <a:cubicBezTo>
                    <a:pt x="9148" y="14938"/>
                    <a:pt x="11680" y="11304"/>
                    <a:pt x="12256" y="7870"/>
                  </a:cubicBezTo>
                  <a:cubicBezTo>
                    <a:pt x="12356" y="7369"/>
                    <a:pt x="12381" y="6867"/>
                    <a:pt x="12381" y="6391"/>
                  </a:cubicBezTo>
                  <a:cubicBezTo>
                    <a:pt x="12381" y="3233"/>
                    <a:pt x="10702" y="527"/>
                    <a:pt x="8371" y="0"/>
                  </a:cubicBezTo>
                  <a:close/>
                </a:path>
              </a:pathLst>
            </a:custGeom>
            <a:solidFill>
              <a:srgbClr val="CF1E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1172;p48">
              <a:extLst>
                <a:ext uri="{FF2B5EF4-FFF2-40B4-BE49-F238E27FC236}">
                  <a16:creationId xmlns:a16="http://schemas.microsoft.com/office/drawing/2014/main" id="{B642677C-9A26-2CEB-0C5C-7DC98D49970E}"/>
                </a:ext>
              </a:extLst>
            </p:cNvPr>
            <p:cNvSpPr/>
            <p:nvPr/>
          </p:nvSpPr>
          <p:spPr>
            <a:xfrm>
              <a:off x="5724268" y="1458086"/>
              <a:ext cx="157224" cy="155337"/>
            </a:xfrm>
            <a:custGeom>
              <a:avLst/>
              <a:gdLst/>
              <a:ahLst/>
              <a:cxnLst/>
              <a:rect l="l" t="t" r="r" b="b"/>
              <a:pathLst>
                <a:path w="7746" h="7653" extrusionOk="0">
                  <a:moveTo>
                    <a:pt x="3585" y="0"/>
                  </a:moveTo>
                  <a:cubicBezTo>
                    <a:pt x="3542" y="0"/>
                    <a:pt x="3499" y="10"/>
                    <a:pt x="3460" y="30"/>
                  </a:cubicBezTo>
                  <a:lnTo>
                    <a:pt x="1404" y="907"/>
                  </a:lnTo>
                  <a:cubicBezTo>
                    <a:pt x="1254" y="982"/>
                    <a:pt x="1179" y="1157"/>
                    <a:pt x="1254" y="1333"/>
                  </a:cubicBezTo>
                  <a:lnTo>
                    <a:pt x="1981" y="3062"/>
                  </a:lnTo>
                  <a:lnTo>
                    <a:pt x="252" y="3814"/>
                  </a:lnTo>
                  <a:cubicBezTo>
                    <a:pt x="76" y="3889"/>
                    <a:pt x="1" y="4090"/>
                    <a:pt x="76" y="4240"/>
                  </a:cubicBezTo>
                  <a:lnTo>
                    <a:pt x="953" y="6295"/>
                  </a:lnTo>
                  <a:cubicBezTo>
                    <a:pt x="990" y="6405"/>
                    <a:pt x="1107" y="6475"/>
                    <a:pt x="1227" y="6475"/>
                  </a:cubicBezTo>
                  <a:cubicBezTo>
                    <a:pt x="1270" y="6475"/>
                    <a:pt x="1314" y="6466"/>
                    <a:pt x="1354" y="6446"/>
                  </a:cubicBezTo>
                  <a:lnTo>
                    <a:pt x="3109" y="5694"/>
                  </a:lnTo>
                  <a:lnTo>
                    <a:pt x="3861" y="7448"/>
                  </a:lnTo>
                  <a:cubicBezTo>
                    <a:pt x="3916" y="7578"/>
                    <a:pt x="4026" y="7653"/>
                    <a:pt x="4151" y="7653"/>
                  </a:cubicBezTo>
                  <a:cubicBezTo>
                    <a:pt x="4195" y="7653"/>
                    <a:pt x="4241" y="7643"/>
                    <a:pt x="4287" y="7624"/>
                  </a:cubicBezTo>
                  <a:lnTo>
                    <a:pt x="6317" y="6746"/>
                  </a:lnTo>
                  <a:cubicBezTo>
                    <a:pt x="6492" y="6671"/>
                    <a:pt x="6567" y="6496"/>
                    <a:pt x="6492" y="6320"/>
                  </a:cubicBezTo>
                  <a:lnTo>
                    <a:pt x="5740" y="4591"/>
                  </a:lnTo>
                  <a:lnTo>
                    <a:pt x="7495" y="3839"/>
                  </a:lnTo>
                  <a:cubicBezTo>
                    <a:pt x="7670" y="3764"/>
                    <a:pt x="7745" y="3588"/>
                    <a:pt x="7670" y="3413"/>
                  </a:cubicBezTo>
                  <a:lnTo>
                    <a:pt x="6793" y="1383"/>
                  </a:lnTo>
                  <a:cubicBezTo>
                    <a:pt x="6737" y="1253"/>
                    <a:pt x="6627" y="1178"/>
                    <a:pt x="6503" y="1178"/>
                  </a:cubicBezTo>
                  <a:cubicBezTo>
                    <a:pt x="6459" y="1178"/>
                    <a:pt x="6413" y="1188"/>
                    <a:pt x="6367" y="1207"/>
                  </a:cubicBezTo>
                  <a:lnTo>
                    <a:pt x="4612" y="1959"/>
                  </a:lnTo>
                  <a:lnTo>
                    <a:pt x="3886" y="205"/>
                  </a:lnTo>
                  <a:cubicBezTo>
                    <a:pt x="3830" y="75"/>
                    <a:pt x="3706" y="0"/>
                    <a:pt x="3585" y="0"/>
                  </a:cubicBezTo>
                  <a:close/>
                </a:path>
              </a:pathLst>
            </a:custGeom>
            <a:solidFill>
              <a:srgbClr val="FFFD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1173;p48">
              <a:extLst>
                <a:ext uri="{FF2B5EF4-FFF2-40B4-BE49-F238E27FC236}">
                  <a16:creationId xmlns:a16="http://schemas.microsoft.com/office/drawing/2014/main" id="{54F589CD-DA89-959B-DFB5-2D27C9032E19}"/>
                </a:ext>
              </a:extLst>
            </p:cNvPr>
            <p:cNvSpPr/>
            <p:nvPr/>
          </p:nvSpPr>
          <p:spPr>
            <a:xfrm>
              <a:off x="5724268" y="1530913"/>
              <a:ext cx="32577" cy="58518"/>
            </a:xfrm>
            <a:custGeom>
              <a:avLst/>
              <a:gdLst/>
              <a:ahLst/>
              <a:cxnLst/>
              <a:rect l="l" t="t" r="r" b="b"/>
              <a:pathLst>
                <a:path w="1605" h="2883" extrusionOk="0">
                  <a:moveTo>
                    <a:pt x="803" y="0"/>
                  </a:moveTo>
                  <a:lnTo>
                    <a:pt x="252" y="226"/>
                  </a:lnTo>
                  <a:cubicBezTo>
                    <a:pt x="76" y="301"/>
                    <a:pt x="1" y="502"/>
                    <a:pt x="76" y="652"/>
                  </a:cubicBezTo>
                  <a:lnTo>
                    <a:pt x="953" y="2707"/>
                  </a:lnTo>
                  <a:cubicBezTo>
                    <a:pt x="1003" y="2807"/>
                    <a:pt x="1104" y="2883"/>
                    <a:pt x="1229" y="2883"/>
                  </a:cubicBezTo>
                  <a:cubicBezTo>
                    <a:pt x="1279" y="2883"/>
                    <a:pt x="1329" y="2883"/>
                    <a:pt x="1354" y="2858"/>
                  </a:cubicBezTo>
                  <a:lnTo>
                    <a:pt x="1430" y="2833"/>
                  </a:lnTo>
                  <a:cubicBezTo>
                    <a:pt x="1605" y="2031"/>
                    <a:pt x="1379" y="1003"/>
                    <a:pt x="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DCE196-0F28-55BD-9BBA-14C06BF0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4400">
                <a:solidFill>
                  <a:srgbClr val="EF324B"/>
                </a:solidFill>
                <a:latin typeface="Atlata"/>
              </a:rPr>
              <a:t>Conclusão</a:t>
            </a:r>
            <a:endParaRPr lang="en-GB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0794DA-0C68-D059-0F41-2243588E1AAB}"/>
              </a:ext>
            </a:extLst>
          </p:cNvPr>
          <p:cNvSpPr txBox="1"/>
          <p:nvPr/>
        </p:nvSpPr>
        <p:spPr>
          <a:xfrm>
            <a:off x="259937" y="1592620"/>
            <a:ext cx="11038313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400">
                <a:latin typeface="+mj-lt"/>
              </a:rPr>
              <a:t>A identificação destas proteínas nos doentes pode predizer a sua predisposição para a sensibilidade ao sal e para a hipertensão podendo assim num futuro  encaminhar os pacientes para uma melhor terapia: mais personalizada e mais customizada. </a:t>
            </a:r>
            <a:endParaRPr lang="en-US" sz="240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400">
                <a:latin typeface="+mj-lt"/>
              </a:rPr>
              <a:t>A relevância do software  bioinformático na criação de correlação entre as proteínas no </a:t>
            </a:r>
            <a:r>
              <a:rPr lang="pt-PT" sz="2400" err="1">
                <a:latin typeface="+mj-lt"/>
              </a:rPr>
              <a:t>String</a:t>
            </a:r>
            <a:r>
              <a:rPr lang="pt-PT" sz="2400">
                <a:latin typeface="+mj-lt"/>
              </a:rPr>
              <a:t> e </a:t>
            </a:r>
            <a:r>
              <a:rPr lang="pt-PT" sz="2400" err="1">
                <a:latin typeface="+mj-lt"/>
              </a:rPr>
              <a:t>Cystocape</a:t>
            </a:r>
            <a:r>
              <a:rPr lang="pt-PT" sz="2400">
                <a:latin typeface="+mj-lt"/>
              </a:rPr>
              <a:t> é inegável, apresentam é diferenças.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400">
                <a:latin typeface="+mj-lt"/>
              </a:rPr>
              <a:t>O </a:t>
            </a:r>
            <a:r>
              <a:rPr lang="pt-PT" sz="2400" err="1">
                <a:latin typeface="+mj-lt"/>
              </a:rPr>
              <a:t>Uniprot</a:t>
            </a:r>
            <a:r>
              <a:rPr lang="pt-PT" sz="2400">
                <a:latin typeface="+mj-lt"/>
              </a:rPr>
              <a:t> é uma base de dados confiável e robusta que permite uma informação específica</a:t>
            </a:r>
            <a:r>
              <a:rPr lang="pt-PT" sz="2400"/>
              <a:t>.</a:t>
            </a:r>
            <a:endParaRPr lang="pt-PT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8519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9935-A41C-61FF-36B5-14FC7694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4000">
                <a:solidFill>
                  <a:srgbClr val="EF324B"/>
                </a:solidFill>
                <a:latin typeface="Atlata"/>
              </a:rPr>
              <a:t>Bibliografia</a:t>
            </a:r>
            <a:endParaRPr lang="en-GB" sz="4000">
              <a:solidFill>
                <a:srgbClr val="EF324B"/>
              </a:solidFill>
              <a:latin typeface="Atlat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4D601-98E5-6182-6D25-6227F7E34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2" y="1514578"/>
            <a:ext cx="11560278" cy="57550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GB" sz="1600" b="0" i="0">
                <a:effectLst/>
                <a:latin typeface="+mj-lt"/>
              </a:rPr>
              <a:t>Mills, K.T., Stefanescu, A. &amp; He, J. The global epidemiology of hypertension. </a:t>
            </a:r>
            <a:r>
              <a:rPr lang="en-GB" sz="1600" b="0" i="1">
                <a:effectLst/>
                <a:latin typeface="+mj-lt"/>
              </a:rPr>
              <a:t>Nat Rev Nephrol</a:t>
            </a:r>
            <a:r>
              <a:rPr lang="en-GB" sz="1600" b="0" i="0">
                <a:effectLst/>
                <a:latin typeface="+mj-lt"/>
              </a:rPr>
              <a:t> </a:t>
            </a:r>
            <a:r>
              <a:rPr lang="en-GB" sz="1600" b="1" i="0">
                <a:effectLst/>
                <a:latin typeface="+mj-lt"/>
              </a:rPr>
              <a:t>16</a:t>
            </a:r>
            <a:r>
              <a:rPr lang="en-GB" sz="1600" b="0" i="0">
                <a:effectLst/>
                <a:latin typeface="+mj-lt"/>
              </a:rPr>
              <a:t>, 223–237 (2020). </a:t>
            </a:r>
            <a:r>
              <a:rPr lang="en-GB" sz="1600" b="0" i="0"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https://doi.org/10.1038/s41581-019-0244-2</a:t>
            </a:r>
            <a:endParaRPr lang="en-GB" sz="1600" b="0" i="0">
              <a:effectLst/>
              <a:latin typeface="+mj-lt"/>
            </a:endParaRPr>
          </a:p>
          <a:p>
            <a:pPr algn="just"/>
            <a:r>
              <a:rPr lang="en-GB" sz="1600" b="0" i="0">
                <a:effectLst/>
                <a:latin typeface="+mj-lt"/>
              </a:rPr>
              <a:t>Ozeki A, </a:t>
            </a:r>
            <a:r>
              <a:rPr lang="en-GB" sz="1600" b="0" i="0" err="1">
                <a:effectLst/>
                <a:latin typeface="+mj-lt"/>
              </a:rPr>
              <a:t>Oogaki</a:t>
            </a:r>
            <a:r>
              <a:rPr lang="en-GB" sz="1600" b="0" i="0">
                <a:effectLst/>
                <a:latin typeface="+mj-lt"/>
              </a:rPr>
              <a:t> Y, </a:t>
            </a:r>
            <a:r>
              <a:rPr lang="en-GB" sz="1600" b="0" i="0" err="1">
                <a:effectLst/>
                <a:latin typeface="+mj-lt"/>
              </a:rPr>
              <a:t>Henmi</a:t>
            </a:r>
            <a:r>
              <a:rPr lang="en-GB" sz="1600" b="0" i="0">
                <a:effectLst/>
                <a:latin typeface="+mj-lt"/>
              </a:rPr>
              <a:t> Y, Karasawa T, Takahashi M, Takahashi H, </a:t>
            </a:r>
            <a:r>
              <a:rPr lang="en-GB" sz="1600" b="0" i="0" err="1">
                <a:effectLst/>
                <a:latin typeface="+mj-lt"/>
              </a:rPr>
              <a:t>Ohkuchi</a:t>
            </a:r>
            <a:r>
              <a:rPr lang="en-GB" sz="1600" b="0" i="0">
                <a:effectLst/>
                <a:latin typeface="+mj-lt"/>
              </a:rPr>
              <a:t> A, Shirasuna K. Elevated S100A9 in preeclampsia induces soluble endoglin and IL-1</a:t>
            </a:r>
            <a:r>
              <a:rPr lang="el-GR" sz="1600" b="0" i="0">
                <a:effectLst/>
                <a:latin typeface="+mj-lt"/>
              </a:rPr>
              <a:t>β </a:t>
            </a:r>
            <a:r>
              <a:rPr lang="en-GB" sz="1600" b="0" i="0">
                <a:effectLst/>
                <a:latin typeface="+mj-lt"/>
              </a:rPr>
              <a:t>secretion and hypertension via the NLRP3 inflammasome. J </a:t>
            </a:r>
            <a:r>
              <a:rPr lang="en-GB" sz="1600" b="0" i="0" err="1">
                <a:effectLst/>
                <a:latin typeface="+mj-lt"/>
              </a:rPr>
              <a:t>Hypertens</a:t>
            </a:r>
            <a:r>
              <a:rPr lang="en-GB" sz="1600" b="0" i="0">
                <a:effectLst/>
                <a:latin typeface="+mj-lt"/>
              </a:rPr>
              <a:t>. 2022 Jan 1;40(1):84-93. </a:t>
            </a:r>
            <a:r>
              <a:rPr lang="en-GB" sz="1600" b="0" i="0" err="1">
                <a:effectLst/>
                <a:latin typeface="+mj-lt"/>
              </a:rPr>
              <a:t>doi</a:t>
            </a:r>
            <a:r>
              <a:rPr lang="en-GB" sz="1600" b="0" i="0">
                <a:effectLst/>
                <a:latin typeface="+mj-lt"/>
              </a:rPr>
              <a:t>: 10.1097/HJH.0000000000002981. PMID: 34412079.</a:t>
            </a:r>
            <a:endParaRPr lang="en-GB" sz="1600" b="0" i="0">
              <a:effectLst/>
              <a:latin typeface="+mj-lt"/>
              <a:cs typeface="Calibri Light"/>
            </a:endParaRPr>
          </a:p>
          <a:p>
            <a:pPr algn="just"/>
            <a:r>
              <a:rPr lang="en-GB" sz="1600" b="0" i="0">
                <a:effectLst/>
                <a:latin typeface="+mj-lt"/>
              </a:rPr>
              <a:t>Zheng, D., Kern, L. and </a:t>
            </a:r>
            <a:r>
              <a:rPr lang="en-GB" sz="1600" b="0" i="0" err="1">
                <a:effectLst/>
                <a:latin typeface="+mj-lt"/>
              </a:rPr>
              <a:t>Elinav</a:t>
            </a:r>
            <a:r>
              <a:rPr lang="en-GB" sz="1600" b="0" i="0">
                <a:effectLst/>
                <a:latin typeface="+mj-lt"/>
              </a:rPr>
              <a:t>, E. (2021), The NLRP6 inflammasome. Immunology, 162: 281-289. </a:t>
            </a:r>
            <a:r>
              <a:rPr lang="en-GB" sz="1600" b="0" i="0" u="none" strike="noStrike"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https://doi.org/10.1111/imm.13293</a:t>
            </a:r>
            <a:endParaRPr lang="en-GB" sz="1600" b="0" i="0" u="none" strike="noStrike">
              <a:effectLst/>
              <a:latin typeface="+mj-lt"/>
            </a:endParaRPr>
          </a:p>
          <a:p>
            <a:pPr algn="just"/>
            <a:r>
              <a:rPr lang="en-GB" sz="1600" b="0" i="0">
                <a:effectLst/>
                <a:latin typeface="+mj-lt"/>
              </a:rPr>
              <a:t>Lennon, Matthew </a:t>
            </a:r>
            <a:r>
              <a:rPr lang="en-GB" sz="1600" b="0" i="0" err="1">
                <a:effectLst/>
                <a:latin typeface="+mj-lt"/>
              </a:rPr>
              <a:t>J.</a:t>
            </a:r>
            <a:r>
              <a:rPr lang="en-GB" sz="1600" b="0" i="0" baseline="30000" err="1">
                <a:effectLst/>
                <a:latin typeface="+mj-lt"/>
              </a:rPr>
              <a:t>a,b</a:t>
            </a:r>
            <a:r>
              <a:rPr lang="en-GB" sz="1600" b="0" i="0">
                <a:effectLst/>
                <a:latin typeface="+mj-lt"/>
              </a:rPr>
              <a:t>; Koncz, </a:t>
            </a:r>
            <a:r>
              <a:rPr lang="en-GB" sz="1600" b="0" i="0" err="1">
                <a:effectLst/>
                <a:latin typeface="+mj-lt"/>
              </a:rPr>
              <a:t>Rebecca</a:t>
            </a:r>
            <a:r>
              <a:rPr lang="en-GB" sz="1600" b="0" i="0" baseline="30000" err="1">
                <a:effectLst/>
                <a:latin typeface="+mj-lt"/>
              </a:rPr>
              <a:t>b,d,e</a:t>
            </a:r>
            <a:r>
              <a:rPr lang="en-GB" sz="1600" b="0" i="0">
                <a:effectLst/>
                <a:latin typeface="+mj-lt"/>
              </a:rPr>
              <a:t>; Sachdev, </a:t>
            </a:r>
            <a:r>
              <a:rPr lang="en-GB" sz="1600" b="0" i="0" err="1">
                <a:effectLst/>
                <a:latin typeface="+mj-lt"/>
              </a:rPr>
              <a:t>Perminder</a:t>
            </a:r>
            <a:r>
              <a:rPr lang="en-GB" sz="1600" b="0" i="0">
                <a:effectLst/>
                <a:latin typeface="+mj-lt"/>
              </a:rPr>
              <a:t> </a:t>
            </a:r>
            <a:r>
              <a:rPr lang="en-GB" sz="1600" b="0" i="0" err="1">
                <a:effectLst/>
                <a:latin typeface="+mj-lt"/>
              </a:rPr>
              <a:t>S.</a:t>
            </a:r>
            <a:r>
              <a:rPr lang="en-GB" sz="1600" b="0" i="0" baseline="30000" err="1">
                <a:effectLst/>
                <a:latin typeface="+mj-lt"/>
              </a:rPr>
              <a:t>a,b,c</a:t>
            </a:r>
            <a:r>
              <a:rPr lang="en-GB" sz="1600" b="0" i="0">
                <a:effectLst/>
                <a:latin typeface="+mj-lt"/>
              </a:rPr>
              <a:t>. Hypertension and Alzheimer's disease: is the picture any clearer?. Current Opinion in Psychiatry: March 2021 - Volume 34 - Issue 2 - p 142-148 </a:t>
            </a:r>
            <a:r>
              <a:rPr lang="en-GB" sz="1600" b="0" i="0" err="1">
                <a:effectLst/>
                <a:latin typeface="+mj-lt"/>
              </a:rPr>
              <a:t>doi</a:t>
            </a:r>
            <a:r>
              <a:rPr lang="en-GB" sz="1600" b="0" i="0">
                <a:effectLst/>
                <a:latin typeface="+mj-lt"/>
              </a:rPr>
              <a:t>: 10.1097/YCO.0000000000000684</a:t>
            </a:r>
            <a:endParaRPr lang="en-GB" sz="1600" b="0" i="0">
              <a:effectLst/>
              <a:latin typeface="+mj-lt"/>
              <a:cs typeface="Calibri Light"/>
            </a:endParaRPr>
          </a:p>
          <a:p>
            <a:pPr algn="just"/>
            <a:r>
              <a:rPr lang="en-GB" sz="1600" b="0" i="0">
                <a:effectLst/>
                <a:latin typeface="+mj-lt"/>
              </a:rPr>
              <a:t>Mattson, D.L. Immune mechanisms of salt-sensitive hypertension and renal end-organ damage. </a:t>
            </a:r>
            <a:r>
              <a:rPr lang="en-GB" sz="1600" b="0" i="1">
                <a:effectLst/>
                <a:latin typeface="+mj-lt"/>
              </a:rPr>
              <a:t>Nat Rev Nephrol</a:t>
            </a:r>
            <a:r>
              <a:rPr lang="en-GB" sz="1600" b="0" i="0">
                <a:effectLst/>
                <a:latin typeface="+mj-lt"/>
              </a:rPr>
              <a:t> </a:t>
            </a:r>
            <a:r>
              <a:rPr lang="en-GB" sz="1600" b="1" i="0">
                <a:effectLst/>
                <a:latin typeface="+mj-lt"/>
              </a:rPr>
              <a:t>15</a:t>
            </a:r>
            <a:r>
              <a:rPr lang="en-GB" sz="1600" b="0" i="0">
                <a:effectLst/>
                <a:latin typeface="+mj-lt"/>
              </a:rPr>
              <a:t>, 290–300 (2019). https://doi.org/10.1038/s41581-019-0121-z</a:t>
            </a:r>
            <a:endParaRPr lang="en-GB" sz="1600" b="0" i="0">
              <a:effectLst/>
              <a:latin typeface="+mj-lt"/>
              <a:cs typeface="Calibri Light"/>
            </a:endParaRPr>
          </a:p>
          <a:p>
            <a:pPr algn="just"/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+mj-lt"/>
              </a:rPr>
              <a:t>Kopin, Laurie; Lowenstein, Charles J. (2017). 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effectLst/>
                <a:latin typeface="+mj-lt"/>
              </a:rPr>
              <a:t>Dyslipidemia. Annals of Internal Medicine, 167(11), ITC81–. 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+mj-lt"/>
              </a:rPr>
              <a:t>doi:10.7326/AITC201712050 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latin typeface="+mj-lt"/>
              <a:cs typeface="Calibri Light"/>
            </a:endParaRPr>
          </a:p>
          <a:p>
            <a:pPr algn="just"/>
            <a:r>
              <a:rPr lang="en-US" sz="1600">
                <a:latin typeface="Calibri Light"/>
                <a:ea typeface="+mn-lt"/>
                <a:cs typeface="+mn-lt"/>
              </a:rPr>
              <a:t>Petrie JR, Guzik TJ, </a:t>
            </a:r>
            <a:r>
              <a:rPr lang="en-US" sz="1600" err="1">
                <a:latin typeface="Calibri Light"/>
                <a:ea typeface="+mn-lt"/>
                <a:cs typeface="+mn-lt"/>
              </a:rPr>
              <a:t>Touyz</a:t>
            </a:r>
            <a:r>
              <a:rPr lang="en-US" sz="1600">
                <a:latin typeface="Calibri Light"/>
                <a:ea typeface="+mn-lt"/>
                <a:cs typeface="+mn-lt"/>
              </a:rPr>
              <a:t> RM. Diabetes, Hypertension, and Cardiovascular Disease: Clinical Insights and Vascular Mechanisms. Can J </a:t>
            </a:r>
            <a:r>
              <a:rPr lang="en-US" sz="1600" err="1">
                <a:latin typeface="Calibri Light"/>
                <a:ea typeface="+mn-lt"/>
                <a:cs typeface="+mn-lt"/>
              </a:rPr>
              <a:t>Cardiol</a:t>
            </a:r>
            <a:r>
              <a:rPr lang="en-US" sz="1600">
                <a:latin typeface="Calibri Light"/>
                <a:ea typeface="+mn-lt"/>
                <a:cs typeface="+mn-lt"/>
              </a:rPr>
              <a:t>. 2018 May;34(5):575-584. </a:t>
            </a:r>
            <a:r>
              <a:rPr lang="en-US" sz="1600" err="1">
                <a:latin typeface="Calibri Light"/>
                <a:ea typeface="+mn-lt"/>
                <a:cs typeface="+mn-lt"/>
              </a:rPr>
              <a:t>doi</a:t>
            </a:r>
            <a:r>
              <a:rPr lang="en-US" sz="1600">
                <a:latin typeface="Calibri Light"/>
                <a:ea typeface="+mn-lt"/>
                <a:cs typeface="+mn-lt"/>
              </a:rPr>
              <a:t>: 10.1016/j.cjca.2017.12.005. </a:t>
            </a:r>
            <a:r>
              <a:rPr lang="en-US" sz="1600" err="1">
                <a:latin typeface="Calibri Light"/>
                <a:ea typeface="+mn-lt"/>
                <a:cs typeface="+mn-lt"/>
              </a:rPr>
              <a:t>Epub</a:t>
            </a:r>
            <a:r>
              <a:rPr lang="en-US" sz="1600">
                <a:latin typeface="Calibri Light"/>
                <a:ea typeface="+mn-lt"/>
                <a:cs typeface="+mn-lt"/>
              </a:rPr>
              <a:t> 2017 Dec 11. PMID: 29459239; PMCID: PMC5953551.</a:t>
            </a:r>
            <a:endParaRPr lang="en-US" altLang="en-US" sz="1600">
              <a:solidFill>
                <a:srgbClr val="000000"/>
              </a:solidFill>
              <a:latin typeface="Calibri Light"/>
              <a:cs typeface="Calibri Light"/>
            </a:endParaRPr>
          </a:p>
          <a:p>
            <a:pPr algn="just"/>
            <a:endParaRPr lang="en-GB">
              <a:solidFill>
                <a:srgbClr val="212121"/>
              </a:solidFill>
              <a:latin typeface="BlinkMacSystemFont"/>
            </a:endParaRPr>
          </a:p>
        </p:txBody>
      </p:sp>
    </p:spTree>
    <p:extLst>
      <p:ext uri="{BB962C8B-B14F-4D97-AF65-F5344CB8AC3E}">
        <p14:creationId xmlns:p14="http://schemas.microsoft.com/office/powerpoint/2010/main" val="36341165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</TotalTime>
  <Words>1515</Words>
  <Application>Microsoft Office PowerPoint</Application>
  <PresentationFormat>Widescreen</PresentationFormat>
  <Paragraphs>115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Alata</vt:lpstr>
      <vt:lpstr>Arial</vt:lpstr>
      <vt:lpstr>Atlata</vt:lpstr>
      <vt:lpstr>BlinkMacSystemFont</vt:lpstr>
      <vt:lpstr>Calibri</vt:lpstr>
      <vt:lpstr>Calibri Light</vt:lpstr>
      <vt:lpstr>Open Sans</vt:lpstr>
      <vt:lpstr>Tema do Office</vt:lpstr>
      <vt:lpstr>PowerPoint Presentation</vt:lpstr>
      <vt:lpstr>Introdução </vt:lpstr>
      <vt:lpstr>Urina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Discussão de resultados</vt:lpstr>
      <vt:lpstr>Conclusão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novel biomarkers for Alzheimer´s Disease</dc:title>
  <dc:creator>Filipa Martins</dc:creator>
  <cp:lastModifiedBy>Inês Araújo</cp:lastModifiedBy>
  <cp:revision>2</cp:revision>
  <dcterms:created xsi:type="dcterms:W3CDTF">2021-11-09T19:54:17Z</dcterms:created>
  <dcterms:modified xsi:type="dcterms:W3CDTF">2022-11-24T10:22:57Z</dcterms:modified>
</cp:coreProperties>
</file>